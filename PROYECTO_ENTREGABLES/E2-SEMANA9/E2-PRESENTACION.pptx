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Cranberry" panose="020B0604020202020204" charset="0"/>
      <p:regular r:id="rId18"/>
    </p:embeddedFont>
    <p:embeddedFont>
      <p:font typeface="DM Sans" panose="020F0502020204030204" pitchFamily="2" charset="0"/>
      <p:regular r:id="rId19"/>
    </p:embeddedFont>
    <p:embeddedFont>
      <p:font typeface="DM Sans Bold" panose="020B0604020202020204" charset="0"/>
      <p:regular r:id="rId20"/>
    </p:embeddedFont>
    <p:embeddedFont>
      <p:font typeface="Open Sauce" panose="020B0604020202020204" charset="0"/>
      <p:regular r:id="rId21"/>
    </p:embeddedFont>
    <p:embeddedFont>
      <p:font typeface="Open Sauce Bold" panose="020B0604020202020204" charset="0"/>
      <p:regular r:id="rId22"/>
    </p:embeddedFont>
    <p:embeddedFont>
      <p:font typeface="SK Primo"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0" d="100"/>
          <a:sy n="60" d="100"/>
        </p:scale>
        <p:origin x="37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9.svg"/><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package" Target="../embeddings/Microsoft_Excel_Worksheet.xlsx"/><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9.svg"/></Relationships>
</file>

<file path=ppt/slides/_rels/slide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2.jpeg"/></Relationships>
</file>

<file path=ppt/slides/_rels/slide1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55752" y="2229251"/>
            <a:ext cx="16851751" cy="7586970"/>
            <a:chOff x="0" y="0"/>
            <a:chExt cx="4438321" cy="1998214"/>
          </a:xfrm>
        </p:grpSpPr>
        <p:sp>
          <p:nvSpPr>
            <p:cNvPr id="3" name="Freeform 3"/>
            <p:cNvSpPr/>
            <p:nvPr/>
          </p:nvSpPr>
          <p:spPr>
            <a:xfrm>
              <a:off x="0" y="0"/>
              <a:ext cx="4438321" cy="1998214"/>
            </a:xfrm>
            <a:custGeom>
              <a:avLst/>
              <a:gdLst/>
              <a:ahLst/>
              <a:cxnLst/>
              <a:rect l="l" t="t" r="r" b="b"/>
              <a:pathLst>
                <a:path w="4438321" h="1998214">
                  <a:moveTo>
                    <a:pt x="9188" y="0"/>
                  </a:moveTo>
                  <a:lnTo>
                    <a:pt x="4429133" y="0"/>
                  </a:lnTo>
                  <a:cubicBezTo>
                    <a:pt x="4434208" y="0"/>
                    <a:pt x="4438321" y="4114"/>
                    <a:pt x="4438321" y="9188"/>
                  </a:cubicBezTo>
                  <a:lnTo>
                    <a:pt x="4438321" y="1989026"/>
                  </a:lnTo>
                  <a:cubicBezTo>
                    <a:pt x="4438321" y="1991463"/>
                    <a:pt x="4437353" y="1993800"/>
                    <a:pt x="4435630" y="1995523"/>
                  </a:cubicBezTo>
                  <a:cubicBezTo>
                    <a:pt x="4433907" y="1997247"/>
                    <a:pt x="4431570" y="1998214"/>
                    <a:pt x="4429133" y="1998214"/>
                  </a:cubicBezTo>
                  <a:lnTo>
                    <a:pt x="9188" y="1998214"/>
                  </a:lnTo>
                  <a:cubicBezTo>
                    <a:pt x="4114" y="1998214"/>
                    <a:pt x="0" y="1994101"/>
                    <a:pt x="0" y="1989026"/>
                  </a:cubicBezTo>
                  <a:lnTo>
                    <a:pt x="0" y="9188"/>
                  </a:lnTo>
                  <a:cubicBezTo>
                    <a:pt x="0" y="4114"/>
                    <a:pt x="4114" y="0"/>
                    <a:pt x="9188" y="0"/>
                  </a:cubicBezTo>
                  <a:close/>
                </a:path>
              </a:pathLst>
            </a:custGeom>
            <a:solidFill>
              <a:srgbClr val="000000"/>
            </a:solidFill>
          </p:spPr>
          <p:txBody>
            <a:bodyPr/>
            <a:lstStyle/>
            <a:p>
              <a:endParaRPr lang="es-PE"/>
            </a:p>
          </p:txBody>
        </p:sp>
        <p:sp>
          <p:nvSpPr>
            <p:cNvPr id="4" name="TextBox 4"/>
            <p:cNvSpPr txBox="1"/>
            <p:nvPr/>
          </p:nvSpPr>
          <p:spPr>
            <a:xfrm>
              <a:off x="0" y="-28575"/>
              <a:ext cx="4438321" cy="2026789"/>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5921027" y="-7518161"/>
            <a:ext cx="6445946" cy="18877376"/>
            <a:chOff x="0" y="0"/>
            <a:chExt cx="1697698" cy="4971819"/>
          </a:xfrm>
        </p:grpSpPr>
        <p:sp>
          <p:nvSpPr>
            <p:cNvPr id="6" name="Freeform 6"/>
            <p:cNvSpPr/>
            <p:nvPr/>
          </p:nvSpPr>
          <p:spPr>
            <a:xfrm>
              <a:off x="0" y="0"/>
              <a:ext cx="1697698" cy="4971819"/>
            </a:xfrm>
            <a:custGeom>
              <a:avLst/>
              <a:gdLst/>
              <a:ahLst/>
              <a:cxnLst/>
              <a:rect l="l" t="t" r="r" b="b"/>
              <a:pathLst>
                <a:path w="1697698" h="4971819">
                  <a:moveTo>
                    <a:pt x="0" y="0"/>
                  </a:moveTo>
                  <a:lnTo>
                    <a:pt x="1697698" y="0"/>
                  </a:lnTo>
                  <a:lnTo>
                    <a:pt x="1697698" y="4971819"/>
                  </a:lnTo>
                  <a:lnTo>
                    <a:pt x="0" y="4971819"/>
                  </a:lnTo>
                  <a:close/>
                </a:path>
              </a:pathLst>
            </a:custGeom>
            <a:gradFill rotWithShape="1">
              <a:gsLst>
                <a:gs pos="0">
                  <a:srgbClr val="FFFFFF">
                    <a:alpha val="100000"/>
                  </a:srgbClr>
                </a:gs>
                <a:gs pos="100000">
                  <a:srgbClr val="FFFFFF">
                    <a:alpha val="0"/>
                  </a:srgbClr>
                </a:gs>
              </a:gsLst>
              <a:lin ang="0"/>
            </a:gradFill>
          </p:spPr>
          <p:txBody>
            <a:bodyPr/>
            <a:lstStyle/>
            <a:p>
              <a:endParaRPr lang="es-PE"/>
            </a:p>
          </p:txBody>
        </p:sp>
        <p:sp>
          <p:nvSpPr>
            <p:cNvPr id="7" name="TextBox 7"/>
            <p:cNvSpPr txBox="1"/>
            <p:nvPr/>
          </p:nvSpPr>
          <p:spPr>
            <a:xfrm>
              <a:off x="0" y="-38100"/>
              <a:ext cx="1697698" cy="5009919"/>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3639468" y="3199144"/>
            <a:ext cx="12138750" cy="1059172"/>
          </a:xfrm>
          <a:prstGeom prst="rect">
            <a:avLst/>
          </a:prstGeom>
        </p:spPr>
        <p:txBody>
          <a:bodyPr lIns="0" tIns="0" rIns="0" bIns="0" rtlCol="0" anchor="t">
            <a:spAutoFit/>
          </a:bodyPr>
          <a:lstStyle/>
          <a:p>
            <a:pPr algn="l">
              <a:lnSpc>
                <a:spcPts val="7047"/>
              </a:lnSpc>
            </a:pPr>
            <a:r>
              <a:rPr lang="en-US" sz="6776">
                <a:solidFill>
                  <a:srgbClr val="47748D"/>
                </a:solidFill>
                <a:latin typeface="Cranberry"/>
                <a:ea typeface="Cranberry"/>
                <a:cs typeface="Cranberry"/>
                <a:sym typeface="Cranberry"/>
              </a:rPr>
              <a:t>Diseño e implementación de</a:t>
            </a:r>
          </a:p>
        </p:txBody>
      </p:sp>
      <p:sp>
        <p:nvSpPr>
          <p:cNvPr id="9" name="Freeform 9"/>
          <p:cNvSpPr/>
          <p:nvPr/>
        </p:nvSpPr>
        <p:spPr>
          <a:xfrm>
            <a:off x="4295713" y="1799540"/>
            <a:ext cx="9696574" cy="1470315"/>
          </a:xfrm>
          <a:custGeom>
            <a:avLst/>
            <a:gdLst/>
            <a:ahLst/>
            <a:cxnLst/>
            <a:rect l="l" t="t" r="r" b="b"/>
            <a:pathLst>
              <a:path w="9696574" h="1470315">
                <a:moveTo>
                  <a:pt x="0" y="0"/>
                </a:moveTo>
                <a:lnTo>
                  <a:pt x="9696574" y="0"/>
                </a:lnTo>
                <a:lnTo>
                  <a:pt x="9696574" y="1470315"/>
                </a:lnTo>
                <a:lnTo>
                  <a:pt x="0" y="1470315"/>
                </a:lnTo>
                <a:lnTo>
                  <a:pt x="0" y="0"/>
                </a:lnTo>
                <a:close/>
              </a:path>
            </a:pathLst>
          </a:custGeom>
          <a:blipFill>
            <a:blip r:embed="rId2"/>
            <a:stretch>
              <a:fillRect t="-46752" b="-17295"/>
            </a:stretch>
          </a:blipFill>
        </p:spPr>
        <p:txBody>
          <a:bodyPr/>
          <a:lstStyle/>
          <a:p>
            <a:endParaRPr lang="es-PE"/>
          </a:p>
        </p:txBody>
      </p:sp>
      <p:sp>
        <p:nvSpPr>
          <p:cNvPr id="10" name="Freeform 10"/>
          <p:cNvSpPr/>
          <p:nvPr/>
        </p:nvSpPr>
        <p:spPr>
          <a:xfrm>
            <a:off x="13232966" y="343944"/>
            <a:ext cx="5055034" cy="1455597"/>
          </a:xfrm>
          <a:custGeom>
            <a:avLst/>
            <a:gdLst/>
            <a:ahLst/>
            <a:cxnLst/>
            <a:rect l="l" t="t" r="r" b="b"/>
            <a:pathLst>
              <a:path w="5055034" h="1455597">
                <a:moveTo>
                  <a:pt x="0" y="0"/>
                </a:moveTo>
                <a:lnTo>
                  <a:pt x="5055034" y="0"/>
                </a:lnTo>
                <a:lnTo>
                  <a:pt x="5055034" y="1455596"/>
                </a:lnTo>
                <a:lnTo>
                  <a:pt x="0" y="1455596"/>
                </a:lnTo>
                <a:lnTo>
                  <a:pt x="0" y="0"/>
                </a:lnTo>
                <a:close/>
              </a:path>
            </a:pathLst>
          </a:custGeom>
          <a:blipFill>
            <a:blip r:embed="rId3"/>
            <a:stretch>
              <a:fillRect/>
            </a:stretch>
          </a:blipFill>
        </p:spPr>
        <p:txBody>
          <a:bodyPr/>
          <a:lstStyle/>
          <a:p>
            <a:endParaRPr lang="es-PE"/>
          </a:p>
        </p:txBody>
      </p:sp>
      <p:sp>
        <p:nvSpPr>
          <p:cNvPr id="11" name="Freeform 11"/>
          <p:cNvSpPr/>
          <p:nvPr/>
        </p:nvSpPr>
        <p:spPr>
          <a:xfrm>
            <a:off x="655752" y="343944"/>
            <a:ext cx="3802466" cy="1455597"/>
          </a:xfrm>
          <a:custGeom>
            <a:avLst/>
            <a:gdLst/>
            <a:ahLst/>
            <a:cxnLst/>
            <a:rect l="l" t="t" r="r" b="b"/>
            <a:pathLst>
              <a:path w="3802466" h="1455597">
                <a:moveTo>
                  <a:pt x="0" y="0"/>
                </a:moveTo>
                <a:lnTo>
                  <a:pt x="3802466" y="0"/>
                </a:lnTo>
                <a:lnTo>
                  <a:pt x="3802466" y="1455596"/>
                </a:lnTo>
                <a:lnTo>
                  <a:pt x="0" y="1455596"/>
                </a:lnTo>
                <a:lnTo>
                  <a:pt x="0" y="0"/>
                </a:lnTo>
                <a:close/>
              </a:path>
            </a:pathLst>
          </a:custGeom>
          <a:blipFill>
            <a:blip r:embed="rId4"/>
            <a:stretch>
              <a:fillRect/>
            </a:stretch>
          </a:blipFill>
        </p:spPr>
        <p:txBody>
          <a:bodyPr/>
          <a:lstStyle/>
          <a:p>
            <a:endParaRPr lang="es-PE"/>
          </a:p>
        </p:txBody>
      </p:sp>
      <p:sp>
        <p:nvSpPr>
          <p:cNvPr id="12" name="Freeform 12"/>
          <p:cNvSpPr/>
          <p:nvPr/>
        </p:nvSpPr>
        <p:spPr>
          <a:xfrm>
            <a:off x="14471035" y="6482995"/>
            <a:ext cx="2788265" cy="2752778"/>
          </a:xfrm>
          <a:custGeom>
            <a:avLst/>
            <a:gdLst/>
            <a:ahLst/>
            <a:cxnLst/>
            <a:rect l="l" t="t" r="r" b="b"/>
            <a:pathLst>
              <a:path w="2788265" h="2752778">
                <a:moveTo>
                  <a:pt x="0" y="0"/>
                </a:moveTo>
                <a:lnTo>
                  <a:pt x="2788265" y="0"/>
                </a:lnTo>
                <a:lnTo>
                  <a:pt x="2788265" y="2752778"/>
                </a:lnTo>
                <a:lnTo>
                  <a:pt x="0" y="2752778"/>
                </a:lnTo>
                <a:lnTo>
                  <a:pt x="0" y="0"/>
                </a:lnTo>
                <a:close/>
              </a:path>
            </a:pathLst>
          </a:custGeom>
          <a:blipFill>
            <a:blip r:embed="rId5"/>
            <a:stretch>
              <a:fillRect/>
            </a:stretch>
          </a:blipFill>
        </p:spPr>
        <p:txBody>
          <a:bodyPr/>
          <a:lstStyle/>
          <a:p>
            <a:endParaRPr lang="es-PE"/>
          </a:p>
        </p:txBody>
      </p:sp>
      <p:sp>
        <p:nvSpPr>
          <p:cNvPr id="13" name="Freeform 13"/>
          <p:cNvSpPr/>
          <p:nvPr/>
        </p:nvSpPr>
        <p:spPr>
          <a:xfrm>
            <a:off x="0" y="2315586"/>
            <a:ext cx="2854863" cy="2854863"/>
          </a:xfrm>
          <a:custGeom>
            <a:avLst/>
            <a:gdLst/>
            <a:ahLst/>
            <a:cxnLst/>
            <a:rect l="l" t="t" r="r" b="b"/>
            <a:pathLst>
              <a:path w="2854863" h="2854863">
                <a:moveTo>
                  <a:pt x="0" y="0"/>
                </a:moveTo>
                <a:lnTo>
                  <a:pt x="2854863" y="0"/>
                </a:lnTo>
                <a:lnTo>
                  <a:pt x="2854863" y="2854864"/>
                </a:lnTo>
                <a:lnTo>
                  <a:pt x="0" y="2854864"/>
                </a:lnTo>
                <a:lnTo>
                  <a:pt x="0" y="0"/>
                </a:lnTo>
                <a:close/>
              </a:path>
            </a:pathLst>
          </a:custGeom>
          <a:blipFill>
            <a:blip r:embed="rId6"/>
            <a:stretch>
              <a:fillRect/>
            </a:stretch>
          </a:blipFill>
        </p:spPr>
        <p:txBody>
          <a:bodyPr/>
          <a:lstStyle/>
          <a:p>
            <a:endParaRPr lang="es-PE"/>
          </a:p>
        </p:txBody>
      </p:sp>
      <p:sp>
        <p:nvSpPr>
          <p:cNvPr id="14" name="Freeform 14"/>
          <p:cNvSpPr/>
          <p:nvPr/>
        </p:nvSpPr>
        <p:spPr>
          <a:xfrm>
            <a:off x="492820" y="5906759"/>
            <a:ext cx="3323013" cy="3905250"/>
          </a:xfrm>
          <a:custGeom>
            <a:avLst/>
            <a:gdLst/>
            <a:ahLst/>
            <a:cxnLst/>
            <a:rect l="l" t="t" r="r" b="b"/>
            <a:pathLst>
              <a:path w="3323013" h="3905250">
                <a:moveTo>
                  <a:pt x="0" y="0"/>
                </a:moveTo>
                <a:lnTo>
                  <a:pt x="3323013" y="0"/>
                </a:lnTo>
                <a:lnTo>
                  <a:pt x="3323013" y="3905250"/>
                </a:lnTo>
                <a:lnTo>
                  <a:pt x="0" y="3905250"/>
                </a:lnTo>
                <a:lnTo>
                  <a:pt x="0" y="0"/>
                </a:lnTo>
                <a:close/>
              </a:path>
            </a:pathLst>
          </a:custGeom>
          <a:blipFill>
            <a:blip r:embed="rId7"/>
            <a:stretch>
              <a:fillRect/>
            </a:stretch>
          </a:blipFill>
        </p:spPr>
        <p:txBody>
          <a:bodyPr/>
          <a:lstStyle/>
          <a:p>
            <a:endParaRPr lang="es-PE"/>
          </a:p>
        </p:txBody>
      </p:sp>
      <p:sp>
        <p:nvSpPr>
          <p:cNvPr id="15" name="TextBox 15"/>
          <p:cNvSpPr txBox="1"/>
          <p:nvPr/>
        </p:nvSpPr>
        <p:spPr>
          <a:xfrm>
            <a:off x="3639468" y="4229742"/>
            <a:ext cx="12489108" cy="1686605"/>
          </a:xfrm>
          <a:prstGeom prst="rect">
            <a:avLst/>
          </a:prstGeom>
        </p:spPr>
        <p:txBody>
          <a:bodyPr lIns="0" tIns="0" rIns="0" bIns="0" rtlCol="0" anchor="t">
            <a:spAutoFit/>
          </a:bodyPr>
          <a:lstStyle/>
          <a:p>
            <a:pPr marL="0" lvl="0" indent="0" algn="ctr">
              <a:lnSpc>
                <a:spcPts val="6088"/>
              </a:lnSpc>
              <a:spcBef>
                <a:spcPct val="0"/>
              </a:spcBef>
            </a:pPr>
            <a:r>
              <a:rPr lang="en-US" sz="5854">
                <a:solidFill>
                  <a:srgbClr val="096227"/>
                </a:solidFill>
                <a:latin typeface="Cranberry"/>
                <a:ea typeface="Cranberry"/>
                <a:cs typeface="Cranberry"/>
                <a:sym typeface="Cranberry"/>
              </a:rPr>
              <a:t>un Siste</a:t>
            </a:r>
            <a:r>
              <a:rPr lang="en-US" sz="5854" u="none" strike="noStrike">
                <a:solidFill>
                  <a:srgbClr val="096227"/>
                </a:solidFill>
                <a:latin typeface="Cranberry"/>
                <a:ea typeface="Cranberry"/>
                <a:cs typeface="Cranberry"/>
                <a:sym typeface="Cranberry"/>
              </a:rPr>
              <a:t>ma de Riego Automatizado Multivariable</a:t>
            </a:r>
          </a:p>
        </p:txBody>
      </p:sp>
      <p:sp>
        <p:nvSpPr>
          <p:cNvPr id="16" name="TextBox 16"/>
          <p:cNvSpPr txBox="1"/>
          <p:nvPr/>
        </p:nvSpPr>
        <p:spPr>
          <a:xfrm>
            <a:off x="8412834" y="6183047"/>
            <a:ext cx="6635164" cy="2168503"/>
          </a:xfrm>
          <a:prstGeom prst="rect">
            <a:avLst/>
          </a:prstGeom>
        </p:spPr>
        <p:txBody>
          <a:bodyPr lIns="0" tIns="0" rIns="0" bIns="0" rtlCol="0" anchor="t">
            <a:spAutoFit/>
          </a:bodyPr>
          <a:lstStyle/>
          <a:p>
            <a:pPr algn="l">
              <a:lnSpc>
                <a:spcPts val="2801"/>
              </a:lnSpc>
            </a:pPr>
            <a:r>
              <a:rPr lang="en-US" sz="2000">
                <a:solidFill>
                  <a:srgbClr val="FFFFFF"/>
                </a:solidFill>
                <a:latin typeface="SK Primo"/>
                <a:ea typeface="SK Primo"/>
                <a:cs typeface="SK Primo"/>
                <a:sym typeface="SK Primo"/>
              </a:rPr>
              <a:t>INTEGRANTES:</a:t>
            </a:r>
          </a:p>
          <a:p>
            <a:pPr algn="l">
              <a:lnSpc>
                <a:spcPts val="2801"/>
              </a:lnSpc>
            </a:pPr>
            <a:endParaRPr lang="en-US" sz="2000">
              <a:solidFill>
                <a:srgbClr val="FFFFFF"/>
              </a:solidFill>
              <a:latin typeface="SK Primo"/>
              <a:ea typeface="SK Primo"/>
              <a:cs typeface="SK Primo"/>
              <a:sym typeface="SK Primo"/>
            </a:endParaRPr>
          </a:p>
          <a:p>
            <a:pPr algn="l">
              <a:lnSpc>
                <a:spcPts val="2801"/>
              </a:lnSpc>
            </a:pPr>
            <a:r>
              <a:rPr lang="en-US" sz="2000">
                <a:solidFill>
                  <a:srgbClr val="FFFFFF"/>
                </a:solidFill>
                <a:latin typeface="SK Primo"/>
                <a:ea typeface="SK Primo"/>
                <a:cs typeface="SK Primo"/>
                <a:sym typeface="SK Primo"/>
              </a:rPr>
              <a:t>-SALCEDO MEGO ARNOLD ALONZO</a:t>
            </a:r>
          </a:p>
          <a:p>
            <a:pPr algn="l">
              <a:lnSpc>
                <a:spcPts val="2801"/>
              </a:lnSpc>
            </a:pPr>
            <a:r>
              <a:rPr lang="en-US" sz="2000">
                <a:solidFill>
                  <a:srgbClr val="FFFFFF"/>
                </a:solidFill>
                <a:latin typeface="SK Primo"/>
                <a:ea typeface="SK Primo"/>
                <a:cs typeface="SK Primo"/>
                <a:sym typeface="SK Primo"/>
              </a:rPr>
              <a:t>-TOCCAS ROJAS LUIS FERNANDO</a:t>
            </a:r>
          </a:p>
          <a:p>
            <a:pPr algn="l">
              <a:lnSpc>
                <a:spcPts val="2801"/>
              </a:lnSpc>
            </a:pPr>
            <a:r>
              <a:rPr lang="en-US" sz="2000">
                <a:solidFill>
                  <a:srgbClr val="FFFFFF"/>
                </a:solidFill>
                <a:latin typeface="SK Primo"/>
                <a:ea typeface="SK Primo"/>
                <a:cs typeface="SK Primo"/>
                <a:sym typeface="SK Primo"/>
              </a:rPr>
              <a:t>-TORO SUYLLON GABRIEL DAVID</a:t>
            </a:r>
          </a:p>
          <a:p>
            <a:pPr algn="l">
              <a:lnSpc>
                <a:spcPts val="2801"/>
              </a:lnSpc>
              <a:spcBef>
                <a:spcPct val="0"/>
              </a:spcBef>
            </a:pPr>
            <a:r>
              <a:rPr lang="en-US" sz="2000">
                <a:solidFill>
                  <a:srgbClr val="FFFFFF"/>
                </a:solidFill>
                <a:latin typeface="SK Primo"/>
                <a:ea typeface="SK Primo"/>
                <a:cs typeface="SK Primo"/>
                <a:sym typeface="SK Primo"/>
              </a:rPr>
              <a:t>-ZAPANA PORRAS JOHAN JAIRO</a:t>
            </a:r>
          </a:p>
        </p:txBody>
      </p:sp>
      <p:sp>
        <p:nvSpPr>
          <p:cNvPr id="17" name="TextBox 17"/>
          <p:cNvSpPr txBox="1"/>
          <p:nvPr/>
        </p:nvSpPr>
        <p:spPr>
          <a:xfrm>
            <a:off x="4458218" y="1898905"/>
            <a:ext cx="9371563" cy="1122139"/>
          </a:xfrm>
          <a:prstGeom prst="rect">
            <a:avLst/>
          </a:prstGeom>
        </p:spPr>
        <p:txBody>
          <a:bodyPr lIns="0" tIns="0" rIns="0" bIns="0" rtlCol="0" anchor="t">
            <a:spAutoFit/>
          </a:bodyPr>
          <a:lstStyle/>
          <a:p>
            <a:pPr algn="ctr">
              <a:lnSpc>
                <a:spcPts val="4527"/>
              </a:lnSpc>
              <a:spcBef>
                <a:spcPct val="0"/>
              </a:spcBef>
            </a:pPr>
            <a:r>
              <a:rPr lang="en-US" sz="3233" b="1">
                <a:solidFill>
                  <a:srgbClr val="096227"/>
                </a:solidFill>
                <a:latin typeface="DM Sans Bold"/>
                <a:ea typeface="DM Sans Bold"/>
                <a:cs typeface="DM Sans Bold"/>
                <a:sym typeface="DM Sans Bold"/>
              </a:rPr>
              <a:t>Asignatura: SISTEMAS DIGITALES Y ARQUITECTURA DE COMPUTADORAS </a:t>
            </a:r>
          </a:p>
        </p:txBody>
      </p:sp>
      <p:sp>
        <p:nvSpPr>
          <p:cNvPr id="18" name="TextBox 18"/>
          <p:cNvSpPr txBox="1"/>
          <p:nvPr/>
        </p:nvSpPr>
        <p:spPr>
          <a:xfrm>
            <a:off x="3815833" y="7106972"/>
            <a:ext cx="3203963" cy="1163215"/>
          </a:xfrm>
          <a:prstGeom prst="rect">
            <a:avLst/>
          </a:prstGeom>
        </p:spPr>
        <p:txBody>
          <a:bodyPr lIns="0" tIns="0" rIns="0" bIns="0" rtlCol="0" anchor="t">
            <a:spAutoFit/>
          </a:bodyPr>
          <a:lstStyle/>
          <a:p>
            <a:pPr algn="ctr">
              <a:lnSpc>
                <a:spcPts val="3085"/>
              </a:lnSpc>
              <a:spcBef>
                <a:spcPct val="0"/>
              </a:spcBef>
            </a:pPr>
            <a:r>
              <a:rPr lang="en-US" sz="2204" b="1">
                <a:solidFill>
                  <a:srgbClr val="FFFFFF"/>
                </a:solidFill>
                <a:latin typeface="DM Sans Bold"/>
                <a:ea typeface="DM Sans Bold"/>
                <a:cs typeface="DM Sans Bold"/>
                <a:sym typeface="DM Sans Bold"/>
              </a:rPr>
              <a:t>PROFESOR: </a:t>
            </a:r>
            <a:r>
              <a:rPr lang="en-US" sz="2204">
                <a:solidFill>
                  <a:srgbClr val="FFFFFF"/>
                </a:solidFill>
                <a:latin typeface="DM Sans"/>
                <a:ea typeface="DM Sans"/>
                <a:cs typeface="DM Sans"/>
                <a:sym typeface="DM Sans"/>
              </a:rPr>
              <a:t>HERNÁN OSWALDO VILLAFUERTE BARRETO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696733" y="1991355"/>
            <a:ext cx="3725433" cy="8057749"/>
            <a:chOff x="0" y="0"/>
            <a:chExt cx="981184" cy="2122205"/>
          </a:xfrm>
        </p:grpSpPr>
        <p:sp>
          <p:nvSpPr>
            <p:cNvPr id="3" name="Freeform 3"/>
            <p:cNvSpPr/>
            <p:nvPr/>
          </p:nvSpPr>
          <p:spPr>
            <a:xfrm>
              <a:off x="0" y="0"/>
              <a:ext cx="981184" cy="2122206"/>
            </a:xfrm>
            <a:custGeom>
              <a:avLst/>
              <a:gdLst/>
              <a:ahLst/>
              <a:cxnLst/>
              <a:rect l="l" t="t" r="r" b="b"/>
              <a:pathLst>
                <a:path w="981184" h="2122206">
                  <a:moveTo>
                    <a:pt x="41563" y="0"/>
                  </a:moveTo>
                  <a:lnTo>
                    <a:pt x="939622" y="0"/>
                  </a:lnTo>
                  <a:cubicBezTo>
                    <a:pt x="950645" y="0"/>
                    <a:pt x="961216" y="4379"/>
                    <a:pt x="969011" y="12173"/>
                  </a:cubicBezTo>
                  <a:cubicBezTo>
                    <a:pt x="976805" y="19968"/>
                    <a:pt x="981184" y="30539"/>
                    <a:pt x="981184" y="41563"/>
                  </a:cubicBezTo>
                  <a:lnTo>
                    <a:pt x="981184" y="2080643"/>
                  </a:lnTo>
                  <a:cubicBezTo>
                    <a:pt x="981184" y="2091666"/>
                    <a:pt x="976805" y="2102238"/>
                    <a:pt x="969011" y="2110032"/>
                  </a:cubicBezTo>
                  <a:cubicBezTo>
                    <a:pt x="961216" y="2117827"/>
                    <a:pt x="950645" y="2122206"/>
                    <a:pt x="939622" y="2122206"/>
                  </a:cubicBezTo>
                  <a:lnTo>
                    <a:pt x="41563" y="2122206"/>
                  </a:lnTo>
                  <a:cubicBezTo>
                    <a:pt x="30539" y="2122206"/>
                    <a:pt x="19968" y="2117827"/>
                    <a:pt x="12173" y="2110032"/>
                  </a:cubicBezTo>
                  <a:cubicBezTo>
                    <a:pt x="4379" y="2102238"/>
                    <a:pt x="0" y="2091666"/>
                    <a:pt x="0" y="2080643"/>
                  </a:cubicBezTo>
                  <a:lnTo>
                    <a:pt x="0" y="41563"/>
                  </a:lnTo>
                  <a:cubicBezTo>
                    <a:pt x="0" y="30539"/>
                    <a:pt x="4379" y="19968"/>
                    <a:pt x="12173" y="12173"/>
                  </a:cubicBezTo>
                  <a:cubicBezTo>
                    <a:pt x="19968" y="4379"/>
                    <a:pt x="30539" y="0"/>
                    <a:pt x="41563" y="0"/>
                  </a:cubicBezTo>
                  <a:close/>
                </a:path>
              </a:pathLst>
            </a:custGeom>
            <a:solidFill>
              <a:srgbClr val="393939"/>
            </a:solidFill>
          </p:spPr>
          <p:txBody>
            <a:bodyPr/>
            <a:lstStyle/>
            <a:p>
              <a:endParaRPr lang="es-PE"/>
            </a:p>
          </p:txBody>
        </p:sp>
        <p:sp>
          <p:nvSpPr>
            <p:cNvPr id="4" name="TextBox 4"/>
            <p:cNvSpPr txBox="1"/>
            <p:nvPr/>
          </p:nvSpPr>
          <p:spPr>
            <a:xfrm>
              <a:off x="0" y="-28575"/>
              <a:ext cx="981184" cy="2150780"/>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a:off x="17259300" y="1991355"/>
            <a:ext cx="3725433" cy="8057749"/>
            <a:chOff x="0" y="0"/>
            <a:chExt cx="981184" cy="2122205"/>
          </a:xfrm>
        </p:grpSpPr>
        <p:sp>
          <p:nvSpPr>
            <p:cNvPr id="6" name="Freeform 6"/>
            <p:cNvSpPr/>
            <p:nvPr/>
          </p:nvSpPr>
          <p:spPr>
            <a:xfrm>
              <a:off x="0" y="0"/>
              <a:ext cx="981184" cy="2122206"/>
            </a:xfrm>
            <a:custGeom>
              <a:avLst/>
              <a:gdLst/>
              <a:ahLst/>
              <a:cxnLst/>
              <a:rect l="l" t="t" r="r" b="b"/>
              <a:pathLst>
                <a:path w="981184" h="2122206">
                  <a:moveTo>
                    <a:pt x="41563" y="0"/>
                  </a:moveTo>
                  <a:lnTo>
                    <a:pt x="939622" y="0"/>
                  </a:lnTo>
                  <a:cubicBezTo>
                    <a:pt x="950645" y="0"/>
                    <a:pt x="961216" y="4379"/>
                    <a:pt x="969011" y="12173"/>
                  </a:cubicBezTo>
                  <a:cubicBezTo>
                    <a:pt x="976805" y="19968"/>
                    <a:pt x="981184" y="30539"/>
                    <a:pt x="981184" y="41563"/>
                  </a:cubicBezTo>
                  <a:lnTo>
                    <a:pt x="981184" y="2080643"/>
                  </a:lnTo>
                  <a:cubicBezTo>
                    <a:pt x="981184" y="2091666"/>
                    <a:pt x="976805" y="2102238"/>
                    <a:pt x="969011" y="2110032"/>
                  </a:cubicBezTo>
                  <a:cubicBezTo>
                    <a:pt x="961216" y="2117827"/>
                    <a:pt x="950645" y="2122206"/>
                    <a:pt x="939622" y="2122206"/>
                  </a:cubicBezTo>
                  <a:lnTo>
                    <a:pt x="41563" y="2122206"/>
                  </a:lnTo>
                  <a:cubicBezTo>
                    <a:pt x="30539" y="2122206"/>
                    <a:pt x="19968" y="2117827"/>
                    <a:pt x="12173" y="2110032"/>
                  </a:cubicBezTo>
                  <a:cubicBezTo>
                    <a:pt x="4379" y="2102238"/>
                    <a:pt x="0" y="2091666"/>
                    <a:pt x="0" y="2080643"/>
                  </a:cubicBezTo>
                  <a:lnTo>
                    <a:pt x="0" y="41563"/>
                  </a:lnTo>
                  <a:cubicBezTo>
                    <a:pt x="0" y="30539"/>
                    <a:pt x="4379" y="19968"/>
                    <a:pt x="12173" y="12173"/>
                  </a:cubicBezTo>
                  <a:cubicBezTo>
                    <a:pt x="19968" y="4379"/>
                    <a:pt x="30539" y="0"/>
                    <a:pt x="41563" y="0"/>
                  </a:cubicBezTo>
                  <a:close/>
                </a:path>
              </a:pathLst>
            </a:custGeom>
            <a:solidFill>
              <a:srgbClr val="393939"/>
            </a:solidFill>
          </p:spPr>
          <p:txBody>
            <a:bodyPr/>
            <a:lstStyle/>
            <a:p>
              <a:endParaRPr lang="es-PE"/>
            </a:p>
          </p:txBody>
        </p:sp>
        <p:sp>
          <p:nvSpPr>
            <p:cNvPr id="7" name="TextBox 7"/>
            <p:cNvSpPr txBox="1"/>
            <p:nvPr/>
          </p:nvSpPr>
          <p:spPr>
            <a:xfrm>
              <a:off x="0" y="-28575"/>
              <a:ext cx="981184" cy="2150780"/>
            </a:xfrm>
            <a:prstGeom prst="rect">
              <a:avLst/>
            </a:prstGeom>
          </p:spPr>
          <p:txBody>
            <a:bodyPr lIns="50800" tIns="50800" rIns="50800" bIns="50800" rtlCol="0" anchor="ctr"/>
            <a:lstStyle/>
            <a:p>
              <a:pPr algn="ctr">
                <a:lnSpc>
                  <a:spcPts val="1960"/>
                </a:lnSpc>
              </a:pPr>
              <a:endParaRPr/>
            </a:p>
          </p:txBody>
        </p:sp>
      </p:grpSp>
      <p:sp>
        <p:nvSpPr>
          <p:cNvPr id="8" name="Freeform 8"/>
          <p:cNvSpPr/>
          <p:nvPr/>
        </p:nvSpPr>
        <p:spPr>
          <a:xfrm>
            <a:off x="10189093" y="6303297"/>
            <a:ext cx="3381797" cy="3238070"/>
          </a:xfrm>
          <a:custGeom>
            <a:avLst/>
            <a:gdLst/>
            <a:ahLst/>
            <a:cxnLst/>
            <a:rect l="l" t="t" r="r" b="b"/>
            <a:pathLst>
              <a:path w="3381797" h="3238070">
                <a:moveTo>
                  <a:pt x="0" y="0"/>
                </a:moveTo>
                <a:lnTo>
                  <a:pt x="3381796" y="0"/>
                </a:lnTo>
                <a:lnTo>
                  <a:pt x="3381796" y="3238071"/>
                </a:lnTo>
                <a:lnTo>
                  <a:pt x="0" y="3238071"/>
                </a:lnTo>
                <a:lnTo>
                  <a:pt x="0" y="0"/>
                </a:lnTo>
                <a:close/>
              </a:path>
            </a:pathLst>
          </a:custGeom>
          <a:blipFill>
            <a:blip r:embed="rId2"/>
            <a:stretch>
              <a:fillRect/>
            </a:stretch>
          </a:blipFill>
        </p:spPr>
        <p:txBody>
          <a:bodyPr/>
          <a:lstStyle/>
          <a:p>
            <a:endParaRPr lang="es-PE"/>
          </a:p>
        </p:txBody>
      </p:sp>
      <p:sp>
        <p:nvSpPr>
          <p:cNvPr id="9" name="Freeform 9"/>
          <p:cNvSpPr/>
          <p:nvPr/>
        </p:nvSpPr>
        <p:spPr>
          <a:xfrm>
            <a:off x="3200366" y="6303297"/>
            <a:ext cx="3915356" cy="3351043"/>
          </a:xfrm>
          <a:custGeom>
            <a:avLst/>
            <a:gdLst/>
            <a:ahLst/>
            <a:cxnLst/>
            <a:rect l="l" t="t" r="r" b="b"/>
            <a:pathLst>
              <a:path w="3915356" h="3351043">
                <a:moveTo>
                  <a:pt x="0" y="0"/>
                </a:moveTo>
                <a:lnTo>
                  <a:pt x="3915355" y="0"/>
                </a:lnTo>
                <a:lnTo>
                  <a:pt x="3915355" y="3351043"/>
                </a:lnTo>
                <a:lnTo>
                  <a:pt x="0" y="33510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PE"/>
          </a:p>
        </p:txBody>
      </p:sp>
      <p:sp>
        <p:nvSpPr>
          <p:cNvPr id="10" name="TextBox 10"/>
          <p:cNvSpPr txBox="1"/>
          <p:nvPr/>
        </p:nvSpPr>
        <p:spPr>
          <a:xfrm>
            <a:off x="6408009" y="1143175"/>
            <a:ext cx="5471982" cy="1086076"/>
          </a:xfrm>
          <a:prstGeom prst="rect">
            <a:avLst/>
          </a:prstGeom>
        </p:spPr>
        <p:txBody>
          <a:bodyPr lIns="0" tIns="0" rIns="0" bIns="0" rtlCol="0" anchor="t">
            <a:spAutoFit/>
          </a:bodyPr>
          <a:lstStyle/>
          <a:p>
            <a:pPr algn="ctr">
              <a:lnSpc>
                <a:spcPts val="8647"/>
              </a:lnSpc>
            </a:pPr>
            <a:r>
              <a:rPr lang="en-US" sz="7205" b="1" spc="-540">
                <a:solidFill>
                  <a:srgbClr val="72A220"/>
                </a:solidFill>
                <a:latin typeface="Open Sauce Bold"/>
                <a:ea typeface="Open Sauce Bold"/>
                <a:cs typeface="Open Sauce Bold"/>
                <a:sym typeface="Open Sauce Bold"/>
              </a:rPr>
              <a:t>Introducción</a:t>
            </a:r>
          </a:p>
        </p:txBody>
      </p:sp>
      <p:sp>
        <p:nvSpPr>
          <p:cNvPr id="11" name="TextBox 11"/>
          <p:cNvSpPr txBox="1"/>
          <p:nvPr/>
        </p:nvSpPr>
        <p:spPr>
          <a:xfrm>
            <a:off x="2546764" y="3066124"/>
            <a:ext cx="13194471" cy="2400300"/>
          </a:xfrm>
          <a:prstGeom prst="rect">
            <a:avLst/>
          </a:prstGeom>
        </p:spPr>
        <p:txBody>
          <a:bodyPr lIns="0" tIns="0" rIns="0" bIns="0" rtlCol="0" anchor="t">
            <a:spAutoFit/>
          </a:bodyPr>
          <a:lstStyle/>
          <a:p>
            <a:pPr algn="just">
              <a:lnSpc>
                <a:spcPts val="2759"/>
              </a:lnSpc>
            </a:pPr>
            <a:r>
              <a:rPr lang="en-US" sz="2299" spc="-45">
                <a:solidFill>
                  <a:srgbClr val="393939"/>
                </a:solidFill>
                <a:latin typeface="Open Sauce"/>
                <a:ea typeface="Open Sauce"/>
                <a:cs typeface="Open Sauce"/>
                <a:sym typeface="Open Sauce"/>
              </a:rPr>
              <a:t>Este entregable demuestra el diseño de hardware a bajo nivel para el sistema de riego mediante la optimización de la arquitectura Harvard del chip ATmega328P y la segmentación de sus memorias Flash y SRAM. Asimismo, se detalla la manipulación directa de registros (I/O) para configurar el módulo ADC de los sensores y controlar los pines digitales de la bomba. Finalmente, se modela el comportamiento del sistema mediante una Máquina de Estados Finitos (FSM) tipo Moore libre de retardos bloqueantes, validando su funcionamiento en tiempo real con el código fuente y simulaciones en Tinkercad.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85837" y="1362476"/>
            <a:ext cx="7710505" cy="7029049"/>
            <a:chOff x="0" y="0"/>
            <a:chExt cx="2030750" cy="1851272"/>
          </a:xfrm>
        </p:grpSpPr>
        <p:sp>
          <p:nvSpPr>
            <p:cNvPr id="3" name="Freeform 3"/>
            <p:cNvSpPr/>
            <p:nvPr/>
          </p:nvSpPr>
          <p:spPr>
            <a:xfrm>
              <a:off x="0" y="0"/>
              <a:ext cx="2030750" cy="1851272"/>
            </a:xfrm>
            <a:custGeom>
              <a:avLst/>
              <a:gdLst/>
              <a:ahLst/>
              <a:cxnLst/>
              <a:rect l="l" t="t" r="r" b="b"/>
              <a:pathLst>
                <a:path w="2030750" h="1851272">
                  <a:moveTo>
                    <a:pt x="20081" y="0"/>
                  </a:moveTo>
                  <a:lnTo>
                    <a:pt x="2010669" y="0"/>
                  </a:lnTo>
                  <a:cubicBezTo>
                    <a:pt x="2015995" y="0"/>
                    <a:pt x="2021103" y="2116"/>
                    <a:pt x="2024869" y="5882"/>
                  </a:cubicBezTo>
                  <a:cubicBezTo>
                    <a:pt x="2028635" y="9648"/>
                    <a:pt x="2030750" y="14756"/>
                    <a:pt x="2030750" y="20081"/>
                  </a:cubicBezTo>
                  <a:lnTo>
                    <a:pt x="2030750" y="1831191"/>
                  </a:lnTo>
                  <a:cubicBezTo>
                    <a:pt x="2030750" y="1836517"/>
                    <a:pt x="2028635" y="1841624"/>
                    <a:pt x="2024869" y="1845390"/>
                  </a:cubicBezTo>
                  <a:cubicBezTo>
                    <a:pt x="2021103" y="1849156"/>
                    <a:pt x="2015995" y="1851272"/>
                    <a:pt x="2010669" y="1851272"/>
                  </a:cubicBezTo>
                  <a:lnTo>
                    <a:pt x="20081" y="1851272"/>
                  </a:lnTo>
                  <a:cubicBezTo>
                    <a:pt x="8991" y="1851272"/>
                    <a:pt x="0" y="1842281"/>
                    <a:pt x="0" y="1831191"/>
                  </a:cubicBezTo>
                  <a:lnTo>
                    <a:pt x="0" y="20081"/>
                  </a:lnTo>
                  <a:cubicBezTo>
                    <a:pt x="0" y="8991"/>
                    <a:pt x="8991" y="0"/>
                    <a:pt x="20081" y="0"/>
                  </a:cubicBezTo>
                  <a:close/>
                </a:path>
              </a:pathLst>
            </a:custGeom>
            <a:solidFill>
              <a:srgbClr val="393939"/>
            </a:solidFill>
          </p:spPr>
          <p:txBody>
            <a:bodyPr/>
            <a:lstStyle/>
            <a:p>
              <a:endParaRPr lang="es-PE"/>
            </a:p>
          </p:txBody>
        </p:sp>
        <p:sp>
          <p:nvSpPr>
            <p:cNvPr id="4" name="TextBox 4"/>
            <p:cNvSpPr txBox="1"/>
            <p:nvPr/>
          </p:nvSpPr>
          <p:spPr>
            <a:xfrm>
              <a:off x="0" y="-28575"/>
              <a:ext cx="2030750" cy="1879847"/>
            </a:xfrm>
            <a:prstGeom prst="rect">
              <a:avLst/>
            </a:prstGeom>
          </p:spPr>
          <p:txBody>
            <a:bodyPr lIns="50800" tIns="50800" rIns="50800" bIns="50800" rtlCol="0" anchor="ctr"/>
            <a:lstStyle/>
            <a:p>
              <a:pPr algn="ctr">
                <a:lnSpc>
                  <a:spcPts val="1960"/>
                </a:lnSpc>
              </a:pPr>
              <a:endParaRPr/>
            </a:p>
          </p:txBody>
        </p:sp>
      </p:grpSp>
      <p:sp>
        <p:nvSpPr>
          <p:cNvPr id="5" name="Freeform 5"/>
          <p:cNvSpPr/>
          <p:nvPr/>
        </p:nvSpPr>
        <p:spPr>
          <a:xfrm>
            <a:off x="9320230" y="7271543"/>
            <a:ext cx="666750" cy="666750"/>
          </a:xfrm>
          <a:custGeom>
            <a:avLst/>
            <a:gdLst/>
            <a:ahLst/>
            <a:cxnLst/>
            <a:rect l="l" t="t" r="r" b="b"/>
            <a:pathLst>
              <a:path w="666750" h="666750">
                <a:moveTo>
                  <a:pt x="0" y="0"/>
                </a:moveTo>
                <a:lnTo>
                  <a:pt x="666750" y="0"/>
                </a:lnTo>
                <a:lnTo>
                  <a:pt x="666750" y="666750"/>
                </a:lnTo>
                <a:lnTo>
                  <a:pt x="0" y="66675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PE"/>
          </a:p>
        </p:txBody>
      </p:sp>
      <p:grpSp>
        <p:nvGrpSpPr>
          <p:cNvPr id="6" name="Group 6"/>
          <p:cNvGrpSpPr/>
          <p:nvPr/>
        </p:nvGrpSpPr>
        <p:grpSpPr>
          <a:xfrm>
            <a:off x="9944118" y="1362476"/>
            <a:ext cx="7710505" cy="7029049"/>
            <a:chOff x="0" y="0"/>
            <a:chExt cx="2030750" cy="1851272"/>
          </a:xfrm>
        </p:grpSpPr>
        <p:sp>
          <p:nvSpPr>
            <p:cNvPr id="7" name="Freeform 7"/>
            <p:cNvSpPr/>
            <p:nvPr/>
          </p:nvSpPr>
          <p:spPr>
            <a:xfrm>
              <a:off x="0" y="0"/>
              <a:ext cx="2030750" cy="1851272"/>
            </a:xfrm>
            <a:custGeom>
              <a:avLst/>
              <a:gdLst/>
              <a:ahLst/>
              <a:cxnLst/>
              <a:rect l="l" t="t" r="r" b="b"/>
              <a:pathLst>
                <a:path w="2030750" h="1851272">
                  <a:moveTo>
                    <a:pt x="20081" y="0"/>
                  </a:moveTo>
                  <a:lnTo>
                    <a:pt x="2010669" y="0"/>
                  </a:lnTo>
                  <a:cubicBezTo>
                    <a:pt x="2015995" y="0"/>
                    <a:pt x="2021103" y="2116"/>
                    <a:pt x="2024869" y="5882"/>
                  </a:cubicBezTo>
                  <a:cubicBezTo>
                    <a:pt x="2028635" y="9648"/>
                    <a:pt x="2030750" y="14756"/>
                    <a:pt x="2030750" y="20081"/>
                  </a:cubicBezTo>
                  <a:lnTo>
                    <a:pt x="2030750" y="1831191"/>
                  </a:lnTo>
                  <a:cubicBezTo>
                    <a:pt x="2030750" y="1836517"/>
                    <a:pt x="2028635" y="1841624"/>
                    <a:pt x="2024869" y="1845390"/>
                  </a:cubicBezTo>
                  <a:cubicBezTo>
                    <a:pt x="2021103" y="1849156"/>
                    <a:pt x="2015995" y="1851272"/>
                    <a:pt x="2010669" y="1851272"/>
                  </a:cubicBezTo>
                  <a:lnTo>
                    <a:pt x="20081" y="1851272"/>
                  </a:lnTo>
                  <a:cubicBezTo>
                    <a:pt x="8991" y="1851272"/>
                    <a:pt x="0" y="1842281"/>
                    <a:pt x="0" y="1831191"/>
                  </a:cubicBezTo>
                  <a:lnTo>
                    <a:pt x="0" y="20081"/>
                  </a:lnTo>
                  <a:cubicBezTo>
                    <a:pt x="0" y="8991"/>
                    <a:pt x="8991" y="0"/>
                    <a:pt x="20081" y="0"/>
                  </a:cubicBezTo>
                  <a:close/>
                </a:path>
              </a:pathLst>
            </a:custGeom>
            <a:solidFill>
              <a:srgbClr val="393939"/>
            </a:solidFill>
          </p:spPr>
          <p:txBody>
            <a:bodyPr/>
            <a:lstStyle/>
            <a:p>
              <a:endParaRPr lang="es-PE"/>
            </a:p>
          </p:txBody>
        </p:sp>
        <p:sp>
          <p:nvSpPr>
            <p:cNvPr id="8" name="TextBox 8"/>
            <p:cNvSpPr txBox="1"/>
            <p:nvPr/>
          </p:nvSpPr>
          <p:spPr>
            <a:xfrm>
              <a:off x="0" y="-28575"/>
              <a:ext cx="2030750" cy="1879847"/>
            </a:xfrm>
            <a:prstGeom prst="rect">
              <a:avLst/>
            </a:prstGeom>
          </p:spPr>
          <p:txBody>
            <a:bodyPr lIns="50800" tIns="50800" rIns="50800" bIns="50800" rtlCol="0" anchor="ctr"/>
            <a:lstStyle/>
            <a:p>
              <a:pPr algn="ctr">
                <a:lnSpc>
                  <a:spcPts val="1960"/>
                </a:lnSpc>
              </a:pPr>
              <a:endParaRPr/>
            </a:p>
          </p:txBody>
        </p:sp>
      </p:grpSp>
      <p:sp>
        <p:nvSpPr>
          <p:cNvPr id="9" name="Freeform 9"/>
          <p:cNvSpPr/>
          <p:nvPr/>
        </p:nvSpPr>
        <p:spPr>
          <a:xfrm>
            <a:off x="1440851" y="6749119"/>
            <a:ext cx="5079607" cy="3284813"/>
          </a:xfrm>
          <a:custGeom>
            <a:avLst/>
            <a:gdLst/>
            <a:ahLst/>
            <a:cxnLst/>
            <a:rect l="l" t="t" r="r" b="b"/>
            <a:pathLst>
              <a:path w="5079607" h="3284813">
                <a:moveTo>
                  <a:pt x="0" y="0"/>
                </a:moveTo>
                <a:lnTo>
                  <a:pt x="5079607" y="0"/>
                </a:lnTo>
                <a:lnTo>
                  <a:pt x="5079607" y="3284812"/>
                </a:lnTo>
                <a:lnTo>
                  <a:pt x="0" y="3284812"/>
                </a:lnTo>
                <a:lnTo>
                  <a:pt x="0" y="0"/>
                </a:lnTo>
                <a:close/>
              </a:path>
            </a:pathLst>
          </a:custGeom>
          <a:blipFill>
            <a:blip r:embed="rId3"/>
            <a:stretch>
              <a:fillRect/>
            </a:stretch>
          </a:blipFill>
        </p:spPr>
        <p:txBody>
          <a:bodyPr/>
          <a:lstStyle/>
          <a:p>
            <a:endParaRPr lang="es-PE"/>
          </a:p>
        </p:txBody>
      </p:sp>
      <p:sp>
        <p:nvSpPr>
          <p:cNvPr id="10" name="Freeform 10"/>
          <p:cNvSpPr/>
          <p:nvPr/>
        </p:nvSpPr>
        <p:spPr>
          <a:xfrm>
            <a:off x="12256517" y="7119693"/>
            <a:ext cx="3046949" cy="3167307"/>
          </a:xfrm>
          <a:custGeom>
            <a:avLst/>
            <a:gdLst/>
            <a:ahLst/>
            <a:cxnLst/>
            <a:rect l="l" t="t" r="r" b="b"/>
            <a:pathLst>
              <a:path w="3046949" h="3167307">
                <a:moveTo>
                  <a:pt x="0" y="0"/>
                </a:moveTo>
                <a:lnTo>
                  <a:pt x="3046949" y="0"/>
                </a:lnTo>
                <a:lnTo>
                  <a:pt x="3046949" y="3167307"/>
                </a:lnTo>
                <a:lnTo>
                  <a:pt x="0" y="3167307"/>
                </a:lnTo>
                <a:lnTo>
                  <a:pt x="0" y="0"/>
                </a:lnTo>
                <a:close/>
              </a:path>
            </a:pathLst>
          </a:custGeom>
          <a:blipFill>
            <a:blip r:embed="rId4"/>
            <a:stretch>
              <a:fillRect/>
            </a:stretch>
          </a:blipFill>
        </p:spPr>
        <p:txBody>
          <a:bodyPr/>
          <a:lstStyle/>
          <a:p>
            <a:endParaRPr lang="es-PE"/>
          </a:p>
        </p:txBody>
      </p:sp>
      <p:sp>
        <p:nvSpPr>
          <p:cNvPr id="11" name="TextBox 11"/>
          <p:cNvSpPr txBox="1"/>
          <p:nvPr/>
        </p:nvSpPr>
        <p:spPr>
          <a:xfrm>
            <a:off x="3117998" y="428625"/>
            <a:ext cx="12735337" cy="600075"/>
          </a:xfrm>
          <a:prstGeom prst="rect">
            <a:avLst/>
          </a:prstGeom>
        </p:spPr>
        <p:txBody>
          <a:bodyPr lIns="0" tIns="0" rIns="0" bIns="0" rtlCol="0" anchor="t">
            <a:spAutoFit/>
          </a:bodyPr>
          <a:lstStyle/>
          <a:p>
            <a:pPr algn="ctr">
              <a:lnSpc>
                <a:spcPts val="4799"/>
              </a:lnSpc>
            </a:pPr>
            <a:r>
              <a:rPr lang="en-US" sz="3999" b="1" spc="-299">
                <a:solidFill>
                  <a:srgbClr val="4BBEB8"/>
                </a:solidFill>
                <a:latin typeface="Open Sauce Bold"/>
                <a:ea typeface="Open Sauce Bold"/>
                <a:cs typeface="Open Sauce Bold"/>
                <a:sym typeface="Open Sauce Bold"/>
              </a:rPr>
              <a:t>Arquitectura del Microcontrolador y Mapa de Memoria</a:t>
            </a:r>
          </a:p>
        </p:txBody>
      </p:sp>
      <p:sp>
        <p:nvSpPr>
          <p:cNvPr id="12" name="TextBox 12"/>
          <p:cNvSpPr txBox="1"/>
          <p:nvPr/>
        </p:nvSpPr>
        <p:spPr>
          <a:xfrm>
            <a:off x="1440851" y="2901879"/>
            <a:ext cx="6077055" cy="2209800"/>
          </a:xfrm>
          <a:prstGeom prst="rect">
            <a:avLst/>
          </a:prstGeom>
        </p:spPr>
        <p:txBody>
          <a:bodyPr lIns="0" tIns="0" rIns="0" bIns="0" rtlCol="0" anchor="t">
            <a:spAutoFit/>
          </a:bodyPr>
          <a:lstStyle/>
          <a:p>
            <a:pPr marL="388618" lvl="1" indent="-194309" algn="l">
              <a:lnSpc>
                <a:spcPts val="2159"/>
              </a:lnSpc>
              <a:buFont typeface="Arial"/>
              <a:buChar char="•"/>
            </a:pPr>
            <a:r>
              <a:rPr lang="en-US" sz="1799" b="1" spc="-35">
                <a:solidFill>
                  <a:srgbClr val="FFFFFF"/>
                </a:solidFill>
                <a:latin typeface="Open Sauce Bold"/>
                <a:ea typeface="Open Sauce Bold"/>
                <a:cs typeface="Open Sauce Bold"/>
                <a:sym typeface="Open Sauce Bold"/>
              </a:rPr>
              <a:t>Procesador Central: </a:t>
            </a:r>
            <a:r>
              <a:rPr lang="en-US" sz="1799" spc="-35">
                <a:solidFill>
                  <a:srgbClr val="FFFFFF"/>
                </a:solidFill>
                <a:latin typeface="Open Sauce"/>
                <a:ea typeface="Open Sauce"/>
                <a:cs typeface="Open Sauce"/>
                <a:sym typeface="Open Sauce"/>
              </a:rPr>
              <a:t>ATmega328P de 8 bits, basado en la arquitectura Harvard modificada (tipo RISC).</a:t>
            </a:r>
          </a:p>
          <a:p>
            <a:pPr algn="l">
              <a:lnSpc>
                <a:spcPts val="2159"/>
              </a:lnSpc>
            </a:pPr>
            <a:endParaRPr lang="en-US" sz="1799" spc="-35">
              <a:solidFill>
                <a:srgbClr val="FFFFFF"/>
              </a:solidFill>
              <a:latin typeface="Open Sauce"/>
              <a:ea typeface="Open Sauce"/>
              <a:cs typeface="Open Sauce"/>
              <a:sym typeface="Open Sauce"/>
            </a:endParaRPr>
          </a:p>
          <a:p>
            <a:pPr algn="l">
              <a:lnSpc>
                <a:spcPts val="2159"/>
              </a:lnSpc>
            </a:pPr>
            <a:endParaRPr lang="en-US" sz="1799" spc="-35">
              <a:solidFill>
                <a:srgbClr val="FFFFFF"/>
              </a:solidFill>
              <a:latin typeface="Open Sauce"/>
              <a:ea typeface="Open Sauce"/>
              <a:cs typeface="Open Sauce"/>
              <a:sym typeface="Open Sauce"/>
            </a:endParaRPr>
          </a:p>
          <a:p>
            <a:pPr algn="l">
              <a:lnSpc>
                <a:spcPts val="2279"/>
              </a:lnSpc>
            </a:pPr>
            <a:r>
              <a:rPr lang="en-US" sz="1899" spc="-37">
                <a:solidFill>
                  <a:srgbClr val="FFFFFF"/>
                </a:solidFill>
                <a:latin typeface="Open Sauce"/>
                <a:ea typeface="Open Sauce"/>
                <a:cs typeface="Open Sauce"/>
                <a:sym typeface="Open Sauce"/>
              </a:rPr>
              <a:t>Permite que el ciclo de máquina se realice en un solo ciclo de reloj para la mayoría de las instrucciones, acelerando el muestreo en tiempo real de los sensores.</a:t>
            </a:r>
          </a:p>
        </p:txBody>
      </p:sp>
      <p:sp>
        <p:nvSpPr>
          <p:cNvPr id="13" name="TextBox 13"/>
          <p:cNvSpPr txBox="1"/>
          <p:nvPr/>
        </p:nvSpPr>
        <p:spPr>
          <a:xfrm>
            <a:off x="1440851" y="2223843"/>
            <a:ext cx="5153367" cy="361950"/>
          </a:xfrm>
          <a:prstGeom prst="rect">
            <a:avLst/>
          </a:prstGeom>
        </p:spPr>
        <p:txBody>
          <a:bodyPr lIns="0" tIns="0" rIns="0" bIns="0" rtlCol="0" anchor="t">
            <a:spAutoFit/>
          </a:bodyPr>
          <a:lstStyle/>
          <a:p>
            <a:pPr algn="l">
              <a:lnSpc>
                <a:spcPts val="2880"/>
              </a:lnSpc>
            </a:pPr>
            <a:r>
              <a:rPr lang="en-US" sz="2400" b="1" spc="-180">
                <a:solidFill>
                  <a:srgbClr val="FFEA2C"/>
                </a:solidFill>
                <a:latin typeface="Open Sauce Bold"/>
                <a:ea typeface="Open Sauce Bold"/>
                <a:cs typeface="Open Sauce Bold"/>
                <a:sym typeface="Open Sauce Bold"/>
              </a:rPr>
              <a:t>Arquitectura del Microcontrolador </a:t>
            </a:r>
          </a:p>
        </p:txBody>
      </p:sp>
      <p:sp>
        <p:nvSpPr>
          <p:cNvPr id="14" name="TextBox 14"/>
          <p:cNvSpPr txBox="1"/>
          <p:nvPr/>
        </p:nvSpPr>
        <p:spPr>
          <a:xfrm>
            <a:off x="10699967" y="1861893"/>
            <a:ext cx="5153367" cy="361950"/>
          </a:xfrm>
          <a:prstGeom prst="rect">
            <a:avLst/>
          </a:prstGeom>
        </p:spPr>
        <p:txBody>
          <a:bodyPr lIns="0" tIns="0" rIns="0" bIns="0" rtlCol="0" anchor="t">
            <a:spAutoFit/>
          </a:bodyPr>
          <a:lstStyle/>
          <a:p>
            <a:pPr algn="l">
              <a:lnSpc>
                <a:spcPts val="2880"/>
              </a:lnSpc>
            </a:pPr>
            <a:r>
              <a:rPr lang="en-US" sz="2400" b="1" spc="-180">
                <a:solidFill>
                  <a:srgbClr val="FFEA2C"/>
                </a:solidFill>
                <a:latin typeface="Open Sauce Bold"/>
                <a:ea typeface="Open Sauce Bold"/>
                <a:cs typeface="Open Sauce Bold"/>
                <a:sym typeface="Open Sauce Bold"/>
              </a:rPr>
              <a:t>Mapa de Memoria</a:t>
            </a:r>
          </a:p>
        </p:txBody>
      </p:sp>
      <p:sp>
        <p:nvSpPr>
          <p:cNvPr id="15" name="TextBox 15"/>
          <p:cNvSpPr txBox="1"/>
          <p:nvPr/>
        </p:nvSpPr>
        <p:spPr>
          <a:xfrm>
            <a:off x="10300684" y="2404818"/>
            <a:ext cx="6958616" cy="4533900"/>
          </a:xfrm>
          <a:prstGeom prst="rect">
            <a:avLst/>
          </a:prstGeom>
        </p:spPr>
        <p:txBody>
          <a:bodyPr lIns="0" tIns="0" rIns="0" bIns="0" rtlCol="0" anchor="t">
            <a:spAutoFit/>
          </a:bodyPr>
          <a:lstStyle/>
          <a:p>
            <a:pPr marL="388618" lvl="1" indent="-194309" algn="l">
              <a:lnSpc>
                <a:spcPts val="2159"/>
              </a:lnSpc>
              <a:buFont typeface="Arial"/>
              <a:buChar char="•"/>
            </a:pPr>
            <a:r>
              <a:rPr lang="en-US" sz="1799" b="1" spc="-35">
                <a:solidFill>
                  <a:srgbClr val="FFFFFF"/>
                </a:solidFill>
                <a:latin typeface="Open Sauce Bold"/>
                <a:ea typeface="Open Sauce Bold"/>
                <a:cs typeface="Open Sauce Bold"/>
                <a:sym typeface="Open Sauce Bold"/>
              </a:rPr>
              <a:t>Memoria Flash (32 KB - Programa):   </a:t>
            </a:r>
            <a:r>
              <a:rPr lang="en-US" sz="1799" spc="-35">
                <a:solidFill>
                  <a:srgbClr val="FFFFFF"/>
                </a:solidFill>
                <a:latin typeface="Open Sauce"/>
                <a:ea typeface="Open Sauce"/>
                <a:cs typeface="Open Sauce"/>
                <a:sym typeface="Open Sauce"/>
              </a:rPr>
              <a:t>No volátil, 16 bits de ancho de palabra. Reside el firmware compilado (código binario), la lógica FSM, las rutinas de interrupción (ISR) y la configuración de registros. El Program Counter (PC) la recorre sin riesgo de sobrescritura.</a:t>
            </a:r>
          </a:p>
          <a:p>
            <a:pPr algn="l">
              <a:lnSpc>
                <a:spcPts val="2159"/>
              </a:lnSpc>
            </a:pPr>
            <a:endParaRPr lang="en-US" sz="1799" spc="-35">
              <a:solidFill>
                <a:srgbClr val="FFFFFF"/>
              </a:solidFill>
              <a:latin typeface="Open Sauce"/>
              <a:ea typeface="Open Sauce"/>
              <a:cs typeface="Open Sauce"/>
              <a:sym typeface="Open Sauce"/>
            </a:endParaRPr>
          </a:p>
          <a:p>
            <a:pPr marL="388618" lvl="1" indent="-194309" algn="l">
              <a:lnSpc>
                <a:spcPts val="2159"/>
              </a:lnSpc>
              <a:buFont typeface="Arial"/>
              <a:buChar char="•"/>
            </a:pPr>
            <a:r>
              <a:rPr lang="en-US" sz="1799" b="1" spc="-35">
                <a:solidFill>
                  <a:srgbClr val="FFFFFF"/>
                </a:solidFill>
                <a:latin typeface="Open Sauce Bold"/>
                <a:ea typeface="Open Sauce Bold"/>
                <a:cs typeface="Open Sauce Bold"/>
                <a:sym typeface="Open Sauce Bold"/>
              </a:rPr>
              <a:t>Memoria SRAM (2 KB - Datos):</a:t>
            </a:r>
            <a:r>
              <a:rPr lang="en-US" sz="1799" spc="-35">
                <a:solidFill>
                  <a:srgbClr val="FFFFFF"/>
                </a:solidFill>
                <a:latin typeface="Open Sauce"/>
                <a:ea typeface="Open Sauce"/>
                <a:cs typeface="Open Sauce"/>
                <a:sym typeface="Open Sauce"/>
              </a:rPr>
              <a:t>   Volátil, 8 bits de ancho. Gestión dinámica en ejecución: almacena la pila (Stack), variables de bucle y buffers temporales de voltaje (0-1023) de los sensores. Firmware optimizado usando solo tipos primitivos (int, byte) sin variables dinámicas (String).</a:t>
            </a:r>
          </a:p>
          <a:p>
            <a:pPr algn="l">
              <a:lnSpc>
                <a:spcPts val="2159"/>
              </a:lnSpc>
            </a:pPr>
            <a:endParaRPr lang="en-US" sz="1799" spc="-35">
              <a:solidFill>
                <a:srgbClr val="FFFFFF"/>
              </a:solidFill>
              <a:latin typeface="Open Sauce"/>
              <a:ea typeface="Open Sauce"/>
              <a:cs typeface="Open Sauce"/>
              <a:sym typeface="Open Sauce"/>
            </a:endParaRPr>
          </a:p>
          <a:p>
            <a:pPr marL="388618" lvl="1" indent="-194309" algn="l">
              <a:lnSpc>
                <a:spcPts val="2159"/>
              </a:lnSpc>
              <a:buFont typeface="Arial"/>
              <a:buChar char="•"/>
            </a:pPr>
            <a:r>
              <a:rPr lang="en-US" sz="1799" b="1" spc="-35">
                <a:solidFill>
                  <a:srgbClr val="FFFFFF"/>
                </a:solidFill>
                <a:latin typeface="Open Sauce Bold"/>
                <a:ea typeface="Open Sauce Bold"/>
                <a:cs typeface="Open Sauce Bold"/>
                <a:sym typeface="Open Sauce Bold"/>
              </a:rPr>
              <a:t>Memoria EEPROM (1 KB - No volátil)</a:t>
            </a:r>
            <a:r>
              <a:rPr lang="en-US" sz="1799" spc="-35">
                <a:solidFill>
                  <a:srgbClr val="FFFFFF"/>
                </a:solidFill>
                <a:latin typeface="Open Sauce"/>
                <a:ea typeface="Open Sauce"/>
                <a:cs typeface="Open Sauce"/>
                <a:sym typeface="Open Sauce"/>
              </a:rPr>
              <a:t>:   Espacio reservado para almacenar umbrales de humedad críticos y perfiles de cultivo, previniendo la pérdida de calibración ante reinicios o cortes de energía.</a:t>
            </a:r>
          </a:p>
          <a:p>
            <a:pPr algn="l">
              <a:lnSpc>
                <a:spcPts val="2159"/>
              </a:lnSpc>
            </a:pPr>
            <a:endParaRPr lang="en-US" sz="1799" spc="-35">
              <a:solidFill>
                <a:srgbClr val="FFFFFF"/>
              </a:solidFill>
              <a:latin typeface="Open Sauce"/>
              <a:ea typeface="Open Sauce"/>
              <a:cs typeface="Open Sauce"/>
              <a:sym typeface="Open Sauc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867784" y="8763506"/>
            <a:ext cx="666750" cy="666750"/>
          </a:xfrm>
          <a:custGeom>
            <a:avLst/>
            <a:gdLst/>
            <a:ahLst/>
            <a:cxnLst/>
            <a:rect l="l" t="t" r="r" b="b"/>
            <a:pathLst>
              <a:path w="666750" h="666750">
                <a:moveTo>
                  <a:pt x="0" y="0"/>
                </a:moveTo>
                <a:lnTo>
                  <a:pt x="666750" y="0"/>
                </a:lnTo>
                <a:lnTo>
                  <a:pt x="666750" y="666750"/>
                </a:lnTo>
                <a:lnTo>
                  <a:pt x="0" y="66675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PE"/>
          </a:p>
        </p:txBody>
      </p:sp>
      <p:sp>
        <p:nvSpPr>
          <p:cNvPr id="3" name="Freeform 3"/>
          <p:cNvSpPr/>
          <p:nvPr/>
        </p:nvSpPr>
        <p:spPr>
          <a:xfrm>
            <a:off x="11994808" y="3192911"/>
            <a:ext cx="2793812" cy="1950589"/>
          </a:xfrm>
          <a:custGeom>
            <a:avLst/>
            <a:gdLst/>
            <a:ahLst/>
            <a:cxnLst/>
            <a:rect l="l" t="t" r="r" b="b"/>
            <a:pathLst>
              <a:path w="2793812" h="1950589">
                <a:moveTo>
                  <a:pt x="0" y="0"/>
                </a:moveTo>
                <a:lnTo>
                  <a:pt x="2793812" y="0"/>
                </a:lnTo>
                <a:lnTo>
                  <a:pt x="2793812" y="1950589"/>
                </a:lnTo>
                <a:lnTo>
                  <a:pt x="0" y="19505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PE"/>
          </a:p>
        </p:txBody>
      </p:sp>
      <p:sp>
        <p:nvSpPr>
          <p:cNvPr id="4" name="Freeform 4"/>
          <p:cNvSpPr/>
          <p:nvPr/>
        </p:nvSpPr>
        <p:spPr>
          <a:xfrm>
            <a:off x="11258319" y="5774162"/>
            <a:ext cx="4266790" cy="4235983"/>
          </a:xfrm>
          <a:custGeom>
            <a:avLst/>
            <a:gdLst/>
            <a:ahLst/>
            <a:cxnLst/>
            <a:rect l="l" t="t" r="r" b="b"/>
            <a:pathLst>
              <a:path w="4266790" h="4235983">
                <a:moveTo>
                  <a:pt x="0" y="0"/>
                </a:moveTo>
                <a:lnTo>
                  <a:pt x="4266790" y="0"/>
                </a:lnTo>
                <a:lnTo>
                  <a:pt x="4266790" y="4235983"/>
                </a:lnTo>
                <a:lnTo>
                  <a:pt x="0" y="4235983"/>
                </a:lnTo>
                <a:lnTo>
                  <a:pt x="0" y="0"/>
                </a:lnTo>
                <a:close/>
              </a:path>
            </a:pathLst>
          </a:custGeom>
          <a:blipFill>
            <a:blip r:embed="rId4"/>
            <a:stretch>
              <a:fillRect/>
            </a:stretch>
          </a:blipFill>
        </p:spPr>
        <p:txBody>
          <a:bodyPr/>
          <a:lstStyle/>
          <a:p>
            <a:endParaRPr lang="es-PE"/>
          </a:p>
        </p:txBody>
      </p:sp>
      <p:sp>
        <p:nvSpPr>
          <p:cNvPr id="5" name="TextBox 5"/>
          <p:cNvSpPr txBox="1"/>
          <p:nvPr/>
        </p:nvSpPr>
        <p:spPr>
          <a:xfrm>
            <a:off x="2940585" y="428625"/>
            <a:ext cx="11457975" cy="1200150"/>
          </a:xfrm>
          <a:prstGeom prst="rect">
            <a:avLst/>
          </a:prstGeom>
        </p:spPr>
        <p:txBody>
          <a:bodyPr lIns="0" tIns="0" rIns="0" bIns="0" rtlCol="0" anchor="t">
            <a:spAutoFit/>
          </a:bodyPr>
          <a:lstStyle/>
          <a:p>
            <a:pPr algn="ctr">
              <a:lnSpc>
                <a:spcPts val="4799"/>
              </a:lnSpc>
            </a:pPr>
            <a:r>
              <a:rPr lang="en-US" sz="3999" b="1" spc="-299">
                <a:solidFill>
                  <a:srgbClr val="4BBEB8"/>
                </a:solidFill>
                <a:latin typeface="Open Sauce Bold"/>
                <a:ea typeface="Open Sauce Bold"/>
                <a:cs typeface="Open Sauce Bold"/>
                <a:sym typeface="Open Sauce Bold"/>
              </a:rPr>
              <a:t>Interfaces de Comunicación y Manejo a Nivel de Registros: Módulo ADC</a:t>
            </a:r>
          </a:p>
        </p:txBody>
      </p:sp>
      <p:sp>
        <p:nvSpPr>
          <p:cNvPr id="6" name="TextBox 6"/>
          <p:cNvSpPr txBox="1"/>
          <p:nvPr/>
        </p:nvSpPr>
        <p:spPr>
          <a:xfrm>
            <a:off x="2473711" y="1759351"/>
            <a:ext cx="12584003" cy="898526"/>
          </a:xfrm>
          <a:prstGeom prst="rect">
            <a:avLst/>
          </a:prstGeom>
        </p:spPr>
        <p:txBody>
          <a:bodyPr lIns="0" tIns="0" rIns="0" bIns="0" rtlCol="0" anchor="t">
            <a:spAutoFit/>
          </a:bodyPr>
          <a:lstStyle/>
          <a:p>
            <a:pPr algn="ctr">
              <a:lnSpc>
                <a:spcPts val="3739"/>
              </a:lnSpc>
            </a:pPr>
            <a:r>
              <a:rPr lang="en-US" sz="2199" spc="-43">
                <a:solidFill>
                  <a:srgbClr val="000000"/>
                </a:solidFill>
                <a:latin typeface="Open Sauce"/>
                <a:ea typeface="Open Sauce"/>
                <a:cs typeface="Open Sauce"/>
                <a:sym typeface="Open Sauce"/>
              </a:rPr>
              <a:t>La interacción con el entorno se gestiona directamente con los registros de entrada/salida (I/O) mapeados en la memoria, sin delegar enteramente en librerías de alto nivel.</a:t>
            </a:r>
          </a:p>
        </p:txBody>
      </p:sp>
      <p:sp>
        <p:nvSpPr>
          <p:cNvPr id="7" name="TextBox 7"/>
          <p:cNvSpPr txBox="1"/>
          <p:nvPr/>
        </p:nvSpPr>
        <p:spPr>
          <a:xfrm>
            <a:off x="446966" y="2615945"/>
            <a:ext cx="9420819" cy="7671055"/>
          </a:xfrm>
          <a:prstGeom prst="rect">
            <a:avLst/>
          </a:prstGeom>
        </p:spPr>
        <p:txBody>
          <a:bodyPr lIns="0" tIns="0" rIns="0" bIns="0" rtlCol="0" anchor="t">
            <a:spAutoFit/>
          </a:bodyPr>
          <a:lstStyle/>
          <a:p>
            <a:pPr algn="l">
              <a:lnSpc>
                <a:spcPts val="4103"/>
              </a:lnSpc>
            </a:pPr>
            <a:r>
              <a:rPr lang="en-US" sz="2399" b="1" spc="-47">
                <a:solidFill>
                  <a:srgbClr val="000000"/>
                </a:solidFill>
                <a:latin typeface="Open Sauce Bold"/>
                <a:ea typeface="Open Sauce Bold"/>
                <a:cs typeface="Open Sauce Bold"/>
                <a:sym typeface="Open Sauce Bold"/>
              </a:rPr>
              <a:t>Adquisición Analógica (Módulo ADC)</a:t>
            </a:r>
          </a:p>
          <a:p>
            <a:pPr algn="l">
              <a:lnSpc>
                <a:spcPts val="3761"/>
              </a:lnSpc>
            </a:pPr>
            <a:endParaRPr lang="en-US" sz="2399" b="1" spc="-47">
              <a:solidFill>
                <a:srgbClr val="000000"/>
              </a:solidFill>
              <a:latin typeface="Open Sauce Bold"/>
              <a:ea typeface="Open Sauce Bold"/>
              <a:cs typeface="Open Sauce Bold"/>
              <a:sym typeface="Open Sauce Bold"/>
            </a:endParaRPr>
          </a:p>
          <a:p>
            <a:pPr algn="l">
              <a:lnSpc>
                <a:spcPts val="3761"/>
              </a:lnSpc>
            </a:pPr>
            <a:r>
              <a:rPr lang="en-US" sz="2199" b="1" spc="-43">
                <a:solidFill>
                  <a:srgbClr val="000000"/>
                </a:solidFill>
                <a:latin typeface="Open Sauce Bold"/>
                <a:ea typeface="Open Sauce Bold"/>
                <a:cs typeface="Open Sauce Bold"/>
                <a:sym typeface="Open Sauce Bold"/>
              </a:rPr>
              <a:t>Sensores de Humedad:</a:t>
            </a:r>
            <a:r>
              <a:rPr lang="en-US" sz="2199" spc="-43">
                <a:solidFill>
                  <a:srgbClr val="000000"/>
                </a:solidFill>
                <a:latin typeface="Open Sauce"/>
                <a:ea typeface="Open Sauce"/>
                <a:cs typeface="Open Sauce"/>
                <a:sym typeface="Open Sauce"/>
              </a:rPr>
              <a:t> Representados por potenciómetros en los pines A0 y A1 (voltaje continuo de 0 a 5V).</a:t>
            </a:r>
          </a:p>
          <a:p>
            <a:pPr algn="l">
              <a:lnSpc>
                <a:spcPts val="3761"/>
              </a:lnSpc>
            </a:pPr>
            <a:r>
              <a:rPr lang="en-US" sz="2199" b="1" spc="-43">
                <a:solidFill>
                  <a:srgbClr val="000000"/>
                </a:solidFill>
                <a:latin typeface="Open Sauce Bold"/>
                <a:ea typeface="Open Sauce Bold"/>
                <a:cs typeface="Open Sauce Bold"/>
                <a:sym typeface="Open Sauce Bold"/>
              </a:rPr>
              <a:t>Hardware: </a:t>
            </a:r>
            <a:r>
              <a:rPr lang="en-US" sz="2199" spc="-43">
                <a:solidFill>
                  <a:srgbClr val="000000"/>
                </a:solidFill>
                <a:latin typeface="Open Sauce"/>
                <a:ea typeface="Open Sauce"/>
                <a:cs typeface="Open Sauce"/>
                <a:sym typeface="Open Sauce"/>
              </a:rPr>
              <a:t>Multiplexor analógico acoplado a un ADC de aproximaciones sucesivas de 10 bits.</a:t>
            </a:r>
          </a:p>
          <a:p>
            <a:pPr algn="l">
              <a:lnSpc>
                <a:spcPts val="3761"/>
              </a:lnSpc>
            </a:pPr>
            <a:endParaRPr lang="en-US" sz="2199" spc="-43">
              <a:solidFill>
                <a:srgbClr val="000000"/>
              </a:solidFill>
              <a:latin typeface="Open Sauce"/>
              <a:ea typeface="Open Sauce"/>
              <a:cs typeface="Open Sauce"/>
              <a:sym typeface="Open Sauce"/>
            </a:endParaRPr>
          </a:p>
          <a:p>
            <a:pPr algn="l">
              <a:lnSpc>
                <a:spcPts val="4103"/>
              </a:lnSpc>
            </a:pPr>
            <a:r>
              <a:rPr lang="en-US" sz="2399" b="1" spc="-47">
                <a:solidFill>
                  <a:srgbClr val="000000"/>
                </a:solidFill>
                <a:latin typeface="Open Sauce Bold"/>
                <a:ea typeface="Open Sauce Bold"/>
                <a:cs typeface="Open Sauce Bold"/>
                <a:sym typeface="Open Sauce Bold"/>
              </a:rPr>
              <a:t>Configuración del Firmware a Nivel de Registros:</a:t>
            </a:r>
          </a:p>
          <a:p>
            <a:pPr algn="l">
              <a:lnSpc>
                <a:spcPts val="3761"/>
              </a:lnSpc>
            </a:pPr>
            <a:r>
              <a:rPr lang="en-US" sz="2199" b="1" spc="-43">
                <a:solidFill>
                  <a:srgbClr val="000000"/>
                </a:solidFill>
                <a:latin typeface="Open Sauce Bold"/>
                <a:ea typeface="Open Sauce Bold"/>
                <a:cs typeface="Open Sauce Bold"/>
                <a:sym typeface="Open Sauce Bold"/>
              </a:rPr>
              <a:t>ADMUX:</a:t>
            </a:r>
            <a:r>
              <a:rPr lang="en-US" sz="2199" spc="-43">
                <a:solidFill>
                  <a:srgbClr val="000000"/>
                </a:solidFill>
                <a:latin typeface="Open Sauce"/>
                <a:ea typeface="Open Sauce"/>
                <a:cs typeface="Open Sauce"/>
                <a:sym typeface="Open Sauce"/>
              </a:rPr>
              <a:t> Configura el voltaje de referencia (AVCC) y selecciona el canal multiplexado.</a:t>
            </a:r>
          </a:p>
          <a:p>
            <a:pPr algn="l">
              <a:lnSpc>
                <a:spcPts val="3761"/>
              </a:lnSpc>
            </a:pPr>
            <a:r>
              <a:rPr lang="en-US" sz="2199" b="1" spc="-43">
                <a:solidFill>
                  <a:srgbClr val="000000"/>
                </a:solidFill>
                <a:latin typeface="Open Sauce Bold"/>
                <a:ea typeface="Open Sauce Bold"/>
                <a:cs typeface="Open Sauce Bold"/>
                <a:sym typeface="Open Sauce Bold"/>
              </a:rPr>
              <a:t>ADCSRA (ADC Control and Status Register A):</a:t>
            </a:r>
            <a:r>
              <a:rPr lang="en-US" sz="2199" spc="-43">
                <a:solidFill>
                  <a:srgbClr val="000000"/>
                </a:solidFill>
                <a:latin typeface="Open Sauce"/>
                <a:ea typeface="Open Sauce"/>
                <a:cs typeface="Open Sauce"/>
                <a:sym typeface="Open Sauce"/>
              </a:rPr>
              <a:t> Habilita el conversor, establece el prescaler (divisor de frecuencia para que el ADC trabaje entre 50kHz y 200kHz) e inicia la conversión mediante el bit ADSC.</a:t>
            </a:r>
          </a:p>
          <a:p>
            <a:pPr algn="l">
              <a:lnSpc>
                <a:spcPts val="3761"/>
              </a:lnSpc>
            </a:pPr>
            <a:r>
              <a:rPr lang="en-US" sz="2199" b="1" spc="-43">
                <a:solidFill>
                  <a:srgbClr val="000000"/>
                </a:solidFill>
                <a:latin typeface="Open Sauce Bold"/>
                <a:ea typeface="Open Sauce Bold"/>
                <a:cs typeface="Open Sauce Bold"/>
                <a:sym typeface="Open Sauce Bold"/>
              </a:rPr>
              <a:t>Lectura: </a:t>
            </a:r>
            <a:r>
              <a:rPr lang="en-US" sz="2199" spc="-43">
                <a:solidFill>
                  <a:srgbClr val="000000"/>
                </a:solidFill>
                <a:latin typeface="Open Sauce"/>
                <a:ea typeface="Open Sauce"/>
                <a:cs typeface="Open Sauce"/>
                <a:sym typeface="Open Sauce"/>
              </a:rPr>
              <a:t>Los 10 bits resultantes de la conversión se leen combinando los registros ADCH y ADCL.</a:t>
            </a:r>
          </a:p>
          <a:p>
            <a:pPr algn="l">
              <a:lnSpc>
                <a:spcPts val="3761"/>
              </a:lnSpc>
            </a:pPr>
            <a:endParaRPr lang="en-US" sz="2199" spc="-43">
              <a:solidFill>
                <a:srgbClr val="000000"/>
              </a:solidFill>
              <a:latin typeface="Open Sauce"/>
              <a:ea typeface="Open Sauce"/>
              <a:cs typeface="Open Sauce"/>
              <a:sym typeface="Open Sauc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433961" y="2106842"/>
            <a:ext cx="8666948" cy="6521878"/>
          </a:xfrm>
          <a:custGeom>
            <a:avLst/>
            <a:gdLst/>
            <a:ahLst/>
            <a:cxnLst/>
            <a:rect l="l" t="t" r="r" b="b"/>
            <a:pathLst>
              <a:path w="8666948" h="6521878">
                <a:moveTo>
                  <a:pt x="0" y="0"/>
                </a:moveTo>
                <a:lnTo>
                  <a:pt x="8666948" y="0"/>
                </a:lnTo>
                <a:lnTo>
                  <a:pt x="8666948" y="6521878"/>
                </a:lnTo>
                <a:lnTo>
                  <a:pt x="0" y="6521878"/>
                </a:lnTo>
                <a:lnTo>
                  <a:pt x="0" y="0"/>
                </a:lnTo>
                <a:close/>
              </a:path>
            </a:pathLst>
          </a:custGeom>
          <a:blipFill>
            <a:blip r:embed="rId2"/>
            <a:stretch>
              <a:fillRect/>
            </a:stretch>
          </a:blipFill>
        </p:spPr>
        <p:txBody>
          <a:bodyPr/>
          <a:lstStyle/>
          <a:p>
            <a:endParaRPr lang="es-PE"/>
          </a:p>
        </p:txBody>
      </p:sp>
      <p:graphicFrame>
        <p:nvGraphicFramePr>
          <p:cNvPr id="3" name="Object 3"/>
          <p:cNvGraphicFramePr/>
          <p:nvPr/>
        </p:nvGraphicFramePr>
        <p:xfrm>
          <a:off x="191048" y="712896"/>
          <a:ext cx="9144000" cy="9309770"/>
        </p:xfrm>
        <a:graphic>
          <a:graphicData uri="http://schemas.openxmlformats.org/presentationml/2006/ole">
            <mc:AlternateContent xmlns:mc="http://schemas.openxmlformats.org/markup-compatibility/2006">
              <mc:Choice xmlns:v="urn:schemas-microsoft-com:vml" Requires="v">
                <p:oleObj name="Worksheet" r:id="rId3" imgW="10998200" imgH="11163300" progId="Excel.Sheet.12">
                  <p:embed/>
                </p:oleObj>
              </mc:Choice>
              <mc:Fallback>
                <p:oleObj name="Worksheet" r:id="rId3" imgW="10998200" imgH="11163300" progId="Excel.Sheet.12">
                  <p:embed/>
                  <p:pic>
                    <p:nvPicPr>
                      <p:cNvPr id="0" name=""/>
                      <p:cNvPicPr/>
                      <p:nvPr/>
                    </p:nvPicPr>
                    <p:blipFill>
                      <a:blip r:embed="rId4"/>
                      <a:stretch>
                        <a:fillRect/>
                      </a:stretch>
                    </p:blipFill>
                    <p:spPr>
                      <a:xfrm>
                        <a:off x="191048" y="712896"/>
                        <a:ext cx="9144000" cy="9309770"/>
                      </a:xfrm>
                      <a:prstGeom prst="rect">
                        <a:avLst/>
                      </a:prstGeom>
                    </p:spPr>
                  </p:pic>
                </p:oleObj>
              </mc:Fallback>
            </mc:AlternateContent>
          </a:graphicData>
        </a:graphic>
      </p:graphicFrame>
      <p:sp>
        <p:nvSpPr>
          <p:cNvPr id="4" name="TextBox 4"/>
          <p:cNvSpPr txBox="1"/>
          <p:nvPr/>
        </p:nvSpPr>
        <p:spPr>
          <a:xfrm>
            <a:off x="3415013" y="0"/>
            <a:ext cx="11457975" cy="600075"/>
          </a:xfrm>
          <a:prstGeom prst="rect">
            <a:avLst/>
          </a:prstGeom>
        </p:spPr>
        <p:txBody>
          <a:bodyPr lIns="0" tIns="0" rIns="0" bIns="0" rtlCol="0" anchor="t">
            <a:spAutoFit/>
          </a:bodyPr>
          <a:lstStyle/>
          <a:p>
            <a:pPr algn="ctr">
              <a:lnSpc>
                <a:spcPts val="4799"/>
              </a:lnSpc>
            </a:pPr>
            <a:r>
              <a:rPr lang="en-US" sz="3999" b="1" spc="-299">
                <a:solidFill>
                  <a:srgbClr val="4BBEB8"/>
                </a:solidFill>
                <a:latin typeface="Open Sauce Bold"/>
                <a:ea typeface="Open Sauce Bold"/>
                <a:cs typeface="Open Sauce Bold"/>
                <a:sym typeface="Open Sauce Bold"/>
              </a:rPr>
              <a:t>Inventario de Materiales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758428" y="4757421"/>
            <a:ext cx="7319834" cy="5553924"/>
          </a:xfrm>
          <a:custGeom>
            <a:avLst/>
            <a:gdLst/>
            <a:ahLst/>
            <a:cxnLst/>
            <a:rect l="l" t="t" r="r" b="b"/>
            <a:pathLst>
              <a:path w="7319834" h="5553924">
                <a:moveTo>
                  <a:pt x="0" y="0"/>
                </a:moveTo>
                <a:lnTo>
                  <a:pt x="7319834" y="0"/>
                </a:lnTo>
                <a:lnTo>
                  <a:pt x="7319834" y="5553924"/>
                </a:lnTo>
                <a:lnTo>
                  <a:pt x="0" y="5553924"/>
                </a:lnTo>
                <a:lnTo>
                  <a:pt x="0" y="0"/>
                </a:lnTo>
                <a:close/>
              </a:path>
            </a:pathLst>
          </a:custGeom>
          <a:blipFill>
            <a:blip r:embed="rId2"/>
            <a:stretch>
              <a:fillRect/>
            </a:stretch>
          </a:blipFill>
        </p:spPr>
        <p:txBody>
          <a:bodyPr/>
          <a:lstStyle/>
          <a:p>
            <a:endParaRPr lang="es-PE"/>
          </a:p>
        </p:txBody>
      </p:sp>
      <p:graphicFrame>
        <p:nvGraphicFramePr>
          <p:cNvPr id="3" name="Object 3"/>
          <p:cNvGraphicFramePr/>
          <p:nvPr/>
        </p:nvGraphicFramePr>
        <p:xfrm>
          <a:off x="-90512" y="600075"/>
          <a:ext cx="9234512" cy="20274688"/>
        </p:xfrm>
        <a:graphic>
          <a:graphicData uri="http://schemas.openxmlformats.org/presentationml/2006/ole">
            <mc:AlternateContent xmlns:mc="http://schemas.openxmlformats.org/markup-compatibility/2006">
              <mc:Choice xmlns:v="urn:schemas-microsoft-com:vml" Requires="v">
                <p:oleObj name="Worksheet" r:id="rId3" imgW="13284200" imgH="24320500" progId="Excel.Sheet.12">
                  <p:embed/>
                </p:oleObj>
              </mc:Choice>
              <mc:Fallback>
                <p:oleObj name="Worksheet" r:id="rId3" imgW="13284200" imgH="24320500" progId="Excel.Sheet.12">
                  <p:embed/>
                  <p:pic>
                    <p:nvPicPr>
                      <p:cNvPr id="0" name=""/>
                      <p:cNvPicPr/>
                      <p:nvPr/>
                    </p:nvPicPr>
                    <p:blipFill>
                      <a:blip r:embed="rId4"/>
                      <a:stretch>
                        <a:fillRect/>
                      </a:stretch>
                    </p:blipFill>
                    <p:spPr>
                      <a:xfrm>
                        <a:off x="-90512" y="600075"/>
                        <a:ext cx="9234512" cy="20274688"/>
                      </a:xfrm>
                      <a:prstGeom prst="rect">
                        <a:avLst/>
                      </a:prstGeom>
                    </p:spPr>
                  </p:pic>
                </p:oleObj>
              </mc:Fallback>
            </mc:AlternateContent>
          </a:graphicData>
        </a:graphic>
      </p:graphicFrame>
      <p:sp>
        <p:nvSpPr>
          <p:cNvPr id="4" name="TextBox 4"/>
          <p:cNvSpPr txBox="1"/>
          <p:nvPr/>
        </p:nvSpPr>
        <p:spPr>
          <a:xfrm>
            <a:off x="3415013" y="0"/>
            <a:ext cx="11457975" cy="600075"/>
          </a:xfrm>
          <a:prstGeom prst="rect">
            <a:avLst/>
          </a:prstGeom>
        </p:spPr>
        <p:txBody>
          <a:bodyPr lIns="0" tIns="0" rIns="0" bIns="0" rtlCol="0" anchor="t">
            <a:spAutoFit/>
          </a:bodyPr>
          <a:lstStyle/>
          <a:p>
            <a:pPr algn="ctr">
              <a:lnSpc>
                <a:spcPts val="4799"/>
              </a:lnSpc>
            </a:pPr>
            <a:r>
              <a:rPr lang="en-US" sz="3999" b="1" spc="-299">
                <a:solidFill>
                  <a:srgbClr val="4BBEB8"/>
                </a:solidFill>
                <a:latin typeface="Open Sauce Bold"/>
                <a:ea typeface="Open Sauce Bold"/>
                <a:cs typeface="Open Sauce Bold"/>
                <a:sym typeface="Open Sauce Bold"/>
              </a:rPr>
              <a:t>Mapa de pinout</a:t>
            </a:r>
          </a:p>
        </p:txBody>
      </p:sp>
      <p:graphicFrame>
        <p:nvGraphicFramePr>
          <p:cNvPr id="5" name="Object 5"/>
          <p:cNvGraphicFramePr/>
          <p:nvPr/>
        </p:nvGraphicFramePr>
        <p:xfrm>
          <a:off x="9144000" y="600075"/>
          <a:ext cx="9234488" cy="20273963"/>
        </p:xfrm>
        <a:graphic>
          <a:graphicData uri="http://schemas.openxmlformats.org/presentationml/2006/ole">
            <mc:AlternateContent xmlns:mc="http://schemas.openxmlformats.org/markup-compatibility/2006">
              <mc:Choice xmlns:v="urn:schemas-microsoft-com:vml" Requires="v">
                <p:oleObj name="Worksheet" r:id="rId5" imgW="13284200" imgH="24320500" progId="Excel.Sheet.12">
                  <p:embed/>
                </p:oleObj>
              </mc:Choice>
              <mc:Fallback>
                <p:oleObj name="Worksheet" r:id="rId5" imgW="13284200" imgH="24320500" progId="Excel.Sheet.12">
                  <p:embed/>
                  <p:pic>
                    <p:nvPicPr>
                      <p:cNvPr id="0" name=""/>
                      <p:cNvPicPr/>
                      <p:nvPr/>
                    </p:nvPicPr>
                    <p:blipFill>
                      <a:blip r:embed="rId6"/>
                      <a:stretch>
                        <a:fillRect/>
                      </a:stretch>
                    </p:blipFill>
                    <p:spPr>
                      <a:xfrm>
                        <a:off x="9144000" y="600075"/>
                        <a:ext cx="9234488" cy="20273963"/>
                      </a:xfrm>
                      <a:prstGeom prst="rect">
                        <a:avLst/>
                      </a:prstGeom>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53061" y="2229251"/>
            <a:ext cx="13781878" cy="6971071"/>
            <a:chOff x="0" y="0"/>
            <a:chExt cx="3629795" cy="1836002"/>
          </a:xfrm>
        </p:grpSpPr>
        <p:sp>
          <p:nvSpPr>
            <p:cNvPr id="3" name="Freeform 3"/>
            <p:cNvSpPr/>
            <p:nvPr/>
          </p:nvSpPr>
          <p:spPr>
            <a:xfrm>
              <a:off x="0" y="0"/>
              <a:ext cx="3629795" cy="1836002"/>
            </a:xfrm>
            <a:custGeom>
              <a:avLst/>
              <a:gdLst/>
              <a:ahLst/>
              <a:cxnLst/>
              <a:rect l="l" t="t" r="r" b="b"/>
              <a:pathLst>
                <a:path w="3629795" h="1836002">
                  <a:moveTo>
                    <a:pt x="15729" y="0"/>
                  </a:moveTo>
                  <a:lnTo>
                    <a:pt x="3614066" y="0"/>
                  </a:lnTo>
                  <a:cubicBezTo>
                    <a:pt x="3618238" y="0"/>
                    <a:pt x="3622239" y="1657"/>
                    <a:pt x="3625188" y="4607"/>
                  </a:cubicBezTo>
                  <a:cubicBezTo>
                    <a:pt x="3628138" y="7557"/>
                    <a:pt x="3629795" y="11557"/>
                    <a:pt x="3629795" y="15729"/>
                  </a:cubicBezTo>
                  <a:lnTo>
                    <a:pt x="3629795" y="1820273"/>
                  </a:lnTo>
                  <a:cubicBezTo>
                    <a:pt x="3629795" y="1828960"/>
                    <a:pt x="3622753" y="1836002"/>
                    <a:pt x="3614066" y="1836002"/>
                  </a:cubicBezTo>
                  <a:lnTo>
                    <a:pt x="15729" y="1836002"/>
                  </a:lnTo>
                  <a:cubicBezTo>
                    <a:pt x="11557" y="1836002"/>
                    <a:pt x="7557" y="1834345"/>
                    <a:pt x="4607" y="1831395"/>
                  </a:cubicBezTo>
                  <a:cubicBezTo>
                    <a:pt x="1657" y="1828446"/>
                    <a:pt x="0" y="1824445"/>
                    <a:pt x="0" y="1820273"/>
                  </a:cubicBezTo>
                  <a:lnTo>
                    <a:pt x="0" y="15729"/>
                  </a:lnTo>
                  <a:cubicBezTo>
                    <a:pt x="0" y="11557"/>
                    <a:pt x="1657" y="7557"/>
                    <a:pt x="4607" y="4607"/>
                  </a:cubicBezTo>
                  <a:cubicBezTo>
                    <a:pt x="7557" y="1657"/>
                    <a:pt x="11557" y="0"/>
                    <a:pt x="15729" y="0"/>
                  </a:cubicBezTo>
                  <a:close/>
                </a:path>
              </a:pathLst>
            </a:custGeom>
            <a:solidFill>
              <a:srgbClr val="B5ADAD"/>
            </a:solidFill>
            <a:ln w="57150" cap="rnd">
              <a:solidFill>
                <a:srgbClr val="000000"/>
              </a:solidFill>
              <a:prstDash val="solid"/>
              <a:round/>
            </a:ln>
          </p:spPr>
          <p:txBody>
            <a:bodyPr/>
            <a:lstStyle/>
            <a:p>
              <a:endParaRPr lang="es-PE"/>
            </a:p>
          </p:txBody>
        </p:sp>
        <p:sp>
          <p:nvSpPr>
            <p:cNvPr id="4" name="TextBox 4"/>
            <p:cNvSpPr txBox="1"/>
            <p:nvPr/>
          </p:nvSpPr>
          <p:spPr>
            <a:xfrm>
              <a:off x="0" y="-28575"/>
              <a:ext cx="3629795" cy="1864577"/>
            </a:xfrm>
            <a:prstGeom prst="rect">
              <a:avLst/>
            </a:prstGeom>
          </p:spPr>
          <p:txBody>
            <a:bodyPr lIns="50800" tIns="50800" rIns="50800" bIns="50800" rtlCol="0" anchor="ctr"/>
            <a:lstStyle/>
            <a:p>
              <a:pPr algn="ctr">
                <a:lnSpc>
                  <a:spcPts val="1960"/>
                </a:lnSpc>
              </a:pPr>
              <a:endParaRPr/>
            </a:p>
          </p:txBody>
        </p:sp>
      </p:grpSp>
      <p:sp>
        <p:nvSpPr>
          <p:cNvPr id="5" name="TextBox 5"/>
          <p:cNvSpPr txBox="1"/>
          <p:nvPr/>
        </p:nvSpPr>
        <p:spPr>
          <a:xfrm>
            <a:off x="2703343" y="2319912"/>
            <a:ext cx="12968480" cy="6645770"/>
          </a:xfrm>
          <a:prstGeom prst="rect">
            <a:avLst/>
          </a:prstGeom>
        </p:spPr>
        <p:txBody>
          <a:bodyPr lIns="0" tIns="0" rIns="0" bIns="0" rtlCol="0" anchor="t">
            <a:spAutoFit/>
          </a:bodyPr>
          <a:lstStyle/>
          <a:p>
            <a:pPr algn="just">
              <a:lnSpc>
                <a:spcPts val="4094"/>
              </a:lnSpc>
            </a:pPr>
            <a:r>
              <a:rPr lang="en-US" sz="2394" b="1" spc="-47">
                <a:solidFill>
                  <a:srgbClr val="000000"/>
                </a:solidFill>
                <a:latin typeface="Open Sauce Bold"/>
                <a:ea typeface="Open Sauce Bold"/>
                <a:cs typeface="Open Sauce Bold"/>
                <a:sym typeface="Open Sauce Bold"/>
              </a:rPr>
              <a:t>Telemetría Serial (UART):</a:t>
            </a:r>
          </a:p>
          <a:p>
            <a:pPr marL="516933" lvl="1" indent="-258466" algn="just">
              <a:lnSpc>
                <a:spcPts val="4094"/>
              </a:lnSpc>
              <a:buFont typeface="Arial"/>
              <a:buChar char="•"/>
            </a:pPr>
            <a:r>
              <a:rPr lang="en-US" sz="2394" spc="-47">
                <a:solidFill>
                  <a:srgbClr val="000000"/>
                </a:solidFill>
                <a:latin typeface="Open Sauce"/>
                <a:ea typeface="Open Sauce"/>
                <a:cs typeface="Open Sauce"/>
                <a:sym typeface="Open Sauce"/>
              </a:rPr>
              <a:t>El hardware calcula la tasa de baudios (9600 bps) asumiendo un reloj de 16 MHz:</a:t>
            </a:r>
          </a:p>
          <a:p>
            <a:pPr algn="just">
              <a:lnSpc>
                <a:spcPts val="4094"/>
              </a:lnSpc>
            </a:pPr>
            <a:endParaRPr lang="en-US" sz="2394" spc="-47">
              <a:solidFill>
                <a:srgbClr val="000000"/>
              </a:solidFill>
              <a:latin typeface="Open Sauce"/>
              <a:ea typeface="Open Sauce"/>
              <a:cs typeface="Open Sauce"/>
              <a:sym typeface="Open Sauce"/>
            </a:endParaRPr>
          </a:p>
          <a:p>
            <a:pPr algn="just">
              <a:lnSpc>
                <a:spcPts val="4094"/>
              </a:lnSpc>
            </a:pPr>
            <a:endParaRPr lang="en-US" sz="2394" spc="-47">
              <a:solidFill>
                <a:srgbClr val="000000"/>
              </a:solidFill>
              <a:latin typeface="Open Sauce"/>
              <a:ea typeface="Open Sauce"/>
              <a:cs typeface="Open Sauce"/>
              <a:sym typeface="Open Sauce"/>
            </a:endParaRPr>
          </a:p>
          <a:p>
            <a:pPr algn="just">
              <a:lnSpc>
                <a:spcPts val="4094"/>
              </a:lnSpc>
            </a:pPr>
            <a:endParaRPr lang="en-US" sz="2394" spc="-47">
              <a:solidFill>
                <a:srgbClr val="000000"/>
              </a:solidFill>
              <a:latin typeface="Open Sauce"/>
              <a:ea typeface="Open Sauce"/>
              <a:cs typeface="Open Sauce"/>
              <a:sym typeface="Open Sauce"/>
            </a:endParaRPr>
          </a:p>
          <a:p>
            <a:pPr marL="516933" lvl="1" indent="-258466" algn="just">
              <a:lnSpc>
                <a:spcPts val="4094"/>
              </a:lnSpc>
              <a:buFont typeface="Arial"/>
              <a:buChar char="•"/>
            </a:pPr>
            <a:r>
              <a:rPr lang="en-US" sz="2394" spc="-47">
                <a:solidFill>
                  <a:srgbClr val="000000"/>
                </a:solidFill>
                <a:latin typeface="Open Sauce"/>
                <a:ea typeface="Open Sauce"/>
                <a:cs typeface="Open Sauce"/>
                <a:sym typeface="Open Sauce"/>
              </a:rPr>
              <a:t>Se carga el valor 103 en el registro UBRR0.</a:t>
            </a:r>
          </a:p>
          <a:p>
            <a:pPr marL="516933" lvl="1" indent="-258466" algn="just">
              <a:lnSpc>
                <a:spcPts val="4094"/>
              </a:lnSpc>
              <a:buFont typeface="Arial"/>
              <a:buChar char="•"/>
            </a:pPr>
            <a:r>
              <a:rPr lang="en-US" sz="2394" spc="-47">
                <a:solidFill>
                  <a:srgbClr val="000000"/>
                </a:solidFill>
                <a:latin typeface="Open Sauce"/>
                <a:ea typeface="Open Sauce"/>
                <a:cs typeface="Open Sauce"/>
                <a:sym typeface="Open Sauce"/>
              </a:rPr>
              <a:t>Los registros UCSR0B y UCSR0C habilitan la transmisión y estructuran la trama de datos (8N1).</a:t>
            </a:r>
          </a:p>
          <a:p>
            <a:pPr algn="just">
              <a:lnSpc>
                <a:spcPts val="4094"/>
              </a:lnSpc>
            </a:pPr>
            <a:endParaRPr lang="en-US" sz="2394" spc="-47">
              <a:solidFill>
                <a:srgbClr val="000000"/>
              </a:solidFill>
              <a:latin typeface="Open Sauce"/>
              <a:ea typeface="Open Sauce"/>
              <a:cs typeface="Open Sauce"/>
              <a:sym typeface="Open Sauce"/>
            </a:endParaRPr>
          </a:p>
          <a:p>
            <a:pPr algn="just">
              <a:lnSpc>
                <a:spcPts val="4094"/>
              </a:lnSpc>
            </a:pPr>
            <a:r>
              <a:rPr lang="en-US" sz="2394" b="1" spc="-47">
                <a:solidFill>
                  <a:srgbClr val="000000"/>
                </a:solidFill>
                <a:latin typeface="Open Sauce Bold"/>
                <a:ea typeface="Open Sauce Bold"/>
                <a:cs typeface="Open Sauce Bold"/>
                <a:sym typeface="Open Sauce Bold"/>
              </a:rPr>
              <a:t>Bus TWI / I2C (Pantalla LCD):</a:t>
            </a:r>
          </a:p>
          <a:p>
            <a:pPr marL="516933" lvl="1" indent="-258466" algn="just">
              <a:lnSpc>
                <a:spcPts val="4094"/>
              </a:lnSpc>
              <a:buFont typeface="Arial"/>
              <a:buChar char="•"/>
            </a:pPr>
            <a:r>
              <a:rPr lang="en-US" sz="2394" spc="-47">
                <a:solidFill>
                  <a:srgbClr val="000000"/>
                </a:solidFill>
                <a:latin typeface="Open Sauce"/>
                <a:ea typeface="Open Sauce"/>
                <a:cs typeface="Open Sauce"/>
                <a:sym typeface="Open Sauce"/>
              </a:rPr>
              <a:t>Comunicación síncrona direccionada en el esclavo 0x20.</a:t>
            </a:r>
          </a:p>
          <a:p>
            <a:pPr marL="516933" lvl="1" indent="-258466" algn="just">
              <a:lnSpc>
                <a:spcPts val="4094"/>
              </a:lnSpc>
              <a:buFont typeface="Arial"/>
              <a:buChar char="•"/>
            </a:pPr>
            <a:r>
              <a:rPr lang="en-US" sz="2394" spc="-47">
                <a:solidFill>
                  <a:srgbClr val="000000"/>
                </a:solidFill>
                <a:latin typeface="Open Sauce"/>
                <a:ea typeface="Open Sauce"/>
                <a:cs typeface="Open Sauce"/>
                <a:sym typeface="Open Sauce"/>
              </a:rPr>
              <a:t>El registro TWBR fija la velocidad de la línea de reloj (SCL) a 100 kHz, operando en paralelo a la ALU.</a:t>
            </a:r>
          </a:p>
        </p:txBody>
      </p:sp>
      <p:sp>
        <p:nvSpPr>
          <p:cNvPr id="6" name="TextBox 6"/>
          <p:cNvSpPr txBox="1"/>
          <p:nvPr/>
        </p:nvSpPr>
        <p:spPr>
          <a:xfrm>
            <a:off x="4690824" y="1028700"/>
            <a:ext cx="8906351" cy="600075"/>
          </a:xfrm>
          <a:prstGeom prst="rect">
            <a:avLst/>
          </a:prstGeom>
        </p:spPr>
        <p:txBody>
          <a:bodyPr lIns="0" tIns="0" rIns="0" bIns="0" rtlCol="0" anchor="t">
            <a:spAutoFit/>
          </a:bodyPr>
          <a:lstStyle/>
          <a:p>
            <a:pPr algn="ctr">
              <a:lnSpc>
                <a:spcPts val="4799"/>
              </a:lnSpc>
              <a:spcBef>
                <a:spcPct val="0"/>
              </a:spcBef>
            </a:pPr>
            <a:r>
              <a:rPr lang="en-US" sz="3999" b="1" spc="-299">
                <a:solidFill>
                  <a:srgbClr val="000000"/>
                </a:solidFill>
                <a:latin typeface="Open Sauce Bold"/>
                <a:ea typeface="Open Sauce Bold"/>
                <a:cs typeface="Open Sauce Bold"/>
                <a:sym typeface="Open Sauce Bold"/>
              </a:rPr>
              <a:t>Interfaces de Comunicación (UART e I2C)</a:t>
            </a:r>
          </a:p>
        </p:txBody>
      </p:sp>
      <p:pic>
        <p:nvPicPr>
          <p:cNvPr id="7" name="Picture 7"/>
          <p:cNvPicPr>
            <a:picLocks noChangeAspect="1"/>
          </p:cNvPicPr>
          <p:nvPr/>
        </p:nvPicPr>
        <p:blipFill>
          <a:blip r:embed="rId2"/>
          <a:stretch>
            <a:fillRect/>
          </a:stretch>
        </p:blipFill>
        <p:spPr>
          <a:xfrm>
            <a:off x="5929511" y="3109838"/>
            <a:ext cx="6428977" cy="181544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146165"/>
            <a:ext cx="9499577" cy="2363972"/>
            <a:chOff x="0" y="0"/>
            <a:chExt cx="2501946" cy="622610"/>
          </a:xfrm>
        </p:grpSpPr>
        <p:sp>
          <p:nvSpPr>
            <p:cNvPr id="3" name="Freeform 3"/>
            <p:cNvSpPr/>
            <p:nvPr/>
          </p:nvSpPr>
          <p:spPr>
            <a:xfrm>
              <a:off x="0" y="0"/>
              <a:ext cx="2501946" cy="622610"/>
            </a:xfrm>
            <a:custGeom>
              <a:avLst/>
              <a:gdLst/>
              <a:ahLst/>
              <a:cxnLst/>
              <a:rect l="l" t="t" r="r" b="b"/>
              <a:pathLst>
                <a:path w="2501946" h="622610">
                  <a:moveTo>
                    <a:pt x="15485" y="0"/>
                  </a:moveTo>
                  <a:lnTo>
                    <a:pt x="2486462" y="0"/>
                  </a:lnTo>
                  <a:cubicBezTo>
                    <a:pt x="2495013" y="0"/>
                    <a:pt x="2501946" y="6933"/>
                    <a:pt x="2501946" y="15485"/>
                  </a:cubicBezTo>
                  <a:lnTo>
                    <a:pt x="2501946" y="607125"/>
                  </a:lnTo>
                  <a:cubicBezTo>
                    <a:pt x="2501946" y="611232"/>
                    <a:pt x="2500315" y="615171"/>
                    <a:pt x="2497411" y="618074"/>
                  </a:cubicBezTo>
                  <a:cubicBezTo>
                    <a:pt x="2494507" y="620978"/>
                    <a:pt x="2490568" y="622610"/>
                    <a:pt x="2486462" y="622610"/>
                  </a:cubicBezTo>
                  <a:lnTo>
                    <a:pt x="15485" y="622610"/>
                  </a:lnTo>
                  <a:cubicBezTo>
                    <a:pt x="6933" y="622610"/>
                    <a:pt x="0" y="615677"/>
                    <a:pt x="0" y="607125"/>
                  </a:cubicBezTo>
                  <a:lnTo>
                    <a:pt x="0" y="15485"/>
                  </a:lnTo>
                  <a:cubicBezTo>
                    <a:pt x="0" y="6933"/>
                    <a:pt x="6933" y="0"/>
                    <a:pt x="15485" y="0"/>
                  </a:cubicBezTo>
                  <a:close/>
                </a:path>
              </a:pathLst>
            </a:custGeom>
            <a:solidFill>
              <a:srgbClr val="B5ADAD"/>
            </a:solidFill>
            <a:ln w="47625" cap="sq">
              <a:solidFill>
                <a:srgbClr val="000000"/>
              </a:solidFill>
              <a:prstDash val="solid"/>
              <a:miter/>
            </a:ln>
          </p:spPr>
          <p:txBody>
            <a:bodyPr/>
            <a:lstStyle/>
            <a:p>
              <a:endParaRPr lang="es-PE"/>
            </a:p>
          </p:txBody>
        </p:sp>
        <p:sp>
          <p:nvSpPr>
            <p:cNvPr id="4" name="TextBox 4"/>
            <p:cNvSpPr txBox="1"/>
            <p:nvPr/>
          </p:nvSpPr>
          <p:spPr>
            <a:xfrm>
              <a:off x="0" y="-28575"/>
              <a:ext cx="2501946" cy="651185"/>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a:off x="7759723" y="4663440"/>
            <a:ext cx="9499577" cy="5272504"/>
            <a:chOff x="0" y="0"/>
            <a:chExt cx="2501946" cy="1388643"/>
          </a:xfrm>
        </p:grpSpPr>
        <p:sp>
          <p:nvSpPr>
            <p:cNvPr id="6" name="Freeform 6"/>
            <p:cNvSpPr/>
            <p:nvPr/>
          </p:nvSpPr>
          <p:spPr>
            <a:xfrm>
              <a:off x="0" y="0"/>
              <a:ext cx="2501946" cy="1388643"/>
            </a:xfrm>
            <a:custGeom>
              <a:avLst/>
              <a:gdLst/>
              <a:ahLst/>
              <a:cxnLst/>
              <a:rect l="l" t="t" r="r" b="b"/>
              <a:pathLst>
                <a:path w="2501946" h="1388643">
                  <a:moveTo>
                    <a:pt x="15485" y="0"/>
                  </a:moveTo>
                  <a:lnTo>
                    <a:pt x="2486462" y="0"/>
                  </a:lnTo>
                  <a:cubicBezTo>
                    <a:pt x="2495013" y="0"/>
                    <a:pt x="2501946" y="6933"/>
                    <a:pt x="2501946" y="15485"/>
                  </a:cubicBezTo>
                  <a:lnTo>
                    <a:pt x="2501946" y="1373159"/>
                  </a:lnTo>
                  <a:cubicBezTo>
                    <a:pt x="2501946" y="1381711"/>
                    <a:pt x="2495013" y="1388643"/>
                    <a:pt x="2486462" y="1388643"/>
                  </a:cubicBezTo>
                  <a:lnTo>
                    <a:pt x="15485" y="1388643"/>
                  </a:lnTo>
                  <a:cubicBezTo>
                    <a:pt x="6933" y="1388643"/>
                    <a:pt x="0" y="1381711"/>
                    <a:pt x="0" y="1373159"/>
                  </a:cubicBezTo>
                  <a:lnTo>
                    <a:pt x="0" y="15485"/>
                  </a:lnTo>
                  <a:cubicBezTo>
                    <a:pt x="0" y="6933"/>
                    <a:pt x="6933" y="0"/>
                    <a:pt x="15485" y="0"/>
                  </a:cubicBezTo>
                  <a:close/>
                </a:path>
              </a:pathLst>
            </a:custGeom>
            <a:solidFill>
              <a:srgbClr val="B5ADAD"/>
            </a:solidFill>
            <a:ln w="47625" cap="sq">
              <a:solidFill>
                <a:srgbClr val="000000"/>
              </a:solidFill>
              <a:prstDash val="solid"/>
              <a:miter/>
            </a:ln>
          </p:spPr>
          <p:txBody>
            <a:bodyPr/>
            <a:lstStyle/>
            <a:p>
              <a:endParaRPr lang="es-PE"/>
            </a:p>
          </p:txBody>
        </p:sp>
        <p:sp>
          <p:nvSpPr>
            <p:cNvPr id="7" name="TextBox 7"/>
            <p:cNvSpPr txBox="1"/>
            <p:nvPr/>
          </p:nvSpPr>
          <p:spPr>
            <a:xfrm>
              <a:off x="0" y="-28575"/>
              <a:ext cx="2501946" cy="1417218"/>
            </a:xfrm>
            <a:prstGeom prst="rect">
              <a:avLst/>
            </a:prstGeom>
          </p:spPr>
          <p:txBody>
            <a:bodyPr lIns="50800" tIns="50800" rIns="50800" bIns="50800" rtlCol="0" anchor="ctr"/>
            <a:lstStyle/>
            <a:p>
              <a:pPr algn="ctr">
                <a:lnSpc>
                  <a:spcPts val="1960"/>
                </a:lnSpc>
              </a:pPr>
              <a:endParaRPr/>
            </a:p>
          </p:txBody>
        </p:sp>
      </p:grpSp>
      <p:sp>
        <p:nvSpPr>
          <p:cNvPr id="8" name="Freeform 8"/>
          <p:cNvSpPr/>
          <p:nvPr/>
        </p:nvSpPr>
        <p:spPr>
          <a:xfrm>
            <a:off x="1941880" y="5638650"/>
            <a:ext cx="4637076" cy="3322084"/>
          </a:xfrm>
          <a:custGeom>
            <a:avLst/>
            <a:gdLst/>
            <a:ahLst/>
            <a:cxnLst/>
            <a:rect l="l" t="t" r="r" b="b"/>
            <a:pathLst>
              <a:path w="4637076" h="3322084">
                <a:moveTo>
                  <a:pt x="0" y="0"/>
                </a:moveTo>
                <a:lnTo>
                  <a:pt x="4637075" y="0"/>
                </a:lnTo>
                <a:lnTo>
                  <a:pt x="4637075" y="3322084"/>
                </a:lnTo>
                <a:lnTo>
                  <a:pt x="0" y="3322084"/>
                </a:lnTo>
                <a:lnTo>
                  <a:pt x="0" y="0"/>
                </a:lnTo>
                <a:close/>
              </a:path>
            </a:pathLst>
          </a:custGeom>
          <a:blipFill>
            <a:blip r:embed="rId2"/>
            <a:stretch>
              <a:fillRect l="-27985" t="-7019" r="-7982" b="-19901"/>
            </a:stretch>
          </a:blipFill>
        </p:spPr>
        <p:txBody>
          <a:bodyPr/>
          <a:lstStyle/>
          <a:p>
            <a:endParaRPr lang="es-PE"/>
          </a:p>
        </p:txBody>
      </p:sp>
      <p:sp>
        <p:nvSpPr>
          <p:cNvPr id="9" name="TextBox 9"/>
          <p:cNvSpPr txBox="1"/>
          <p:nvPr/>
        </p:nvSpPr>
        <p:spPr>
          <a:xfrm>
            <a:off x="4505557" y="1028700"/>
            <a:ext cx="9189720" cy="600075"/>
          </a:xfrm>
          <a:prstGeom prst="rect">
            <a:avLst/>
          </a:prstGeom>
        </p:spPr>
        <p:txBody>
          <a:bodyPr lIns="0" tIns="0" rIns="0" bIns="0" rtlCol="0" anchor="t">
            <a:spAutoFit/>
          </a:bodyPr>
          <a:lstStyle/>
          <a:p>
            <a:pPr algn="ctr">
              <a:lnSpc>
                <a:spcPts val="4799"/>
              </a:lnSpc>
              <a:spcBef>
                <a:spcPct val="0"/>
              </a:spcBef>
            </a:pPr>
            <a:r>
              <a:rPr lang="en-US" sz="3999" b="1" spc="-299">
                <a:solidFill>
                  <a:srgbClr val="000000"/>
                </a:solidFill>
                <a:latin typeface="Open Sauce Bold"/>
                <a:ea typeface="Open Sauce Bold"/>
                <a:cs typeface="Open Sauce Bold"/>
                <a:sym typeface="Open Sauce Bold"/>
              </a:rPr>
              <a:t>Arquitectura de Memoria y Procesamiento</a:t>
            </a:r>
          </a:p>
        </p:txBody>
      </p:sp>
      <p:sp>
        <p:nvSpPr>
          <p:cNvPr id="10" name="TextBox 10"/>
          <p:cNvSpPr txBox="1"/>
          <p:nvPr/>
        </p:nvSpPr>
        <p:spPr>
          <a:xfrm>
            <a:off x="1244011" y="2193380"/>
            <a:ext cx="9284266" cy="2095868"/>
          </a:xfrm>
          <a:prstGeom prst="rect">
            <a:avLst/>
          </a:prstGeom>
        </p:spPr>
        <p:txBody>
          <a:bodyPr lIns="0" tIns="0" rIns="0" bIns="0" rtlCol="0" anchor="t">
            <a:spAutoFit/>
          </a:bodyPr>
          <a:lstStyle/>
          <a:p>
            <a:pPr algn="l">
              <a:lnSpc>
                <a:spcPts val="4265"/>
              </a:lnSpc>
            </a:pPr>
            <a:r>
              <a:rPr lang="en-US" sz="2494" b="1" spc="-49">
                <a:solidFill>
                  <a:srgbClr val="000000"/>
                </a:solidFill>
                <a:latin typeface="Open Sauce Bold"/>
                <a:ea typeface="Open Sauce Bold"/>
                <a:cs typeface="Open Sauce Bold"/>
                <a:sym typeface="Open Sauce Bold"/>
              </a:rPr>
              <a:t>Memoria de Datos (SRAM):</a:t>
            </a:r>
          </a:p>
          <a:p>
            <a:pPr marL="538522" lvl="1" indent="-269261" algn="l">
              <a:lnSpc>
                <a:spcPts val="4265"/>
              </a:lnSpc>
              <a:buFont typeface="Arial"/>
              <a:buChar char="•"/>
            </a:pPr>
            <a:r>
              <a:rPr lang="en-US" sz="2494" spc="-49">
                <a:solidFill>
                  <a:srgbClr val="000000"/>
                </a:solidFill>
                <a:latin typeface="Open Sauce"/>
                <a:ea typeface="Open Sauce"/>
                <a:cs typeface="Open Sauce"/>
                <a:sym typeface="Open Sauce"/>
              </a:rPr>
              <a:t>Almacenamiento dinámico de las lecturas brutas en buffers temporales (s1, s2), protegiendo las variables de la FSM durante el ciclo de riego.</a:t>
            </a:r>
          </a:p>
        </p:txBody>
      </p:sp>
      <p:sp>
        <p:nvSpPr>
          <p:cNvPr id="11" name="TextBox 11"/>
          <p:cNvSpPr txBox="1"/>
          <p:nvPr/>
        </p:nvSpPr>
        <p:spPr>
          <a:xfrm>
            <a:off x="8309963" y="4903702"/>
            <a:ext cx="8399097" cy="4762868"/>
          </a:xfrm>
          <a:prstGeom prst="rect">
            <a:avLst/>
          </a:prstGeom>
        </p:spPr>
        <p:txBody>
          <a:bodyPr lIns="0" tIns="0" rIns="0" bIns="0" rtlCol="0" anchor="t">
            <a:spAutoFit/>
          </a:bodyPr>
          <a:lstStyle/>
          <a:p>
            <a:pPr algn="l">
              <a:lnSpc>
                <a:spcPts val="4265"/>
              </a:lnSpc>
            </a:pPr>
            <a:r>
              <a:rPr lang="en-US" sz="2494" b="1" spc="-49">
                <a:solidFill>
                  <a:srgbClr val="000000"/>
                </a:solidFill>
                <a:latin typeface="Open Sauce Bold"/>
                <a:ea typeface="Open Sauce Bold"/>
                <a:cs typeface="Open Sauce Bold"/>
                <a:sym typeface="Open Sauce Bold"/>
              </a:rPr>
              <a:t>Procesamiento en la ALU:</a:t>
            </a:r>
          </a:p>
          <a:p>
            <a:pPr marL="538522" lvl="1" indent="-269261" algn="l">
              <a:lnSpc>
                <a:spcPts val="4265"/>
              </a:lnSpc>
              <a:buFont typeface="Arial"/>
              <a:buChar char="•"/>
            </a:pPr>
            <a:r>
              <a:rPr lang="en-US" sz="2494" b="1" spc="-49">
                <a:solidFill>
                  <a:srgbClr val="000000"/>
                </a:solidFill>
                <a:latin typeface="Open Sauce Bold"/>
                <a:ea typeface="Open Sauce Bold"/>
                <a:cs typeface="Open Sauce Bold"/>
                <a:sym typeface="Open Sauce Bold"/>
              </a:rPr>
              <a:t>Promedio Espacial: </a:t>
            </a:r>
            <a:r>
              <a:rPr lang="en-US" sz="2494" spc="-49">
                <a:solidFill>
                  <a:srgbClr val="000000"/>
                </a:solidFill>
                <a:latin typeface="Open Sauce"/>
                <a:ea typeface="Open Sauce"/>
                <a:cs typeface="Open Sauce"/>
                <a:sym typeface="Open Sauce"/>
              </a:rPr>
              <a:t>Mitigación de ruido analógico ejecutando sumas y desplazamientos binarios en los registros de la CPU.</a:t>
            </a:r>
          </a:p>
          <a:p>
            <a:pPr marL="538522" lvl="1" indent="-269261" algn="l">
              <a:lnSpc>
                <a:spcPts val="4265"/>
              </a:lnSpc>
              <a:buFont typeface="Arial"/>
              <a:buChar char="•"/>
            </a:pPr>
            <a:r>
              <a:rPr lang="en-US" sz="2494" b="1" spc="-49">
                <a:solidFill>
                  <a:srgbClr val="000000"/>
                </a:solidFill>
                <a:latin typeface="Open Sauce Bold"/>
                <a:ea typeface="Open Sauce Bold"/>
                <a:cs typeface="Open Sauce Bold"/>
                <a:sym typeface="Open Sauce Bold"/>
              </a:rPr>
              <a:t>Emulación Matemática:</a:t>
            </a:r>
            <a:r>
              <a:rPr lang="en-US" sz="2494" spc="-49">
                <a:solidFill>
                  <a:srgbClr val="000000"/>
                </a:solidFill>
                <a:latin typeface="Open Sauce"/>
                <a:ea typeface="Open Sauce"/>
                <a:cs typeface="Open Sauce"/>
                <a:sym typeface="Open Sauce"/>
              </a:rPr>
              <a:t> Los cálculos de punto flotante para la inferencia térmica del TMP36 son emulados por subrutinas de software, debido a las limitaciones de la arquitectura RISC de 8 bits sin unidad de punto flotante (FPU).</a:t>
            </a:r>
          </a:p>
        </p:txBody>
      </p:sp>
      <p:sp>
        <p:nvSpPr>
          <p:cNvPr id="12" name="TextBox 12"/>
          <p:cNvSpPr txBox="1"/>
          <p:nvPr/>
        </p:nvSpPr>
        <p:spPr>
          <a:xfrm>
            <a:off x="1941880" y="8836909"/>
            <a:ext cx="5025887" cy="495668"/>
          </a:xfrm>
          <a:prstGeom prst="rect">
            <a:avLst/>
          </a:prstGeom>
        </p:spPr>
        <p:txBody>
          <a:bodyPr lIns="0" tIns="0" rIns="0" bIns="0" rtlCol="0" anchor="t">
            <a:spAutoFit/>
          </a:bodyPr>
          <a:lstStyle/>
          <a:p>
            <a:pPr algn="l">
              <a:lnSpc>
                <a:spcPts val="4265"/>
              </a:lnSpc>
            </a:pPr>
            <a:r>
              <a:rPr lang="en-US" sz="2494" spc="-49">
                <a:solidFill>
                  <a:srgbClr val="000000"/>
                </a:solidFill>
                <a:latin typeface="Open Sauce"/>
                <a:ea typeface="Open Sauce"/>
                <a:cs typeface="Open Sauce"/>
                <a:sym typeface="Open Sauce"/>
              </a:rPr>
              <a:t>ATmega328P DIP-28 chip macro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146165"/>
            <a:ext cx="5791438" cy="6928534"/>
            <a:chOff x="0" y="0"/>
            <a:chExt cx="1525317" cy="1824799"/>
          </a:xfrm>
        </p:grpSpPr>
        <p:sp>
          <p:nvSpPr>
            <p:cNvPr id="3" name="Freeform 3"/>
            <p:cNvSpPr/>
            <p:nvPr/>
          </p:nvSpPr>
          <p:spPr>
            <a:xfrm>
              <a:off x="0" y="0"/>
              <a:ext cx="1525317" cy="1824799"/>
            </a:xfrm>
            <a:custGeom>
              <a:avLst/>
              <a:gdLst/>
              <a:ahLst/>
              <a:cxnLst/>
              <a:rect l="l" t="t" r="r" b="b"/>
              <a:pathLst>
                <a:path w="1525317" h="1824799">
                  <a:moveTo>
                    <a:pt x="25399" y="0"/>
                  </a:moveTo>
                  <a:lnTo>
                    <a:pt x="1499918" y="0"/>
                  </a:lnTo>
                  <a:cubicBezTo>
                    <a:pt x="1506654" y="0"/>
                    <a:pt x="1513115" y="2676"/>
                    <a:pt x="1517878" y="7439"/>
                  </a:cubicBezTo>
                  <a:cubicBezTo>
                    <a:pt x="1522641" y="12202"/>
                    <a:pt x="1525317" y="18663"/>
                    <a:pt x="1525317" y="25399"/>
                  </a:cubicBezTo>
                  <a:lnTo>
                    <a:pt x="1525317" y="1799400"/>
                  </a:lnTo>
                  <a:cubicBezTo>
                    <a:pt x="1525317" y="1813428"/>
                    <a:pt x="1513946" y="1824799"/>
                    <a:pt x="1499918" y="1824799"/>
                  </a:cubicBezTo>
                  <a:lnTo>
                    <a:pt x="25399" y="1824799"/>
                  </a:lnTo>
                  <a:cubicBezTo>
                    <a:pt x="18663" y="1824799"/>
                    <a:pt x="12202" y="1822123"/>
                    <a:pt x="7439" y="1817360"/>
                  </a:cubicBezTo>
                  <a:cubicBezTo>
                    <a:pt x="2676" y="1812597"/>
                    <a:pt x="0" y="1806136"/>
                    <a:pt x="0" y="1799400"/>
                  </a:cubicBezTo>
                  <a:lnTo>
                    <a:pt x="0" y="25399"/>
                  </a:lnTo>
                  <a:cubicBezTo>
                    <a:pt x="0" y="11371"/>
                    <a:pt x="11371" y="0"/>
                    <a:pt x="25399" y="0"/>
                  </a:cubicBezTo>
                  <a:close/>
                </a:path>
              </a:pathLst>
            </a:custGeom>
            <a:solidFill>
              <a:srgbClr val="B5ADAD"/>
            </a:solidFill>
            <a:ln w="47625" cap="sq">
              <a:solidFill>
                <a:srgbClr val="000000"/>
              </a:solidFill>
              <a:prstDash val="solid"/>
              <a:miter/>
            </a:ln>
          </p:spPr>
          <p:txBody>
            <a:bodyPr/>
            <a:lstStyle/>
            <a:p>
              <a:endParaRPr lang="es-PE"/>
            </a:p>
          </p:txBody>
        </p:sp>
        <p:sp>
          <p:nvSpPr>
            <p:cNvPr id="4" name="TextBox 4"/>
            <p:cNvSpPr txBox="1"/>
            <p:nvPr/>
          </p:nvSpPr>
          <p:spPr>
            <a:xfrm>
              <a:off x="0" y="-28575"/>
              <a:ext cx="1525317" cy="1853374"/>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a:off x="7759723" y="2317205"/>
            <a:ext cx="9499577" cy="6757494"/>
            <a:chOff x="0" y="0"/>
            <a:chExt cx="2501946" cy="1779752"/>
          </a:xfrm>
        </p:grpSpPr>
        <p:sp>
          <p:nvSpPr>
            <p:cNvPr id="6" name="Freeform 6"/>
            <p:cNvSpPr/>
            <p:nvPr/>
          </p:nvSpPr>
          <p:spPr>
            <a:xfrm>
              <a:off x="0" y="0"/>
              <a:ext cx="2501946" cy="1779752"/>
            </a:xfrm>
            <a:custGeom>
              <a:avLst/>
              <a:gdLst/>
              <a:ahLst/>
              <a:cxnLst/>
              <a:rect l="l" t="t" r="r" b="b"/>
              <a:pathLst>
                <a:path w="2501946" h="1779752">
                  <a:moveTo>
                    <a:pt x="15485" y="0"/>
                  </a:moveTo>
                  <a:lnTo>
                    <a:pt x="2486462" y="0"/>
                  </a:lnTo>
                  <a:cubicBezTo>
                    <a:pt x="2495013" y="0"/>
                    <a:pt x="2501946" y="6933"/>
                    <a:pt x="2501946" y="15485"/>
                  </a:cubicBezTo>
                  <a:lnTo>
                    <a:pt x="2501946" y="1764267"/>
                  </a:lnTo>
                  <a:cubicBezTo>
                    <a:pt x="2501946" y="1772819"/>
                    <a:pt x="2495013" y="1779752"/>
                    <a:pt x="2486462" y="1779752"/>
                  </a:cubicBezTo>
                  <a:lnTo>
                    <a:pt x="15485" y="1779752"/>
                  </a:lnTo>
                  <a:cubicBezTo>
                    <a:pt x="6933" y="1779752"/>
                    <a:pt x="0" y="1772819"/>
                    <a:pt x="0" y="1764267"/>
                  </a:cubicBezTo>
                  <a:lnTo>
                    <a:pt x="0" y="15485"/>
                  </a:lnTo>
                  <a:cubicBezTo>
                    <a:pt x="0" y="6933"/>
                    <a:pt x="6933" y="0"/>
                    <a:pt x="15485" y="0"/>
                  </a:cubicBezTo>
                  <a:close/>
                </a:path>
              </a:pathLst>
            </a:custGeom>
            <a:solidFill>
              <a:srgbClr val="B5ADAD"/>
            </a:solidFill>
            <a:ln w="47625" cap="sq">
              <a:solidFill>
                <a:srgbClr val="000000"/>
              </a:solidFill>
              <a:prstDash val="solid"/>
              <a:miter/>
            </a:ln>
          </p:spPr>
          <p:txBody>
            <a:bodyPr/>
            <a:lstStyle/>
            <a:p>
              <a:endParaRPr lang="es-PE"/>
            </a:p>
          </p:txBody>
        </p:sp>
        <p:sp>
          <p:nvSpPr>
            <p:cNvPr id="7" name="TextBox 7"/>
            <p:cNvSpPr txBox="1"/>
            <p:nvPr/>
          </p:nvSpPr>
          <p:spPr>
            <a:xfrm>
              <a:off x="0" y="-28575"/>
              <a:ext cx="2501946" cy="1808327"/>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5848671" y="1028700"/>
            <a:ext cx="6503491" cy="600075"/>
          </a:xfrm>
          <a:prstGeom prst="rect">
            <a:avLst/>
          </a:prstGeom>
        </p:spPr>
        <p:txBody>
          <a:bodyPr lIns="0" tIns="0" rIns="0" bIns="0" rtlCol="0" anchor="t">
            <a:spAutoFit/>
          </a:bodyPr>
          <a:lstStyle/>
          <a:p>
            <a:pPr algn="ctr">
              <a:lnSpc>
                <a:spcPts val="4799"/>
              </a:lnSpc>
              <a:spcBef>
                <a:spcPct val="0"/>
              </a:spcBef>
            </a:pPr>
            <a:r>
              <a:rPr lang="en-US" sz="3999" b="1" spc="-299">
                <a:solidFill>
                  <a:srgbClr val="000000"/>
                </a:solidFill>
                <a:latin typeface="Open Sauce Bold"/>
                <a:ea typeface="Open Sauce Bold"/>
                <a:cs typeface="Open Sauce Bold"/>
                <a:sym typeface="Open Sauce Bold"/>
              </a:rPr>
              <a:t>Código fuente de Adquisición </a:t>
            </a:r>
          </a:p>
        </p:txBody>
      </p:sp>
      <p:sp>
        <p:nvSpPr>
          <p:cNvPr id="9" name="TextBox 9"/>
          <p:cNvSpPr txBox="1"/>
          <p:nvPr/>
        </p:nvSpPr>
        <p:spPr>
          <a:xfrm>
            <a:off x="1028700" y="2350984"/>
            <a:ext cx="5684032" cy="6404597"/>
          </a:xfrm>
          <a:prstGeom prst="rect">
            <a:avLst/>
          </a:prstGeom>
        </p:spPr>
        <p:txBody>
          <a:bodyPr lIns="0" tIns="0" rIns="0" bIns="0" rtlCol="0" anchor="t">
            <a:spAutoFit/>
          </a:bodyPr>
          <a:lstStyle/>
          <a:p>
            <a:pPr marL="495343" lvl="1" indent="-247672" algn="l">
              <a:lnSpc>
                <a:spcPts val="3923"/>
              </a:lnSpc>
              <a:buFont typeface="Arial"/>
              <a:buChar char="•"/>
            </a:pPr>
            <a:r>
              <a:rPr lang="en-US" sz="2294" b="1" spc="-45">
                <a:solidFill>
                  <a:srgbClr val="000000"/>
                </a:solidFill>
                <a:latin typeface="Open Sauce Bold"/>
                <a:ea typeface="Open Sauce Bold"/>
                <a:cs typeface="Open Sauce Bold"/>
                <a:sym typeface="Open Sauce Bold"/>
              </a:rPr>
              <a:t>Interacción de Hardware: </a:t>
            </a:r>
            <a:r>
              <a:rPr lang="en-US" sz="2294" spc="-45">
                <a:solidFill>
                  <a:srgbClr val="000000"/>
                </a:solidFill>
                <a:latin typeface="Open Sauce"/>
                <a:ea typeface="Open Sauce"/>
                <a:cs typeface="Open Sauce"/>
                <a:sym typeface="Open Sauce"/>
              </a:rPr>
              <a:t>El registro ADMUX conmuta secuencialmente los canales para leer la humedad (A0, A1) y la temperatura (A2).</a:t>
            </a:r>
          </a:p>
          <a:p>
            <a:pPr marL="495343" lvl="1" indent="-247672" algn="l">
              <a:lnSpc>
                <a:spcPts val="3923"/>
              </a:lnSpc>
              <a:buFont typeface="Arial"/>
              <a:buChar char="•"/>
            </a:pPr>
            <a:r>
              <a:rPr lang="en-US" sz="2294" b="1" spc="-45">
                <a:solidFill>
                  <a:srgbClr val="000000"/>
                </a:solidFill>
                <a:latin typeface="Open Sauce Bold"/>
                <a:ea typeface="Open Sauce Bold"/>
                <a:cs typeface="Open Sauce Bold"/>
                <a:sym typeface="Open Sauce Bold"/>
              </a:rPr>
              <a:t>Procesamiento de Memoria (SRAM y ALU): </a:t>
            </a:r>
            <a:r>
              <a:rPr lang="en-US" sz="2294" spc="-45">
                <a:solidFill>
                  <a:srgbClr val="000000"/>
                </a:solidFill>
                <a:latin typeface="Open Sauce"/>
                <a:ea typeface="Open Sauce"/>
                <a:cs typeface="Open Sauce"/>
                <a:sym typeface="Open Sauce"/>
              </a:rPr>
              <a:t>Las variables temporales promedian el ruido analógico e infieren térmicamente el voltaje mediante cálculos de punto flotante.</a:t>
            </a:r>
          </a:p>
          <a:p>
            <a:pPr marL="495343" lvl="1" indent="-247672" algn="l">
              <a:lnSpc>
                <a:spcPts val="3923"/>
              </a:lnSpc>
              <a:buFont typeface="Arial"/>
              <a:buChar char="•"/>
            </a:pPr>
            <a:r>
              <a:rPr lang="en-US" sz="2294" b="1" spc="-45">
                <a:solidFill>
                  <a:srgbClr val="000000"/>
                </a:solidFill>
                <a:latin typeface="Open Sauce Bold"/>
                <a:ea typeface="Open Sauce Bold"/>
                <a:cs typeface="Open Sauce Bold"/>
                <a:sym typeface="Open Sauce Bold"/>
              </a:rPr>
              <a:t>Transición Directa: </a:t>
            </a:r>
            <a:r>
              <a:rPr lang="en-US" sz="2294" spc="-45">
                <a:solidFill>
                  <a:srgbClr val="000000"/>
                </a:solidFill>
                <a:latin typeface="Open Sauce"/>
                <a:ea typeface="Open Sauce"/>
                <a:cs typeface="Open Sauce"/>
                <a:sym typeface="Open Sauce"/>
              </a:rPr>
              <a:t>Se actualiza el puntero de estado a "DECISIÓN" asegurando el funcionamiento no bloqueante del ciclo.</a:t>
            </a:r>
          </a:p>
        </p:txBody>
      </p:sp>
      <p:sp>
        <p:nvSpPr>
          <p:cNvPr id="10" name="TextBox 10"/>
          <p:cNvSpPr txBox="1"/>
          <p:nvPr/>
        </p:nvSpPr>
        <p:spPr>
          <a:xfrm>
            <a:off x="8309963" y="2535278"/>
            <a:ext cx="8566561" cy="6363068"/>
          </a:xfrm>
          <a:prstGeom prst="rect">
            <a:avLst/>
          </a:prstGeom>
        </p:spPr>
        <p:txBody>
          <a:bodyPr lIns="0" tIns="0" rIns="0" bIns="0" rtlCol="0" anchor="t">
            <a:spAutoFit/>
          </a:bodyPr>
          <a:lstStyle/>
          <a:p>
            <a:pPr algn="l">
              <a:lnSpc>
                <a:spcPts val="4265"/>
              </a:lnSpc>
            </a:pPr>
            <a:r>
              <a:rPr lang="en-US" sz="2494" spc="-49">
                <a:solidFill>
                  <a:srgbClr val="000000"/>
                </a:solidFill>
                <a:latin typeface="Open Sauce"/>
                <a:ea typeface="Open Sauce"/>
                <a:cs typeface="Open Sauce"/>
                <a:sym typeface="Open Sauce"/>
              </a:rPr>
              <a:t>case LEER_SENSORES: </a:t>
            </a:r>
          </a:p>
          <a:p>
            <a:pPr algn="l">
              <a:lnSpc>
                <a:spcPts val="4265"/>
              </a:lnSpc>
            </a:pPr>
            <a:r>
              <a:rPr lang="en-US" sz="2494" spc="-49">
                <a:solidFill>
                  <a:srgbClr val="000000"/>
                </a:solidFill>
                <a:latin typeface="Open Sauce"/>
                <a:ea typeface="Open Sauce"/>
                <a:cs typeface="Open Sauce"/>
                <a:sym typeface="Open Sauce"/>
              </a:rPr>
              <a:t>{ </a:t>
            </a:r>
          </a:p>
          <a:p>
            <a:pPr algn="l">
              <a:lnSpc>
                <a:spcPts val="4265"/>
              </a:lnSpc>
            </a:pPr>
            <a:r>
              <a:rPr lang="en-US" sz="2494" spc="-49">
                <a:solidFill>
                  <a:srgbClr val="000000"/>
                </a:solidFill>
                <a:latin typeface="Open Sauce"/>
                <a:ea typeface="Open Sauce"/>
                <a:cs typeface="Open Sauce"/>
                <a:sym typeface="Open Sauce"/>
              </a:rPr>
              <a:t>int s1 = analogRead(sensorPin1); </a:t>
            </a:r>
          </a:p>
          <a:p>
            <a:pPr algn="l">
              <a:lnSpc>
                <a:spcPts val="4265"/>
              </a:lnSpc>
            </a:pPr>
            <a:r>
              <a:rPr lang="en-US" sz="2494" spc="-49">
                <a:solidFill>
                  <a:srgbClr val="000000"/>
                </a:solidFill>
                <a:latin typeface="Open Sauce"/>
                <a:ea typeface="Open Sauce"/>
                <a:cs typeface="Open Sauce"/>
                <a:sym typeface="Open Sauce"/>
              </a:rPr>
              <a:t>int s2 = analogRead(sensorPin2); </a:t>
            </a:r>
          </a:p>
          <a:p>
            <a:pPr algn="l">
              <a:lnSpc>
                <a:spcPts val="4265"/>
              </a:lnSpc>
            </a:pPr>
            <a:r>
              <a:rPr lang="en-US" sz="2494" spc="-49">
                <a:solidFill>
                  <a:srgbClr val="000000"/>
                </a:solidFill>
                <a:latin typeface="Open Sauce"/>
                <a:ea typeface="Open Sauce"/>
                <a:cs typeface="Open Sauce"/>
                <a:sym typeface="Open Sauce"/>
              </a:rPr>
              <a:t>int promedioRaw = (s1 + s2) / 2; </a:t>
            </a:r>
          </a:p>
          <a:p>
            <a:pPr algn="l">
              <a:lnSpc>
                <a:spcPts val="4265"/>
              </a:lnSpc>
            </a:pPr>
            <a:r>
              <a:rPr lang="en-US" sz="2494" spc="-49">
                <a:solidFill>
                  <a:srgbClr val="000000"/>
                </a:solidFill>
                <a:latin typeface="Open Sauce"/>
                <a:ea typeface="Open Sauce"/>
                <a:cs typeface="Open Sauce"/>
                <a:sym typeface="Open Sauce"/>
              </a:rPr>
              <a:t>porcentajeHumedad = map(promedioRaw, 0, 875, 0, 100); </a:t>
            </a:r>
          </a:p>
          <a:p>
            <a:pPr algn="l">
              <a:lnSpc>
                <a:spcPts val="4265"/>
              </a:lnSpc>
            </a:pPr>
            <a:r>
              <a:rPr lang="en-US" sz="2494" spc="-49">
                <a:solidFill>
                  <a:srgbClr val="000000"/>
                </a:solidFill>
                <a:latin typeface="Open Sauce"/>
                <a:ea typeface="Open Sauce"/>
                <a:cs typeface="Open Sauce"/>
                <a:sym typeface="Open Sauce"/>
              </a:rPr>
              <a:t>int lecturaTemp = analogRead(pinTemperatura); </a:t>
            </a:r>
          </a:p>
          <a:p>
            <a:pPr algn="l">
              <a:lnSpc>
                <a:spcPts val="4265"/>
              </a:lnSpc>
            </a:pPr>
            <a:r>
              <a:rPr lang="en-US" sz="2494" spc="-49">
                <a:solidFill>
                  <a:srgbClr val="000000"/>
                </a:solidFill>
                <a:latin typeface="Open Sauce"/>
                <a:ea typeface="Open Sauce"/>
                <a:cs typeface="Open Sauce"/>
                <a:sym typeface="Open Sauce"/>
              </a:rPr>
              <a:t>float voltaje = lecturaTemp * 5.0 / 1023.0; </a:t>
            </a:r>
          </a:p>
          <a:p>
            <a:pPr algn="l">
              <a:lnSpc>
                <a:spcPts val="4265"/>
              </a:lnSpc>
            </a:pPr>
            <a:r>
              <a:rPr lang="en-US" sz="2494" spc="-49">
                <a:solidFill>
                  <a:srgbClr val="000000"/>
                </a:solidFill>
                <a:latin typeface="Open Sauce"/>
                <a:ea typeface="Open Sauce"/>
                <a:cs typeface="Open Sauce"/>
                <a:sym typeface="Open Sauce"/>
              </a:rPr>
              <a:t>temperatura = (voltaje - 0.5) * 100; </a:t>
            </a:r>
          </a:p>
          <a:p>
            <a:pPr algn="l">
              <a:lnSpc>
                <a:spcPts val="4265"/>
              </a:lnSpc>
            </a:pPr>
            <a:r>
              <a:rPr lang="en-US" sz="2494" spc="-49">
                <a:solidFill>
                  <a:srgbClr val="000000"/>
                </a:solidFill>
                <a:latin typeface="Open Sauce"/>
                <a:ea typeface="Open Sauce"/>
                <a:cs typeface="Open Sauce"/>
                <a:sym typeface="Open Sauce"/>
              </a:rPr>
              <a:t>estadoActual = DECISION; </a:t>
            </a:r>
          </a:p>
          <a:p>
            <a:pPr algn="l">
              <a:lnSpc>
                <a:spcPts val="4265"/>
              </a:lnSpc>
            </a:pPr>
            <a:r>
              <a:rPr lang="en-US" sz="2494" spc="-49">
                <a:solidFill>
                  <a:srgbClr val="000000"/>
                </a:solidFill>
                <a:latin typeface="Open Sauce"/>
                <a:ea typeface="Open Sauce"/>
                <a:cs typeface="Open Sauce"/>
                <a:sym typeface="Open Sauce"/>
              </a:rPr>
              <a:t>}</a:t>
            </a:r>
          </a:p>
          <a:p>
            <a:pPr algn="l">
              <a:lnSpc>
                <a:spcPts val="4265"/>
              </a:lnSpc>
            </a:pPr>
            <a:r>
              <a:rPr lang="en-US" sz="2494" spc="-49">
                <a:solidFill>
                  <a:srgbClr val="000000"/>
                </a:solidFill>
                <a:latin typeface="Open Sauce"/>
                <a:ea typeface="Open Sauce"/>
                <a:cs typeface="Open Sauce"/>
                <a:sym typeface="Open Sauce"/>
              </a:rPr>
              <a:t> break;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989734" y="832910"/>
            <a:ext cx="269566" cy="179598"/>
          </a:xfrm>
          <a:custGeom>
            <a:avLst/>
            <a:gdLst/>
            <a:ahLst/>
            <a:cxnLst/>
            <a:rect l="l" t="t" r="r" b="b"/>
            <a:pathLst>
              <a:path w="269566" h="179598">
                <a:moveTo>
                  <a:pt x="0" y="0"/>
                </a:moveTo>
                <a:lnTo>
                  <a:pt x="269566" y="0"/>
                </a:lnTo>
                <a:lnTo>
                  <a:pt x="269566" y="179598"/>
                </a:lnTo>
                <a:lnTo>
                  <a:pt x="0" y="1795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PE"/>
          </a:p>
        </p:txBody>
      </p:sp>
      <p:grpSp>
        <p:nvGrpSpPr>
          <p:cNvPr id="3" name="Group 3"/>
          <p:cNvGrpSpPr/>
          <p:nvPr/>
        </p:nvGrpSpPr>
        <p:grpSpPr>
          <a:xfrm>
            <a:off x="5299831" y="2229251"/>
            <a:ext cx="11959469" cy="7029049"/>
            <a:chOff x="0" y="0"/>
            <a:chExt cx="3149819" cy="1851272"/>
          </a:xfrm>
        </p:grpSpPr>
        <p:sp>
          <p:nvSpPr>
            <p:cNvPr id="4" name="Freeform 4"/>
            <p:cNvSpPr/>
            <p:nvPr/>
          </p:nvSpPr>
          <p:spPr>
            <a:xfrm>
              <a:off x="0" y="0"/>
              <a:ext cx="3149819" cy="1851272"/>
            </a:xfrm>
            <a:custGeom>
              <a:avLst/>
              <a:gdLst/>
              <a:ahLst/>
              <a:cxnLst/>
              <a:rect l="l" t="t" r="r" b="b"/>
              <a:pathLst>
                <a:path w="3149819" h="1851272">
                  <a:moveTo>
                    <a:pt x="12947" y="0"/>
                  </a:moveTo>
                  <a:lnTo>
                    <a:pt x="3136872" y="0"/>
                  </a:lnTo>
                  <a:cubicBezTo>
                    <a:pt x="3144022" y="0"/>
                    <a:pt x="3149819" y="5797"/>
                    <a:pt x="3149819" y="12947"/>
                  </a:cubicBezTo>
                  <a:lnTo>
                    <a:pt x="3149819" y="1838325"/>
                  </a:lnTo>
                  <a:cubicBezTo>
                    <a:pt x="3149819" y="1845476"/>
                    <a:pt x="3144022" y="1851272"/>
                    <a:pt x="3136872" y="1851272"/>
                  </a:cubicBezTo>
                  <a:lnTo>
                    <a:pt x="12947" y="1851272"/>
                  </a:lnTo>
                  <a:cubicBezTo>
                    <a:pt x="5797" y="1851272"/>
                    <a:pt x="0" y="1845476"/>
                    <a:pt x="0" y="1838325"/>
                  </a:cubicBezTo>
                  <a:lnTo>
                    <a:pt x="0" y="12947"/>
                  </a:lnTo>
                  <a:cubicBezTo>
                    <a:pt x="0" y="5797"/>
                    <a:pt x="5797" y="0"/>
                    <a:pt x="12947" y="0"/>
                  </a:cubicBezTo>
                  <a:close/>
                </a:path>
              </a:pathLst>
            </a:custGeom>
            <a:solidFill>
              <a:srgbClr val="393939"/>
            </a:solidFill>
          </p:spPr>
          <p:txBody>
            <a:bodyPr/>
            <a:lstStyle/>
            <a:p>
              <a:endParaRPr lang="es-PE"/>
            </a:p>
          </p:txBody>
        </p:sp>
        <p:sp>
          <p:nvSpPr>
            <p:cNvPr id="5" name="TextBox 5"/>
            <p:cNvSpPr txBox="1"/>
            <p:nvPr/>
          </p:nvSpPr>
          <p:spPr>
            <a:xfrm>
              <a:off x="0" y="-28575"/>
              <a:ext cx="3149819" cy="1879847"/>
            </a:xfrm>
            <a:prstGeom prst="rect">
              <a:avLst/>
            </a:prstGeom>
          </p:spPr>
          <p:txBody>
            <a:bodyPr lIns="50800" tIns="50800" rIns="50800" bIns="50800" rtlCol="0" anchor="ctr"/>
            <a:lstStyle/>
            <a:p>
              <a:pPr algn="ctr">
                <a:lnSpc>
                  <a:spcPts val="1960"/>
                </a:lnSpc>
              </a:pPr>
              <a:endParaRPr/>
            </a:p>
          </p:txBody>
        </p:sp>
      </p:grpSp>
      <p:sp>
        <p:nvSpPr>
          <p:cNvPr id="6" name="Freeform 6"/>
          <p:cNvSpPr/>
          <p:nvPr/>
        </p:nvSpPr>
        <p:spPr>
          <a:xfrm>
            <a:off x="12229645" y="3614083"/>
            <a:ext cx="666750" cy="666750"/>
          </a:xfrm>
          <a:custGeom>
            <a:avLst/>
            <a:gdLst/>
            <a:ahLst/>
            <a:cxnLst/>
            <a:rect l="l" t="t" r="r" b="b"/>
            <a:pathLst>
              <a:path w="666750" h="666750">
                <a:moveTo>
                  <a:pt x="0" y="0"/>
                </a:moveTo>
                <a:lnTo>
                  <a:pt x="666750" y="0"/>
                </a:lnTo>
                <a:lnTo>
                  <a:pt x="666750" y="666750"/>
                </a:lnTo>
                <a:lnTo>
                  <a:pt x="0" y="66675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PE"/>
          </a:p>
        </p:txBody>
      </p:sp>
      <p:grpSp>
        <p:nvGrpSpPr>
          <p:cNvPr id="7" name="Group 7"/>
          <p:cNvGrpSpPr/>
          <p:nvPr/>
        </p:nvGrpSpPr>
        <p:grpSpPr>
          <a:xfrm>
            <a:off x="1028700" y="466268"/>
            <a:ext cx="4019372" cy="9820732"/>
            <a:chOff x="0" y="0"/>
            <a:chExt cx="1908654" cy="4663509"/>
          </a:xfrm>
        </p:grpSpPr>
        <p:sp>
          <p:nvSpPr>
            <p:cNvPr id="8" name="Freeform 8"/>
            <p:cNvSpPr/>
            <p:nvPr/>
          </p:nvSpPr>
          <p:spPr>
            <a:xfrm>
              <a:off x="0" y="0"/>
              <a:ext cx="1908654" cy="4663509"/>
            </a:xfrm>
            <a:custGeom>
              <a:avLst/>
              <a:gdLst/>
              <a:ahLst/>
              <a:cxnLst/>
              <a:rect l="l" t="t" r="r" b="b"/>
              <a:pathLst>
                <a:path w="1908654" h="4663509">
                  <a:moveTo>
                    <a:pt x="38523" y="0"/>
                  </a:moveTo>
                  <a:lnTo>
                    <a:pt x="1870131" y="0"/>
                  </a:lnTo>
                  <a:cubicBezTo>
                    <a:pt x="1880348" y="0"/>
                    <a:pt x="1890146" y="4059"/>
                    <a:pt x="1897371" y="11283"/>
                  </a:cubicBezTo>
                  <a:cubicBezTo>
                    <a:pt x="1904595" y="18508"/>
                    <a:pt x="1908654" y="28306"/>
                    <a:pt x="1908654" y="38523"/>
                  </a:cubicBezTo>
                  <a:lnTo>
                    <a:pt x="1908654" y="4624986"/>
                  </a:lnTo>
                  <a:cubicBezTo>
                    <a:pt x="1908654" y="4635203"/>
                    <a:pt x="1904595" y="4645001"/>
                    <a:pt x="1897371" y="4652226"/>
                  </a:cubicBezTo>
                  <a:cubicBezTo>
                    <a:pt x="1890146" y="4659450"/>
                    <a:pt x="1880348" y="4663509"/>
                    <a:pt x="1870131" y="4663509"/>
                  </a:cubicBezTo>
                  <a:lnTo>
                    <a:pt x="38523" y="4663509"/>
                  </a:lnTo>
                  <a:cubicBezTo>
                    <a:pt x="28306" y="4663509"/>
                    <a:pt x="18508" y="4659450"/>
                    <a:pt x="11283" y="4652226"/>
                  </a:cubicBezTo>
                  <a:cubicBezTo>
                    <a:pt x="4059" y="4645001"/>
                    <a:pt x="0" y="4635203"/>
                    <a:pt x="0" y="4624986"/>
                  </a:cubicBezTo>
                  <a:lnTo>
                    <a:pt x="0" y="38523"/>
                  </a:lnTo>
                  <a:cubicBezTo>
                    <a:pt x="0" y="28306"/>
                    <a:pt x="4059" y="18508"/>
                    <a:pt x="11283" y="11283"/>
                  </a:cubicBezTo>
                  <a:cubicBezTo>
                    <a:pt x="18508" y="4059"/>
                    <a:pt x="28306" y="0"/>
                    <a:pt x="38523" y="0"/>
                  </a:cubicBezTo>
                  <a:close/>
                </a:path>
              </a:pathLst>
            </a:custGeom>
            <a:blipFill>
              <a:blip r:embed="rId4"/>
              <a:stretch>
                <a:fillRect t="-527" b="-527"/>
              </a:stretch>
            </a:blipFill>
          </p:spPr>
          <p:txBody>
            <a:bodyPr/>
            <a:lstStyle/>
            <a:p>
              <a:endParaRPr lang="es-PE"/>
            </a:p>
          </p:txBody>
        </p:sp>
      </p:grpSp>
      <p:sp>
        <p:nvSpPr>
          <p:cNvPr id="9" name="Freeform 9"/>
          <p:cNvSpPr/>
          <p:nvPr/>
        </p:nvSpPr>
        <p:spPr>
          <a:xfrm>
            <a:off x="5299831" y="922709"/>
            <a:ext cx="2466818" cy="944306"/>
          </a:xfrm>
          <a:custGeom>
            <a:avLst/>
            <a:gdLst/>
            <a:ahLst/>
            <a:cxnLst/>
            <a:rect l="l" t="t" r="r" b="b"/>
            <a:pathLst>
              <a:path w="2466818" h="944306">
                <a:moveTo>
                  <a:pt x="0" y="0"/>
                </a:moveTo>
                <a:lnTo>
                  <a:pt x="2466818" y="0"/>
                </a:lnTo>
                <a:lnTo>
                  <a:pt x="2466818" y="944306"/>
                </a:lnTo>
                <a:lnTo>
                  <a:pt x="0" y="944306"/>
                </a:lnTo>
                <a:lnTo>
                  <a:pt x="0" y="0"/>
                </a:lnTo>
                <a:close/>
              </a:path>
            </a:pathLst>
          </a:custGeom>
          <a:blipFill>
            <a:blip r:embed="rId5"/>
            <a:stretch>
              <a:fillRect/>
            </a:stretch>
          </a:blipFill>
        </p:spPr>
        <p:txBody>
          <a:bodyPr/>
          <a:lstStyle/>
          <a:p>
            <a:endParaRPr lang="es-PE"/>
          </a:p>
        </p:txBody>
      </p:sp>
      <p:sp>
        <p:nvSpPr>
          <p:cNvPr id="10" name="Freeform 10"/>
          <p:cNvSpPr/>
          <p:nvPr/>
        </p:nvSpPr>
        <p:spPr>
          <a:xfrm>
            <a:off x="14012245" y="832910"/>
            <a:ext cx="2900874" cy="835306"/>
          </a:xfrm>
          <a:custGeom>
            <a:avLst/>
            <a:gdLst/>
            <a:ahLst/>
            <a:cxnLst/>
            <a:rect l="l" t="t" r="r" b="b"/>
            <a:pathLst>
              <a:path w="2900874" h="835306">
                <a:moveTo>
                  <a:pt x="0" y="0"/>
                </a:moveTo>
                <a:lnTo>
                  <a:pt x="2900873" y="0"/>
                </a:lnTo>
                <a:lnTo>
                  <a:pt x="2900873" y="835306"/>
                </a:lnTo>
                <a:lnTo>
                  <a:pt x="0" y="835306"/>
                </a:lnTo>
                <a:lnTo>
                  <a:pt x="0" y="0"/>
                </a:lnTo>
                <a:close/>
              </a:path>
            </a:pathLst>
          </a:custGeom>
          <a:blipFill>
            <a:blip r:embed="rId6"/>
            <a:stretch>
              <a:fillRect/>
            </a:stretch>
          </a:blipFill>
        </p:spPr>
        <p:txBody>
          <a:bodyPr/>
          <a:lstStyle/>
          <a:p>
            <a:endParaRPr lang="es-PE"/>
          </a:p>
        </p:txBody>
      </p:sp>
      <p:sp>
        <p:nvSpPr>
          <p:cNvPr id="11" name="TextBox 11"/>
          <p:cNvSpPr txBox="1"/>
          <p:nvPr/>
        </p:nvSpPr>
        <p:spPr>
          <a:xfrm>
            <a:off x="5856415" y="2305478"/>
            <a:ext cx="11056703" cy="695325"/>
          </a:xfrm>
          <a:prstGeom prst="rect">
            <a:avLst/>
          </a:prstGeom>
        </p:spPr>
        <p:txBody>
          <a:bodyPr lIns="0" tIns="0" rIns="0" bIns="0" rtlCol="0" anchor="t">
            <a:spAutoFit/>
          </a:bodyPr>
          <a:lstStyle/>
          <a:p>
            <a:pPr algn="ctr">
              <a:lnSpc>
                <a:spcPts val="5494"/>
              </a:lnSpc>
            </a:pPr>
            <a:r>
              <a:rPr lang="en-US" sz="4578" b="1" spc="-343">
                <a:solidFill>
                  <a:srgbClr val="72A220"/>
                </a:solidFill>
                <a:latin typeface="Open Sauce Bold"/>
                <a:ea typeface="Open Sauce Bold"/>
                <a:cs typeface="Open Sauce Bold"/>
                <a:sym typeface="Open Sauce Bold"/>
              </a:rPr>
              <a:t>Modelado Lógico y Control</a:t>
            </a:r>
          </a:p>
        </p:txBody>
      </p:sp>
      <p:sp>
        <p:nvSpPr>
          <p:cNvPr id="12" name="TextBox 12"/>
          <p:cNvSpPr txBox="1"/>
          <p:nvPr/>
        </p:nvSpPr>
        <p:spPr>
          <a:xfrm>
            <a:off x="5583323" y="3499783"/>
            <a:ext cx="6351010" cy="781050"/>
          </a:xfrm>
          <a:prstGeom prst="rect">
            <a:avLst/>
          </a:prstGeom>
        </p:spPr>
        <p:txBody>
          <a:bodyPr lIns="0" tIns="0" rIns="0" bIns="0" rtlCol="0" anchor="t">
            <a:spAutoFit/>
          </a:bodyPr>
          <a:lstStyle/>
          <a:p>
            <a:pPr algn="l">
              <a:lnSpc>
                <a:spcPts val="3111"/>
              </a:lnSpc>
            </a:pPr>
            <a:r>
              <a:rPr lang="en-US" sz="2593" b="1" u="sng" spc="-51">
                <a:solidFill>
                  <a:srgbClr val="FFFFFF"/>
                </a:solidFill>
                <a:latin typeface="Open Sauce Bold"/>
                <a:ea typeface="Open Sauce Bold"/>
                <a:cs typeface="Open Sauce Bold"/>
                <a:sym typeface="Open Sauce Bold"/>
              </a:rPr>
              <a:t>DIAGRAMA DE FLUJO DEL PROGRAMA PRINCIPAL</a:t>
            </a:r>
          </a:p>
        </p:txBody>
      </p:sp>
      <p:sp>
        <p:nvSpPr>
          <p:cNvPr id="13" name="TextBox 13"/>
          <p:cNvSpPr txBox="1"/>
          <p:nvPr/>
        </p:nvSpPr>
        <p:spPr>
          <a:xfrm>
            <a:off x="5583323" y="4343828"/>
            <a:ext cx="7476647" cy="1333500"/>
          </a:xfrm>
          <a:prstGeom prst="rect">
            <a:avLst/>
          </a:prstGeom>
        </p:spPr>
        <p:txBody>
          <a:bodyPr lIns="0" tIns="0" rIns="0" bIns="0" rtlCol="0" anchor="t">
            <a:spAutoFit/>
          </a:bodyPr>
          <a:lstStyle/>
          <a:p>
            <a:pPr algn="l">
              <a:lnSpc>
                <a:spcPts val="2159"/>
              </a:lnSpc>
            </a:pPr>
            <a:r>
              <a:rPr lang="en-US" sz="1799" spc="-35">
                <a:solidFill>
                  <a:srgbClr val="FFFFFF"/>
                </a:solidFill>
                <a:latin typeface="Open Sauce"/>
                <a:ea typeface="Open Sauce"/>
                <a:cs typeface="Open Sauce"/>
                <a:sym typeface="Open Sauce"/>
              </a:rPr>
              <a:t>La arquitectura lógica del firmware ( denomina asi para programa o metodo que controla los circuitos ) para el sistema de riego automatizado se ha estructurado bajo un modelo de lazo continuo (Super-loop) optimizado. El flujo del programa principal se divide en dos fases críticas:</a:t>
            </a:r>
          </a:p>
        </p:txBody>
      </p:sp>
      <p:sp>
        <p:nvSpPr>
          <p:cNvPr id="14" name="TextBox 14"/>
          <p:cNvSpPr txBox="1"/>
          <p:nvPr/>
        </p:nvSpPr>
        <p:spPr>
          <a:xfrm>
            <a:off x="5571311" y="6057900"/>
            <a:ext cx="6259140" cy="3200400"/>
          </a:xfrm>
          <a:prstGeom prst="rect">
            <a:avLst/>
          </a:prstGeom>
        </p:spPr>
        <p:txBody>
          <a:bodyPr lIns="0" tIns="0" rIns="0" bIns="0" rtlCol="0" anchor="t">
            <a:spAutoFit/>
          </a:bodyPr>
          <a:lstStyle/>
          <a:p>
            <a:pPr algn="l">
              <a:lnSpc>
                <a:spcPts val="2159"/>
              </a:lnSpc>
            </a:pPr>
            <a:r>
              <a:rPr lang="en-US" sz="1799" spc="-35">
                <a:solidFill>
                  <a:srgbClr val="FFFFFF"/>
                </a:solidFill>
                <a:latin typeface="Open Sauce"/>
                <a:ea typeface="Open Sauce"/>
                <a:cs typeface="Open Sauce"/>
                <a:sym typeface="Open Sauce"/>
              </a:rPr>
              <a:t>→ Fase de Inicialización (Setup): En esta etapa, el microcontrolador configura sus periféricos antes de entrar al ciclo infinito. Se establece el pin digital 2 como salida para el control del relé (pinMode), se inicializa la comunicación serial a 9600 baudios para el monitoreo en consola (Serial.begin), y se configura la pantalla LCD mediante el protocolo I2C (lcd.begin), mostrando el mensaje de arranque. El uso de la función bloqueante delay(1500) se restringe única y exclusivamente a esta fase para permitir el correcto encendido del hardware de la pantalla.</a:t>
            </a:r>
          </a:p>
          <a:p>
            <a:pPr algn="l">
              <a:lnSpc>
                <a:spcPts val="2159"/>
              </a:lnSpc>
            </a:pPr>
            <a:endParaRPr lang="en-US" sz="1799" spc="-35">
              <a:solidFill>
                <a:srgbClr val="FFFFFF"/>
              </a:solidFill>
              <a:latin typeface="Open Sauce"/>
              <a:ea typeface="Open Sauce"/>
              <a:cs typeface="Open Sauce"/>
              <a:sym typeface="Open Sauce"/>
            </a:endParaRPr>
          </a:p>
        </p:txBody>
      </p:sp>
      <p:sp>
        <p:nvSpPr>
          <p:cNvPr id="15" name="TextBox 15"/>
          <p:cNvSpPr txBox="1"/>
          <p:nvPr/>
        </p:nvSpPr>
        <p:spPr>
          <a:xfrm>
            <a:off x="12097945" y="6057900"/>
            <a:ext cx="4815173" cy="2667000"/>
          </a:xfrm>
          <a:prstGeom prst="rect">
            <a:avLst/>
          </a:prstGeom>
        </p:spPr>
        <p:txBody>
          <a:bodyPr lIns="0" tIns="0" rIns="0" bIns="0" rtlCol="0" anchor="t">
            <a:spAutoFit/>
          </a:bodyPr>
          <a:lstStyle/>
          <a:p>
            <a:pPr algn="l">
              <a:lnSpc>
                <a:spcPts val="2159"/>
              </a:lnSpc>
            </a:pPr>
            <a:r>
              <a:rPr lang="en-US" sz="1799" spc="-35">
                <a:solidFill>
                  <a:srgbClr val="FFFFFF"/>
                </a:solidFill>
                <a:latin typeface="Open Sauce"/>
                <a:ea typeface="Open Sauce"/>
                <a:cs typeface="Open Sauce"/>
                <a:sym typeface="Open Sauce"/>
              </a:rPr>
              <a:t>→Fase de Ejecución Continua (Main Loop): El programa entra a un bucle infinito while(1) o loop() donde se aloja el núcleo del sistema. A diferencia de implementaciones secuenciales básicas, el lazo principal no ejecuta instrucciones de arriba hacia abajo de forma lineal, sino que evalúa continuamente un bloque switch-case que gestiona el estado actual de la máquina de estados del sistema.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989734" y="832910"/>
            <a:ext cx="269566" cy="179598"/>
          </a:xfrm>
          <a:custGeom>
            <a:avLst/>
            <a:gdLst/>
            <a:ahLst/>
            <a:cxnLst/>
            <a:rect l="l" t="t" r="r" b="b"/>
            <a:pathLst>
              <a:path w="269566" h="179598">
                <a:moveTo>
                  <a:pt x="0" y="0"/>
                </a:moveTo>
                <a:lnTo>
                  <a:pt x="269566" y="0"/>
                </a:lnTo>
                <a:lnTo>
                  <a:pt x="269566" y="179598"/>
                </a:lnTo>
                <a:lnTo>
                  <a:pt x="0" y="1795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PE"/>
          </a:p>
        </p:txBody>
      </p:sp>
      <p:grpSp>
        <p:nvGrpSpPr>
          <p:cNvPr id="3" name="Group 3"/>
          <p:cNvGrpSpPr/>
          <p:nvPr/>
        </p:nvGrpSpPr>
        <p:grpSpPr>
          <a:xfrm>
            <a:off x="1028700" y="2229251"/>
            <a:ext cx="16095817" cy="8255237"/>
            <a:chOff x="0" y="0"/>
            <a:chExt cx="4239228" cy="2174219"/>
          </a:xfrm>
        </p:grpSpPr>
        <p:sp>
          <p:nvSpPr>
            <p:cNvPr id="4" name="Freeform 4"/>
            <p:cNvSpPr/>
            <p:nvPr/>
          </p:nvSpPr>
          <p:spPr>
            <a:xfrm>
              <a:off x="0" y="0"/>
              <a:ext cx="4239228" cy="2174219"/>
            </a:xfrm>
            <a:custGeom>
              <a:avLst/>
              <a:gdLst/>
              <a:ahLst/>
              <a:cxnLst/>
              <a:rect l="l" t="t" r="r" b="b"/>
              <a:pathLst>
                <a:path w="4239228" h="2174219">
                  <a:moveTo>
                    <a:pt x="9620" y="0"/>
                  </a:moveTo>
                  <a:lnTo>
                    <a:pt x="4229608" y="0"/>
                  </a:lnTo>
                  <a:cubicBezTo>
                    <a:pt x="4234921" y="0"/>
                    <a:pt x="4239228" y="4307"/>
                    <a:pt x="4239228" y="9620"/>
                  </a:cubicBezTo>
                  <a:lnTo>
                    <a:pt x="4239228" y="2164599"/>
                  </a:lnTo>
                  <a:cubicBezTo>
                    <a:pt x="4239228" y="2167150"/>
                    <a:pt x="4238214" y="2169597"/>
                    <a:pt x="4236410" y="2171401"/>
                  </a:cubicBezTo>
                  <a:cubicBezTo>
                    <a:pt x="4234606" y="2173205"/>
                    <a:pt x="4232159" y="2174219"/>
                    <a:pt x="4229608" y="2174219"/>
                  </a:cubicBezTo>
                  <a:lnTo>
                    <a:pt x="9620" y="2174219"/>
                  </a:lnTo>
                  <a:cubicBezTo>
                    <a:pt x="7068" y="2174219"/>
                    <a:pt x="4622" y="2173205"/>
                    <a:pt x="2818" y="2171401"/>
                  </a:cubicBezTo>
                  <a:cubicBezTo>
                    <a:pt x="1014" y="2169597"/>
                    <a:pt x="0" y="2167150"/>
                    <a:pt x="0" y="2164599"/>
                  </a:cubicBezTo>
                  <a:lnTo>
                    <a:pt x="0" y="9620"/>
                  </a:lnTo>
                  <a:cubicBezTo>
                    <a:pt x="0" y="7068"/>
                    <a:pt x="1014" y="4622"/>
                    <a:pt x="2818" y="2818"/>
                  </a:cubicBezTo>
                  <a:cubicBezTo>
                    <a:pt x="4622" y="1014"/>
                    <a:pt x="7068" y="0"/>
                    <a:pt x="9620" y="0"/>
                  </a:cubicBezTo>
                  <a:close/>
                </a:path>
              </a:pathLst>
            </a:custGeom>
            <a:solidFill>
              <a:srgbClr val="FFFFFF"/>
            </a:solidFill>
            <a:ln w="19050" cap="sq">
              <a:solidFill>
                <a:srgbClr val="393939"/>
              </a:solidFill>
              <a:prstDash val="solid"/>
              <a:miter/>
            </a:ln>
          </p:spPr>
          <p:txBody>
            <a:bodyPr/>
            <a:lstStyle/>
            <a:p>
              <a:endParaRPr lang="es-PE"/>
            </a:p>
          </p:txBody>
        </p:sp>
        <p:sp>
          <p:nvSpPr>
            <p:cNvPr id="5" name="TextBox 5"/>
            <p:cNvSpPr txBox="1"/>
            <p:nvPr/>
          </p:nvSpPr>
          <p:spPr>
            <a:xfrm>
              <a:off x="0" y="-28575"/>
              <a:ext cx="4239228" cy="2202794"/>
            </a:xfrm>
            <a:prstGeom prst="rect">
              <a:avLst/>
            </a:prstGeom>
          </p:spPr>
          <p:txBody>
            <a:bodyPr lIns="50800" tIns="50800" rIns="50800" bIns="50800" rtlCol="0" anchor="ctr"/>
            <a:lstStyle/>
            <a:p>
              <a:pPr algn="ctr">
                <a:lnSpc>
                  <a:spcPts val="1960"/>
                </a:lnSpc>
              </a:pPr>
              <a:endParaRPr/>
            </a:p>
          </p:txBody>
        </p:sp>
      </p:grpSp>
      <p:grpSp>
        <p:nvGrpSpPr>
          <p:cNvPr id="6" name="Group 6"/>
          <p:cNvGrpSpPr/>
          <p:nvPr/>
        </p:nvGrpSpPr>
        <p:grpSpPr>
          <a:xfrm>
            <a:off x="1050927" y="5657850"/>
            <a:ext cx="16208373" cy="4725949"/>
            <a:chOff x="0" y="0"/>
            <a:chExt cx="4268872" cy="1244694"/>
          </a:xfrm>
        </p:grpSpPr>
        <p:sp>
          <p:nvSpPr>
            <p:cNvPr id="7" name="Freeform 7"/>
            <p:cNvSpPr/>
            <p:nvPr/>
          </p:nvSpPr>
          <p:spPr>
            <a:xfrm>
              <a:off x="0" y="0"/>
              <a:ext cx="4268872" cy="1244694"/>
            </a:xfrm>
            <a:custGeom>
              <a:avLst/>
              <a:gdLst/>
              <a:ahLst/>
              <a:cxnLst/>
              <a:rect l="l" t="t" r="r" b="b"/>
              <a:pathLst>
                <a:path w="4268872" h="1244694">
                  <a:moveTo>
                    <a:pt x="9553" y="0"/>
                  </a:moveTo>
                  <a:lnTo>
                    <a:pt x="4259319" y="0"/>
                  </a:lnTo>
                  <a:cubicBezTo>
                    <a:pt x="4264595" y="0"/>
                    <a:pt x="4268872" y="4277"/>
                    <a:pt x="4268872" y="9553"/>
                  </a:cubicBezTo>
                  <a:lnTo>
                    <a:pt x="4268872" y="1235141"/>
                  </a:lnTo>
                  <a:cubicBezTo>
                    <a:pt x="4268872" y="1237675"/>
                    <a:pt x="4267865" y="1240105"/>
                    <a:pt x="4266074" y="1241896"/>
                  </a:cubicBezTo>
                  <a:cubicBezTo>
                    <a:pt x="4264282" y="1243688"/>
                    <a:pt x="4261853" y="1244694"/>
                    <a:pt x="4259319" y="1244694"/>
                  </a:cubicBezTo>
                  <a:lnTo>
                    <a:pt x="9553" y="1244694"/>
                  </a:lnTo>
                  <a:cubicBezTo>
                    <a:pt x="4277" y="1244694"/>
                    <a:pt x="0" y="1240417"/>
                    <a:pt x="0" y="1235141"/>
                  </a:cubicBezTo>
                  <a:lnTo>
                    <a:pt x="0" y="9553"/>
                  </a:lnTo>
                  <a:cubicBezTo>
                    <a:pt x="0" y="7019"/>
                    <a:pt x="1006" y="4590"/>
                    <a:pt x="2798" y="2798"/>
                  </a:cubicBezTo>
                  <a:cubicBezTo>
                    <a:pt x="4590" y="1006"/>
                    <a:pt x="7019" y="0"/>
                    <a:pt x="9553" y="0"/>
                  </a:cubicBezTo>
                  <a:close/>
                </a:path>
              </a:pathLst>
            </a:custGeom>
            <a:solidFill>
              <a:srgbClr val="393939"/>
            </a:solidFill>
          </p:spPr>
          <p:txBody>
            <a:bodyPr/>
            <a:lstStyle/>
            <a:p>
              <a:endParaRPr lang="es-PE"/>
            </a:p>
          </p:txBody>
        </p:sp>
        <p:sp>
          <p:nvSpPr>
            <p:cNvPr id="8" name="TextBox 8"/>
            <p:cNvSpPr txBox="1"/>
            <p:nvPr/>
          </p:nvSpPr>
          <p:spPr>
            <a:xfrm>
              <a:off x="0" y="-28575"/>
              <a:ext cx="4268872" cy="1273269"/>
            </a:xfrm>
            <a:prstGeom prst="rect">
              <a:avLst/>
            </a:prstGeom>
          </p:spPr>
          <p:txBody>
            <a:bodyPr lIns="50800" tIns="50800" rIns="50800" bIns="50800" rtlCol="0" anchor="ctr"/>
            <a:lstStyle/>
            <a:p>
              <a:pPr algn="ctr">
                <a:lnSpc>
                  <a:spcPts val="1960"/>
                </a:lnSpc>
              </a:pPr>
              <a:endParaRPr/>
            </a:p>
          </p:txBody>
        </p:sp>
      </p:grpSp>
      <p:grpSp>
        <p:nvGrpSpPr>
          <p:cNvPr id="9" name="Group 9"/>
          <p:cNvGrpSpPr/>
          <p:nvPr/>
        </p:nvGrpSpPr>
        <p:grpSpPr>
          <a:xfrm>
            <a:off x="1682413" y="6172200"/>
            <a:ext cx="15230705" cy="4114800"/>
            <a:chOff x="0" y="0"/>
            <a:chExt cx="4577708" cy="1236735"/>
          </a:xfrm>
        </p:grpSpPr>
        <p:sp>
          <p:nvSpPr>
            <p:cNvPr id="10" name="Freeform 10"/>
            <p:cNvSpPr/>
            <p:nvPr/>
          </p:nvSpPr>
          <p:spPr>
            <a:xfrm>
              <a:off x="0" y="0"/>
              <a:ext cx="4577708" cy="1236735"/>
            </a:xfrm>
            <a:custGeom>
              <a:avLst/>
              <a:gdLst/>
              <a:ahLst/>
              <a:cxnLst/>
              <a:rect l="l" t="t" r="r" b="b"/>
              <a:pathLst>
                <a:path w="4577708" h="1236735">
                  <a:moveTo>
                    <a:pt x="10166" y="0"/>
                  </a:moveTo>
                  <a:lnTo>
                    <a:pt x="4567542" y="0"/>
                  </a:lnTo>
                  <a:cubicBezTo>
                    <a:pt x="4573157" y="0"/>
                    <a:pt x="4577708" y="4552"/>
                    <a:pt x="4577708" y="10166"/>
                  </a:cubicBezTo>
                  <a:lnTo>
                    <a:pt x="4577708" y="1226569"/>
                  </a:lnTo>
                  <a:cubicBezTo>
                    <a:pt x="4577708" y="1232184"/>
                    <a:pt x="4573157" y="1236735"/>
                    <a:pt x="4567542" y="1236735"/>
                  </a:cubicBezTo>
                  <a:lnTo>
                    <a:pt x="10166" y="1236735"/>
                  </a:lnTo>
                  <a:cubicBezTo>
                    <a:pt x="4552" y="1236735"/>
                    <a:pt x="0" y="1232184"/>
                    <a:pt x="0" y="1226569"/>
                  </a:cubicBezTo>
                  <a:lnTo>
                    <a:pt x="0" y="10166"/>
                  </a:lnTo>
                  <a:cubicBezTo>
                    <a:pt x="0" y="4552"/>
                    <a:pt x="4552" y="0"/>
                    <a:pt x="10166" y="0"/>
                  </a:cubicBezTo>
                  <a:close/>
                </a:path>
              </a:pathLst>
            </a:custGeom>
            <a:blipFill>
              <a:blip r:embed="rId3"/>
              <a:stretch>
                <a:fillRect t="-432" b="-432"/>
              </a:stretch>
            </a:blipFill>
          </p:spPr>
          <p:txBody>
            <a:bodyPr/>
            <a:lstStyle/>
            <a:p>
              <a:endParaRPr lang="es-PE"/>
            </a:p>
          </p:txBody>
        </p:sp>
      </p:grpSp>
      <p:sp>
        <p:nvSpPr>
          <p:cNvPr id="11" name="Freeform 11"/>
          <p:cNvSpPr/>
          <p:nvPr/>
        </p:nvSpPr>
        <p:spPr>
          <a:xfrm>
            <a:off x="5824656" y="2597892"/>
            <a:ext cx="666750" cy="666750"/>
          </a:xfrm>
          <a:custGeom>
            <a:avLst/>
            <a:gdLst/>
            <a:ahLst/>
            <a:cxnLst/>
            <a:rect l="l" t="t" r="r" b="b"/>
            <a:pathLst>
              <a:path w="666750" h="666750">
                <a:moveTo>
                  <a:pt x="0" y="0"/>
                </a:moveTo>
                <a:lnTo>
                  <a:pt x="666750" y="0"/>
                </a:lnTo>
                <a:lnTo>
                  <a:pt x="666750" y="666750"/>
                </a:lnTo>
                <a:lnTo>
                  <a:pt x="0" y="66675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PE"/>
          </a:p>
        </p:txBody>
      </p:sp>
      <p:sp>
        <p:nvSpPr>
          <p:cNvPr id="12" name="Freeform 12"/>
          <p:cNvSpPr/>
          <p:nvPr/>
        </p:nvSpPr>
        <p:spPr>
          <a:xfrm>
            <a:off x="1050927" y="832910"/>
            <a:ext cx="2466818" cy="944306"/>
          </a:xfrm>
          <a:custGeom>
            <a:avLst/>
            <a:gdLst/>
            <a:ahLst/>
            <a:cxnLst/>
            <a:rect l="l" t="t" r="r" b="b"/>
            <a:pathLst>
              <a:path w="2466818" h="944306">
                <a:moveTo>
                  <a:pt x="0" y="0"/>
                </a:moveTo>
                <a:lnTo>
                  <a:pt x="2466818" y="0"/>
                </a:lnTo>
                <a:lnTo>
                  <a:pt x="2466818" y="944306"/>
                </a:lnTo>
                <a:lnTo>
                  <a:pt x="0" y="944306"/>
                </a:lnTo>
                <a:lnTo>
                  <a:pt x="0" y="0"/>
                </a:lnTo>
                <a:close/>
              </a:path>
            </a:pathLst>
          </a:custGeom>
          <a:blipFill>
            <a:blip r:embed="rId5"/>
            <a:stretch>
              <a:fillRect/>
            </a:stretch>
          </a:blipFill>
        </p:spPr>
        <p:txBody>
          <a:bodyPr/>
          <a:lstStyle/>
          <a:p>
            <a:endParaRPr lang="es-PE"/>
          </a:p>
        </p:txBody>
      </p:sp>
      <p:sp>
        <p:nvSpPr>
          <p:cNvPr id="13" name="Freeform 13"/>
          <p:cNvSpPr/>
          <p:nvPr/>
        </p:nvSpPr>
        <p:spPr>
          <a:xfrm>
            <a:off x="14012245" y="832910"/>
            <a:ext cx="2900874" cy="835306"/>
          </a:xfrm>
          <a:custGeom>
            <a:avLst/>
            <a:gdLst/>
            <a:ahLst/>
            <a:cxnLst/>
            <a:rect l="l" t="t" r="r" b="b"/>
            <a:pathLst>
              <a:path w="2900874" h="835306">
                <a:moveTo>
                  <a:pt x="0" y="0"/>
                </a:moveTo>
                <a:lnTo>
                  <a:pt x="2900873" y="0"/>
                </a:lnTo>
                <a:lnTo>
                  <a:pt x="2900873" y="835306"/>
                </a:lnTo>
                <a:lnTo>
                  <a:pt x="0" y="835306"/>
                </a:lnTo>
                <a:lnTo>
                  <a:pt x="0" y="0"/>
                </a:lnTo>
                <a:close/>
              </a:path>
            </a:pathLst>
          </a:custGeom>
          <a:blipFill>
            <a:blip r:embed="rId6"/>
            <a:stretch>
              <a:fillRect/>
            </a:stretch>
          </a:blipFill>
        </p:spPr>
        <p:txBody>
          <a:bodyPr/>
          <a:lstStyle/>
          <a:p>
            <a:endParaRPr lang="es-PE"/>
          </a:p>
        </p:txBody>
      </p:sp>
      <p:sp>
        <p:nvSpPr>
          <p:cNvPr id="14" name="TextBox 14"/>
          <p:cNvSpPr txBox="1"/>
          <p:nvPr/>
        </p:nvSpPr>
        <p:spPr>
          <a:xfrm>
            <a:off x="1401186" y="3443325"/>
            <a:ext cx="4233118" cy="1700175"/>
          </a:xfrm>
          <a:prstGeom prst="rect">
            <a:avLst/>
          </a:prstGeom>
        </p:spPr>
        <p:txBody>
          <a:bodyPr lIns="0" tIns="0" rIns="0" bIns="0" rtlCol="0" anchor="t">
            <a:spAutoFit/>
          </a:bodyPr>
          <a:lstStyle/>
          <a:p>
            <a:pPr algn="l">
              <a:lnSpc>
                <a:spcPts val="1947"/>
              </a:lnSpc>
            </a:pPr>
            <a:r>
              <a:rPr lang="en-US" sz="1622" spc="-32" dirty="0">
                <a:latin typeface="Open Sauce"/>
                <a:ea typeface="Open Sauce"/>
                <a:cs typeface="Open Sauce"/>
                <a:sym typeface="Open Sauce"/>
              </a:rPr>
              <a:t>Para </a:t>
            </a:r>
            <a:r>
              <a:rPr lang="en-US" sz="1622" spc="-32" dirty="0" err="1">
                <a:latin typeface="Open Sauce"/>
                <a:ea typeface="Open Sauce"/>
                <a:cs typeface="Open Sauce"/>
                <a:sym typeface="Open Sauce"/>
              </a:rPr>
              <a:t>garantizar</a:t>
            </a:r>
            <a:r>
              <a:rPr lang="en-US" sz="1622" spc="-32" dirty="0">
                <a:latin typeface="Open Sauce"/>
                <a:ea typeface="Open Sauce"/>
                <a:cs typeface="Open Sauce"/>
                <a:sym typeface="Open Sauce"/>
              </a:rPr>
              <a:t> la </a:t>
            </a:r>
            <a:r>
              <a:rPr lang="en-US" sz="1622" spc="-32" dirty="0" err="1">
                <a:latin typeface="Open Sauce"/>
                <a:ea typeface="Open Sauce"/>
                <a:cs typeface="Open Sauce"/>
                <a:sym typeface="Open Sauce"/>
              </a:rPr>
              <a:t>estabilidad</a:t>
            </a:r>
            <a:r>
              <a:rPr lang="en-US" sz="1622" spc="-32" dirty="0">
                <a:latin typeface="Open Sauce"/>
                <a:ea typeface="Open Sauce"/>
                <a:cs typeface="Open Sauce"/>
                <a:sym typeface="Open Sauce"/>
              </a:rPr>
              <a:t> del </a:t>
            </a:r>
            <a:r>
              <a:rPr lang="en-US" sz="1622" spc="-32" dirty="0" err="1">
                <a:latin typeface="Open Sauce"/>
                <a:ea typeface="Open Sauce"/>
                <a:cs typeface="Open Sauce"/>
                <a:sym typeface="Open Sauce"/>
              </a:rPr>
              <a:t>sistema</a:t>
            </a:r>
            <a:r>
              <a:rPr lang="en-US" sz="1622" spc="-32" dirty="0">
                <a:latin typeface="Open Sauce"/>
                <a:ea typeface="Open Sauce"/>
                <a:cs typeface="Open Sauce"/>
                <a:sym typeface="Open Sauce"/>
              </a:rPr>
              <a:t> y </a:t>
            </a:r>
            <a:r>
              <a:rPr lang="en-US" sz="1622" spc="-32" dirty="0" err="1">
                <a:latin typeface="Open Sauce"/>
                <a:ea typeface="Open Sauce"/>
                <a:cs typeface="Open Sauce"/>
                <a:sym typeface="Open Sauce"/>
              </a:rPr>
              <a:t>evitar</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el</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uso</a:t>
            </a:r>
            <a:r>
              <a:rPr lang="en-US" sz="1622" spc="-32" dirty="0">
                <a:latin typeface="Open Sauce"/>
                <a:ea typeface="Open Sauce"/>
                <a:cs typeface="Open Sauce"/>
                <a:sym typeface="Open Sauce"/>
              </a:rPr>
              <a:t> de </a:t>
            </a:r>
            <a:r>
              <a:rPr lang="en-US" sz="1622" spc="-32" dirty="0" err="1">
                <a:latin typeface="Open Sauce"/>
                <a:ea typeface="Open Sauce"/>
                <a:cs typeface="Open Sauce"/>
                <a:sym typeface="Open Sauce"/>
              </a:rPr>
              <a:t>código</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secuencial</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bloqueante</a:t>
            </a:r>
            <a:r>
              <a:rPr lang="en-US" sz="1622" spc="-32" dirty="0">
                <a:latin typeface="Open Sauce"/>
                <a:ea typeface="Open Sauce"/>
                <a:cs typeface="Open Sauce"/>
                <a:sym typeface="Open Sauce"/>
              </a:rPr>
              <a:t>, la </a:t>
            </a:r>
            <a:r>
              <a:rPr lang="en-US" sz="1622" spc="-32" dirty="0" err="1">
                <a:latin typeface="Open Sauce"/>
                <a:ea typeface="Open Sauce"/>
                <a:cs typeface="Open Sauce"/>
                <a:sym typeface="Open Sauce"/>
              </a:rPr>
              <a:t>lógica</a:t>
            </a:r>
            <a:r>
              <a:rPr lang="en-US" sz="1622" spc="-32" dirty="0">
                <a:latin typeface="Open Sauce"/>
                <a:ea typeface="Open Sauce"/>
                <a:cs typeface="Open Sauce"/>
                <a:sym typeface="Open Sauce"/>
              </a:rPr>
              <a:t> de control del </a:t>
            </a:r>
            <a:r>
              <a:rPr lang="en-US" sz="1622" spc="-32" dirty="0" err="1">
                <a:latin typeface="Open Sauce"/>
                <a:ea typeface="Open Sauce"/>
                <a:cs typeface="Open Sauce"/>
                <a:sym typeface="Open Sauce"/>
              </a:rPr>
              <a:t>riego</a:t>
            </a:r>
            <a:r>
              <a:rPr lang="en-US" sz="1622" spc="-32" dirty="0">
                <a:latin typeface="Open Sauce"/>
                <a:ea typeface="Open Sauce"/>
                <a:cs typeface="Open Sauce"/>
                <a:sym typeface="Open Sauce"/>
              </a:rPr>
              <a:t> se ha </a:t>
            </a:r>
            <a:r>
              <a:rPr lang="en-US" sz="1622" spc="-32" dirty="0" err="1">
                <a:latin typeface="Open Sauce"/>
                <a:ea typeface="Open Sauce"/>
                <a:cs typeface="Open Sauce"/>
                <a:sym typeface="Open Sauce"/>
              </a:rPr>
              <a:t>estructurado</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mediante</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una</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Máquina</a:t>
            </a:r>
            <a:r>
              <a:rPr lang="en-US" sz="1622" spc="-32" dirty="0">
                <a:latin typeface="Open Sauce"/>
                <a:ea typeface="Open Sauce"/>
                <a:cs typeface="Open Sauce"/>
                <a:sym typeface="Open Sauce"/>
              </a:rPr>
              <a:t> de </a:t>
            </a:r>
            <a:r>
              <a:rPr lang="en-US" sz="1622" spc="-32" dirty="0" err="1">
                <a:latin typeface="Open Sauce"/>
                <a:ea typeface="Open Sauce"/>
                <a:cs typeface="Open Sauce"/>
                <a:sym typeface="Open Sauce"/>
              </a:rPr>
              <a:t>Estados</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Finitos</a:t>
            </a:r>
            <a:r>
              <a:rPr lang="en-US" sz="1622" spc="-32" dirty="0">
                <a:latin typeface="Open Sauce"/>
                <a:ea typeface="Open Sauce"/>
                <a:cs typeface="Open Sauce"/>
                <a:sym typeface="Open Sauce"/>
              </a:rPr>
              <a:t> (FSM) </a:t>
            </a:r>
            <a:r>
              <a:rPr lang="en-US" sz="1622" spc="-32" dirty="0" err="1">
                <a:latin typeface="Open Sauce"/>
                <a:ea typeface="Open Sauce"/>
                <a:cs typeface="Open Sauce"/>
                <a:sym typeface="Open Sauce"/>
              </a:rPr>
              <a:t>cíclica</a:t>
            </a:r>
            <a:r>
              <a:rPr lang="en-US" sz="1622" spc="-32" dirty="0">
                <a:latin typeface="Open Sauce"/>
                <a:ea typeface="Open Sauce"/>
                <a:cs typeface="Open Sauce"/>
                <a:sym typeface="Open Sauce"/>
              </a:rPr>
              <a:t>. Esta </a:t>
            </a:r>
            <a:r>
              <a:rPr lang="en-US" sz="1622" spc="-32" dirty="0" err="1">
                <a:latin typeface="Open Sauce"/>
                <a:ea typeface="Open Sauce"/>
                <a:cs typeface="Open Sauce"/>
                <a:sym typeface="Open Sauce"/>
              </a:rPr>
              <a:t>arquitectura</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permite</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procesar</a:t>
            </a:r>
            <a:r>
              <a:rPr lang="en-US" sz="1622" spc="-32" dirty="0">
                <a:latin typeface="Open Sauce"/>
                <a:ea typeface="Open Sauce"/>
                <a:cs typeface="Open Sauce"/>
                <a:sym typeface="Open Sauce"/>
              </a:rPr>
              <a:t> las variables del </a:t>
            </a:r>
            <a:r>
              <a:rPr lang="en-US" sz="1622" spc="-32" dirty="0" err="1">
                <a:latin typeface="Open Sauce"/>
                <a:ea typeface="Open Sauce"/>
                <a:cs typeface="Open Sauce"/>
                <a:sym typeface="Open Sauce"/>
              </a:rPr>
              <a:t>entorno</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en</a:t>
            </a:r>
            <a:r>
              <a:rPr lang="en-US" sz="1622" spc="-32" dirty="0">
                <a:latin typeface="Open Sauce"/>
                <a:ea typeface="Open Sauce"/>
                <a:cs typeface="Open Sauce"/>
                <a:sym typeface="Open Sauce"/>
              </a:rPr>
              <a:t> cuatro </a:t>
            </a:r>
            <a:r>
              <a:rPr lang="en-US" sz="1622" spc="-32" dirty="0" err="1">
                <a:latin typeface="Open Sauce"/>
                <a:ea typeface="Open Sauce"/>
                <a:cs typeface="Open Sauce"/>
                <a:sym typeface="Open Sauce"/>
              </a:rPr>
              <a:t>fases</a:t>
            </a:r>
            <a:r>
              <a:rPr lang="en-US" sz="1622" spc="-32" dirty="0">
                <a:latin typeface="Open Sauce"/>
                <a:ea typeface="Open Sauce"/>
                <a:cs typeface="Open Sauce"/>
                <a:sym typeface="Open Sauce"/>
              </a:rPr>
              <a:t> bien </a:t>
            </a:r>
            <a:r>
              <a:rPr lang="en-US" sz="1622" spc="-32" dirty="0" err="1">
                <a:latin typeface="Open Sauce"/>
                <a:ea typeface="Open Sauce"/>
                <a:cs typeface="Open Sauce"/>
                <a:sym typeface="Open Sauce"/>
              </a:rPr>
              <a:t>definidas</a:t>
            </a:r>
            <a:r>
              <a:rPr lang="en-US" sz="1622" spc="-32" dirty="0">
                <a:latin typeface="Open Sauce"/>
                <a:ea typeface="Open Sauce"/>
                <a:cs typeface="Open Sauce"/>
                <a:sym typeface="Open Sauce"/>
              </a:rPr>
              <a:t>:</a:t>
            </a:r>
          </a:p>
        </p:txBody>
      </p:sp>
      <p:sp>
        <p:nvSpPr>
          <p:cNvPr id="15" name="TextBox 15"/>
          <p:cNvSpPr txBox="1"/>
          <p:nvPr/>
        </p:nvSpPr>
        <p:spPr>
          <a:xfrm>
            <a:off x="1446624" y="2597892"/>
            <a:ext cx="4233118" cy="666750"/>
          </a:xfrm>
          <a:prstGeom prst="rect">
            <a:avLst/>
          </a:prstGeom>
        </p:spPr>
        <p:txBody>
          <a:bodyPr lIns="0" tIns="0" rIns="0" bIns="0" rtlCol="0" anchor="t">
            <a:spAutoFit/>
          </a:bodyPr>
          <a:lstStyle/>
          <a:p>
            <a:pPr algn="l">
              <a:lnSpc>
                <a:spcPts val="2639"/>
              </a:lnSpc>
            </a:pPr>
            <a:r>
              <a:rPr lang="en-US" sz="2199" b="1" spc="-43">
                <a:solidFill>
                  <a:srgbClr val="393939"/>
                </a:solidFill>
                <a:latin typeface="Open Sauce Bold"/>
                <a:ea typeface="Open Sauce Bold"/>
                <a:cs typeface="Open Sauce Bold"/>
                <a:sym typeface="Open Sauce Bold"/>
              </a:rPr>
              <a:t> MÁQUINA DE ESTADOS FINITOS (FSM) DEL FIRMWARE</a:t>
            </a:r>
          </a:p>
        </p:txBody>
      </p:sp>
      <p:sp>
        <p:nvSpPr>
          <p:cNvPr id="16" name="TextBox 16"/>
          <p:cNvSpPr txBox="1"/>
          <p:nvPr/>
        </p:nvSpPr>
        <p:spPr>
          <a:xfrm>
            <a:off x="6620528" y="2416984"/>
            <a:ext cx="5069172" cy="1218282"/>
          </a:xfrm>
          <a:prstGeom prst="rect">
            <a:avLst/>
          </a:prstGeom>
        </p:spPr>
        <p:txBody>
          <a:bodyPr lIns="0" tIns="0" rIns="0" bIns="0" rtlCol="0" anchor="t">
            <a:spAutoFit/>
          </a:bodyPr>
          <a:lstStyle/>
          <a:p>
            <a:pPr marL="350339" lvl="1" indent="-175170" algn="l">
              <a:lnSpc>
                <a:spcPts val="1947"/>
              </a:lnSpc>
              <a:buAutoNum type="arabicPeriod"/>
            </a:pPr>
            <a:r>
              <a:rPr lang="en-US" sz="1622" spc="-32" dirty="0">
                <a:latin typeface="Open Sauce"/>
                <a:ea typeface="Open Sauce"/>
                <a:cs typeface="Open Sauce"/>
                <a:sym typeface="Open Sauce"/>
              </a:rPr>
              <a:t>Estado 0 (REPOSO): El </a:t>
            </a:r>
            <a:r>
              <a:rPr lang="en-US" sz="1622" spc="-32" dirty="0" err="1">
                <a:latin typeface="Open Sauce"/>
                <a:ea typeface="Open Sauce"/>
                <a:cs typeface="Open Sauce"/>
                <a:sym typeface="Open Sauce"/>
              </a:rPr>
              <a:t>sistema</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inicia</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en</a:t>
            </a:r>
            <a:r>
              <a:rPr lang="en-US" sz="1622" spc="-32" dirty="0">
                <a:latin typeface="Open Sauce"/>
                <a:ea typeface="Open Sauce"/>
                <a:cs typeface="Open Sauce"/>
                <a:sym typeface="Open Sauce"/>
              </a:rPr>
              <a:t> modo de </a:t>
            </a:r>
            <a:r>
              <a:rPr lang="en-US" sz="1622" spc="-32" dirty="0" err="1">
                <a:latin typeface="Open Sauce"/>
                <a:ea typeface="Open Sauce"/>
                <a:cs typeface="Open Sauce"/>
                <a:sym typeface="Open Sauce"/>
              </a:rPr>
              <a:t>espera</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asíncrona</a:t>
            </a:r>
            <a:r>
              <a:rPr lang="en-US" sz="1622" spc="-32" dirty="0">
                <a:latin typeface="Open Sauce"/>
                <a:ea typeface="Open Sauce"/>
                <a:cs typeface="Open Sauce"/>
                <a:sym typeface="Open Sauce"/>
              </a:rPr>
              <a:t>. El </a:t>
            </a:r>
            <a:r>
              <a:rPr lang="en-US" sz="1622" spc="-32" dirty="0" err="1">
                <a:latin typeface="Open Sauce"/>
                <a:ea typeface="Open Sauce"/>
                <a:cs typeface="Open Sauce"/>
                <a:sym typeface="Open Sauce"/>
              </a:rPr>
              <a:t>microcontrolador</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queda</a:t>
            </a:r>
            <a:r>
              <a:rPr lang="en-US" sz="1622" spc="-32" dirty="0">
                <a:latin typeface="Open Sauce"/>
                <a:ea typeface="Open Sauce"/>
                <a:cs typeface="Open Sauce"/>
                <a:sym typeface="Open Sauce"/>
              </a:rPr>
              <a:t> libre </a:t>
            </a:r>
            <a:r>
              <a:rPr lang="en-US" sz="1622" spc="-32" dirty="0" err="1">
                <a:latin typeface="Open Sauce"/>
                <a:ea typeface="Open Sauce"/>
                <a:cs typeface="Open Sauce"/>
                <a:sym typeface="Open Sauce"/>
              </a:rPr>
              <a:t>ejecutando</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el</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lazo</a:t>
            </a:r>
            <a:r>
              <a:rPr lang="en-US" sz="1622" spc="-32" dirty="0">
                <a:latin typeface="Open Sauce"/>
                <a:ea typeface="Open Sauce"/>
                <a:cs typeface="Open Sauce"/>
                <a:sym typeface="Open Sauce"/>
              </a:rPr>
              <a:t> principal hasta </a:t>
            </a:r>
            <a:r>
              <a:rPr lang="en-US" sz="1622" spc="-32" dirty="0" err="1">
                <a:latin typeface="Open Sauce"/>
                <a:ea typeface="Open Sauce"/>
                <a:cs typeface="Open Sauce"/>
                <a:sym typeface="Open Sauce"/>
              </a:rPr>
              <a:t>que</a:t>
            </a:r>
            <a:r>
              <a:rPr lang="en-US" sz="1622" spc="-32" dirty="0">
                <a:latin typeface="Open Sauce"/>
                <a:ea typeface="Open Sauce"/>
                <a:cs typeface="Open Sauce"/>
                <a:sym typeface="Open Sauce"/>
              </a:rPr>
              <a:t> la </a:t>
            </a:r>
            <a:r>
              <a:rPr lang="en-US" sz="1622" spc="-32" dirty="0" err="1">
                <a:latin typeface="Open Sauce"/>
                <a:ea typeface="Open Sauce"/>
                <a:cs typeface="Open Sauce"/>
                <a:sym typeface="Open Sauce"/>
              </a:rPr>
              <a:t>condición</a:t>
            </a:r>
            <a:r>
              <a:rPr lang="en-US" sz="1622" spc="-32" dirty="0">
                <a:latin typeface="Open Sauce"/>
                <a:ea typeface="Open Sauce"/>
                <a:cs typeface="Open Sauce"/>
                <a:sym typeface="Open Sauce"/>
              </a:rPr>
              <a:t> del </a:t>
            </a:r>
            <a:r>
              <a:rPr lang="en-US" sz="1622" spc="-32" dirty="0" err="1">
                <a:latin typeface="Open Sauce"/>
                <a:ea typeface="Open Sauce"/>
                <a:cs typeface="Open Sauce"/>
                <a:sym typeface="Open Sauce"/>
              </a:rPr>
              <a:t>temporizador</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millis</a:t>
            </a:r>
            <a:r>
              <a:rPr lang="en-US" sz="1622" spc="-32" dirty="0">
                <a:latin typeface="Open Sauce"/>
                <a:ea typeface="Open Sauce"/>
                <a:cs typeface="Open Sauce"/>
                <a:sym typeface="Open Sauce"/>
              </a:rPr>
              <a:t>() &gt;= 1000ms) se </a:t>
            </a:r>
            <a:r>
              <a:rPr lang="en-US" sz="1622" spc="-32" dirty="0" err="1">
                <a:latin typeface="Open Sauce"/>
                <a:ea typeface="Open Sauce"/>
                <a:cs typeface="Open Sauce"/>
                <a:sym typeface="Open Sauce"/>
              </a:rPr>
              <a:t>cumple</a:t>
            </a:r>
            <a:r>
              <a:rPr lang="en-US" sz="1622" spc="-32" dirty="0">
                <a:latin typeface="Open Sauce"/>
                <a:ea typeface="Open Sauce"/>
                <a:cs typeface="Open Sauce"/>
                <a:sym typeface="Open Sauce"/>
              </a:rPr>
              <a:t>.</a:t>
            </a:r>
          </a:p>
        </p:txBody>
      </p:sp>
      <p:sp>
        <p:nvSpPr>
          <p:cNvPr id="17" name="TextBox 17"/>
          <p:cNvSpPr txBox="1"/>
          <p:nvPr/>
        </p:nvSpPr>
        <p:spPr>
          <a:xfrm>
            <a:off x="11920562" y="2414554"/>
            <a:ext cx="5069172" cy="1457293"/>
          </a:xfrm>
          <a:prstGeom prst="rect">
            <a:avLst/>
          </a:prstGeom>
        </p:spPr>
        <p:txBody>
          <a:bodyPr lIns="0" tIns="0" rIns="0" bIns="0" rtlCol="0" anchor="t">
            <a:spAutoFit/>
          </a:bodyPr>
          <a:lstStyle/>
          <a:p>
            <a:pPr marL="175170" lvl="1" algn="l">
              <a:lnSpc>
                <a:spcPts val="1947"/>
              </a:lnSpc>
            </a:pPr>
            <a:r>
              <a:rPr lang="en-US" sz="1622" spc="-32" dirty="0">
                <a:latin typeface="Open Sauce"/>
                <a:ea typeface="Open Sauce"/>
                <a:cs typeface="Open Sauce"/>
                <a:sym typeface="Open Sauce"/>
              </a:rPr>
              <a:t>3. Estado 2 (DECISION): La Unidad </a:t>
            </a:r>
            <a:r>
              <a:rPr lang="en-US" sz="1622" spc="-32" dirty="0" err="1">
                <a:latin typeface="Open Sauce"/>
                <a:ea typeface="Open Sauce"/>
                <a:cs typeface="Open Sauce"/>
                <a:sym typeface="Open Sauce"/>
              </a:rPr>
              <a:t>Lógico</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Aritmética</a:t>
            </a:r>
            <a:r>
              <a:rPr lang="en-US" sz="1622" spc="-32" dirty="0">
                <a:latin typeface="Open Sauce"/>
                <a:ea typeface="Open Sauce"/>
                <a:cs typeface="Open Sauce"/>
                <a:sym typeface="Open Sauce"/>
              </a:rPr>
              <a:t> (ALU) </a:t>
            </a:r>
            <a:r>
              <a:rPr lang="en-US" sz="1622" spc="-32" dirty="0" err="1">
                <a:latin typeface="Open Sauce"/>
                <a:ea typeface="Open Sauce"/>
                <a:cs typeface="Open Sauce"/>
                <a:sym typeface="Open Sauce"/>
              </a:rPr>
              <a:t>evalúa</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los</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datos</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adquiridos</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frente</a:t>
            </a:r>
            <a:r>
              <a:rPr lang="en-US" sz="1622" spc="-32" dirty="0">
                <a:latin typeface="Open Sauce"/>
                <a:ea typeface="Open Sauce"/>
                <a:cs typeface="Open Sauce"/>
                <a:sym typeface="Open Sauce"/>
              </a:rPr>
              <a:t> al umbral </a:t>
            </a:r>
            <a:r>
              <a:rPr lang="en-US" sz="1622" spc="-32" dirty="0" err="1">
                <a:latin typeface="Open Sauce"/>
                <a:ea typeface="Open Sauce"/>
                <a:cs typeface="Open Sauce"/>
                <a:sym typeface="Open Sauce"/>
              </a:rPr>
              <a:t>crítico</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establecido</a:t>
            </a:r>
            <a:r>
              <a:rPr lang="en-US" sz="1622" spc="-32" dirty="0">
                <a:latin typeface="Open Sauce"/>
                <a:ea typeface="Open Sauce"/>
                <a:cs typeface="Open Sauce"/>
                <a:sym typeface="Open Sauce"/>
              </a:rPr>
              <a:t> (50%). En </a:t>
            </a:r>
            <a:r>
              <a:rPr lang="en-US" sz="1622" spc="-32" dirty="0" err="1">
                <a:latin typeface="Open Sauce"/>
                <a:ea typeface="Open Sauce"/>
                <a:cs typeface="Open Sauce"/>
                <a:sym typeface="Open Sauce"/>
              </a:rPr>
              <a:t>esta</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fase</a:t>
            </a:r>
            <a:r>
              <a:rPr lang="en-US" sz="1622" spc="-32" dirty="0">
                <a:latin typeface="Open Sauce"/>
                <a:ea typeface="Open Sauce"/>
                <a:cs typeface="Open Sauce"/>
                <a:sym typeface="Open Sauce"/>
              </a:rPr>
              <a:t> se </a:t>
            </a:r>
            <a:r>
              <a:rPr lang="en-US" sz="1622" spc="-32" dirty="0" err="1">
                <a:latin typeface="Open Sauce"/>
                <a:ea typeface="Open Sauce"/>
                <a:cs typeface="Open Sauce"/>
                <a:sym typeface="Open Sauce"/>
              </a:rPr>
              <a:t>determina</a:t>
            </a:r>
            <a:r>
              <a:rPr lang="en-US" sz="1622" spc="-32" dirty="0">
                <a:latin typeface="Open Sauce"/>
                <a:ea typeface="Open Sauce"/>
                <a:cs typeface="Open Sauce"/>
                <a:sym typeface="Open Sauce"/>
              </a:rPr>
              <a:t> la </a:t>
            </a:r>
            <a:r>
              <a:rPr lang="en-US" sz="1622" spc="-32" dirty="0" err="1">
                <a:latin typeface="Open Sauce"/>
                <a:ea typeface="Open Sauce"/>
                <a:cs typeface="Open Sauce"/>
                <a:sym typeface="Open Sauce"/>
              </a:rPr>
              <a:t>acción</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física</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si</a:t>
            </a:r>
            <a:r>
              <a:rPr lang="en-US" sz="1622" spc="-32" dirty="0">
                <a:latin typeface="Open Sauce"/>
                <a:ea typeface="Open Sauce"/>
                <a:cs typeface="Open Sauce"/>
                <a:sym typeface="Open Sauce"/>
              </a:rPr>
              <a:t> la </a:t>
            </a:r>
            <a:r>
              <a:rPr lang="en-US" sz="1622" spc="-32" dirty="0" err="1">
                <a:latin typeface="Open Sauce"/>
                <a:ea typeface="Open Sauce"/>
                <a:cs typeface="Open Sauce"/>
                <a:sym typeface="Open Sauce"/>
              </a:rPr>
              <a:t>humedad</a:t>
            </a:r>
            <a:r>
              <a:rPr lang="en-US" sz="1622" spc="-32" dirty="0">
                <a:latin typeface="Open Sauce"/>
                <a:ea typeface="Open Sauce"/>
                <a:cs typeface="Open Sauce"/>
                <a:sym typeface="Open Sauce"/>
              </a:rPr>
              <a:t> es baja, se </a:t>
            </a:r>
            <a:r>
              <a:rPr lang="en-US" sz="1622" spc="-32" dirty="0" err="1">
                <a:latin typeface="Open Sauce"/>
                <a:ea typeface="Open Sauce"/>
                <a:cs typeface="Open Sauce"/>
                <a:sym typeface="Open Sauce"/>
              </a:rPr>
              <a:t>envía</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una</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señal</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en</a:t>
            </a:r>
            <a:r>
              <a:rPr lang="en-US" sz="1622" spc="-32" dirty="0">
                <a:latin typeface="Open Sauce"/>
                <a:ea typeface="Open Sauce"/>
                <a:cs typeface="Open Sauce"/>
                <a:sym typeface="Open Sauce"/>
              </a:rPr>
              <a:t> ALTO a la </a:t>
            </a:r>
            <a:r>
              <a:rPr lang="en-US" sz="1622" spc="-32" dirty="0" err="1">
                <a:latin typeface="Open Sauce"/>
                <a:ea typeface="Open Sauce"/>
                <a:cs typeface="Open Sauce"/>
                <a:sym typeface="Open Sauce"/>
              </a:rPr>
              <a:t>bomba</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caso</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contrario</a:t>
            </a:r>
            <a:r>
              <a:rPr lang="en-US" sz="1622" spc="-32" dirty="0">
                <a:latin typeface="Open Sauce"/>
                <a:ea typeface="Open Sauce"/>
                <a:cs typeface="Open Sauce"/>
                <a:sym typeface="Open Sauce"/>
              </a:rPr>
              <a:t>, se </a:t>
            </a:r>
            <a:r>
              <a:rPr lang="en-US" sz="1622" spc="-32" dirty="0" err="1">
                <a:latin typeface="Open Sauce"/>
                <a:ea typeface="Open Sauce"/>
                <a:cs typeface="Open Sauce"/>
                <a:sym typeface="Open Sauce"/>
              </a:rPr>
              <a:t>apaga</a:t>
            </a:r>
            <a:r>
              <a:rPr lang="en-US" sz="1622" spc="-32" dirty="0">
                <a:latin typeface="Open Sauce"/>
                <a:ea typeface="Open Sauce"/>
                <a:cs typeface="Open Sauce"/>
                <a:sym typeface="Open Sauce"/>
              </a:rPr>
              <a:t>.</a:t>
            </a:r>
          </a:p>
        </p:txBody>
      </p:sp>
      <p:sp>
        <p:nvSpPr>
          <p:cNvPr id="18" name="TextBox 18"/>
          <p:cNvSpPr txBox="1"/>
          <p:nvPr/>
        </p:nvSpPr>
        <p:spPr>
          <a:xfrm>
            <a:off x="6609414" y="4036202"/>
            <a:ext cx="5069172" cy="1218282"/>
          </a:xfrm>
          <a:prstGeom prst="rect">
            <a:avLst/>
          </a:prstGeom>
        </p:spPr>
        <p:txBody>
          <a:bodyPr lIns="0" tIns="0" rIns="0" bIns="0" rtlCol="0" anchor="t">
            <a:spAutoFit/>
          </a:bodyPr>
          <a:lstStyle/>
          <a:p>
            <a:pPr marL="175169" lvl="1" algn="l">
              <a:lnSpc>
                <a:spcPts val="1947"/>
              </a:lnSpc>
            </a:pPr>
            <a:r>
              <a:rPr lang="en-US" sz="1622" spc="-32" dirty="0">
                <a:latin typeface="Open Sauce"/>
                <a:ea typeface="Open Sauce"/>
                <a:cs typeface="Open Sauce"/>
                <a:sym typeface="Open Sauce"/>
              </a:rPr>
              <a:t>2. Estado 1 (LEER_SENSORES): Se </a:t>
            </a:r>
            <a:r>
              <a:rPr lang="en-US" sz="1622" spc="-32" dirty="0" err="1">
                <a:latin typeface="Open Sauce"/>
                <a:ea typeface="Open Sauce"/>
                <a:cs typeface="Open Sauce"/>
                <a:sym typeface="Open Sauce"/>
              </a:rPr>
              <a:t>realiza</a:t>
            </a:r>
            <a:r>
              <a:rPr lang="en-US" sz="1622" spc="-32" dirty="0">
                <a:latin typeface="Open Sauce"/>
                <a:ea typeface="Open Sauce"/>
                <a:cs typeface="Open Sauce"/>
                <a:sym typeface="Open Sauce"/>
              </a:rPr>
              <a:t> la </a:t>
            </a:r>
            <a:r>
              <a:rPr lang="en-US" sz="1622" spc="-32" dirty="0" err="1">
                <a:latin typeface="Open Sauce"/>
                <a:ea typeface="Open Sauce"/>
                <a:cs typeface="Open Sauce"/>
                <a:sym typeface="Open Sauce"/>
              </a:rPr>
              <a:t>adquisición</a:t>
            </a:r>
            <a:r>
              <a:rPr lang="en-US" sz="1622" spc="-32" dirty="0">
                <a:latin typeface="Open Sauce"/>
                <a:ea typeface="Open Sauce"/>
                <a:cs typeface="Open Sauce"/>
                <a:sym typeface="Open Sauce"/>
              </a:rPr>
              <a:t> de </a:t>
            </a:r>
            <a:r>
              <a:rPr lang="en-US" sz="1622" spc="-32" dirty="0" err="1">
                <a:latin typeface="Open Sauce"/>
                <a:ea typeface="Open Sauce"/>
                <a:cs typeface="Open Sauce"/>
                <a:sym typeface="Open Sauce"/>
              </a:rPr>
              <a:t>datos</a:t>
            </a:r>
            <a:r>
              <a:rPr lang="en-US" sz="1622" spc="-32" dirty="0">
                <a:latin typeface="Open Sauce"/>
                <a:ea typeface="Open Sauce"/>
                <a:cs typeface="Open Sauce"/>
                <a:sym typeface="Open Sauce"/>
              </a:rPr>
              <a:t> a </a:t>
            </a:r>
            <a:r>
              <a:rPr lang="en-US" sz="1622" spc="-32" dirty="0" err="1">
                <a:latin typeface="Open Sauce"/>
                <a:ea typeface="Open Sauce"/>
                <a:cs typeface="Open Sauce"/>
                <a:sym typeface="Open Sauce"/>
              </a:rPr>
              <a:t>través</a:t>
            </a:r>
            <a:r>
              <a:rPr lang="en-US" sz="1622" spc="-32" dirty="0">
                <a:latin typeface="Open Sauce"/>
                <a:ea typeface="Open Sauce"/>
                <a:cs typeface="Open Sauce"/>
                <a:sym typeface="Open Sauce"/>
              </a:rPr>
              <a:t> de </a:t>
            </a:r>
            <a:r>
              <a:rPr lang="en-US" sz="1622" spc="-32" dirty="0" err="1">
                <a:latin typeface="Open Sauce"/>
                <a:ea typeface="Open Sauce"/>
                <a:cs typeface="Open Sauce"/>
                <a:sym typeface="Open Sauce"/>
              </a:rPr>
              <a:t>los</a:t>
            </a:r>
            <a:r>
              <a:rPr lang="en-US" sz="1622" spc="-32" dirty="0">
                <a:latin typeface="Open Sauce"/>
                <a:ea typeface="Open Sauce"/>
                <a:cs typeface="Open Sauce"/>
                <a:sym typeface="Open Sauce"/>
              </a:rPr>
              <a:t> canales </a:t>
            </a:r>
            <a:r>
              <a:rPr lang="en-US" sz="1622" spc="-32" dirty="0" err="1">
                <a:latin typeface="Open Sauce"/>
                <a:ea typeface="Open Sauce"/>
                <a:cs typeface="Open Sauce"/>
                <a:sym typeface="Open Sauce"/>
              </a:rPr>
              <a:t>analógicos</a:t>
            </a:r>
            <a:r>
              <a:rPr lang="en-US" sz="1622" spc="-32" dirty="0">
                <a:latin typeface="Open Sauce"/>
                <a:ea typeface="Open Sauce"/>
                <a:cs typeface="Open Sauce"/>
                <a:sym typeface="Open Sauce"/>
              </a:rPr>
              <a:t> (ADC), </a:t>
            </a:r>
            <a:r>
              <a:rPr lang="en-US" sz="1622" spc="-32" dirty="0" err="1">
                <a:latin typeface="Open Sauce"/>
                <a:ea typeface="Open Sauce"/>
                <a:cs typeface="Open Sauce"/>
                <a:sym typeface="Open Sauce"/>
              </a:rPr>
              <a:t>capturando</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los</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valores</a:t>
            </a:r>
            <a:r>
              <a:rPr lang="en-US" sz="1622" spc="-32" dirty="0">
                <a:latin typeface="Open Sauce"/>
                <a:ea typeface="Open Sauce"/>
                <a:cs typeface="Open Sauce"/>
                <a:sym typeface="Open Sauce"/>
              </a:rPr>
              <a:t> de </a:t>
            </a:r>
            <a:r>
              <a:rPr lang="en-US" sz="1622" spc="-32" dirty="0" err="1">
                <a:latin typeface="Open Sauce"/>
                <a:ea typeface="Open Sauce"/>
                <a:cs typeface="Open Sauce"/>
                <a:sym typeface="Open Sauce"/>
              </a:rPr>
              <a:t>humedad</a:t>
            </a:r>
            <a:r>
              <a:rPr lang="en-US" sz="1622" spc="-32" dirty="0">
                <a:latin typeface="Open Sauce"/>
                <a:ea typeface="Open Sauce"/>
                <a:cs typeface="Open Sauce"/>
                <a:sym typeface="Open Sauce"/>
              </a:rPr>
              <a:t> de </a:t>
            </a:r>
            <a:r>
              <a:rPr lang="en-US" sz="1622" spc="-32" dirty="0" err="1">
                <a:latin typeface="Open Sauce"/>
                <a:ea typeface="Open Sauce"/>
                <a:cs typeface="Open Sauce"/>
                <a:sym typeface="Open Sauce"/>
              </a:rPr>
              <a:t>suelo</a:t>
            </a:r>
            <a:r>
              <a:rPr lang="en-US" sz="1622" spc="-32" dirty="0">
                <a:latin typeface="Open Sauce"/>
                <a:ea typeface="Open Sauce"/>
                <a:cs typeface="Open Sauce"/>
                <a:sym typeface="Open Sauce"/>
              </a:rPr>
              <a:t> y </a:t>
            </a:r>
            <a:r>
              <a:rPr lang="en-US" sz="1622" spc="-32" dirty="0" err="1">
                <a:latin typeface="Open Sauce"/>
                <a:ea typeface="Open Sauce"/>
                <a:cs typeface="Open Sauce"/>
                <a:sym typeface="Open Sauce"/>
              </a:rPr>
              <a:t>temperatura</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ambiental</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en</a:t>
            </a:r>
            <a:r>
              <a:rPr lang="en-US" sz="1622" spc="-32" dirty="0">
                <a:latin typeface="Open Sauce"/>
                <a:ea typeface="Open Sauce"/>
                <a:cs typeface="Open Sauce"/>
                <a:sym typeface="Open Sauce"/>
              </a:rPr>
              <a:t> variables locales.</a:t>
            </a:r>
          </a:p>
        </p:txBody>
      </p:sp>
      <p:sp>
        <p:nvSpPr>
          <p:cNvPr id="19" name="TextBox 19"/>
          <p:cNvSpPr txBox="1"/>
          <p:nvPr/>
        </p:nvSpPr>
        <p:spPr>
          <a:xfrm>
            <a:off x="11920562" y="4036202"/>
            <a:ext cx="5069172" cy="1457293"/>
          </a:xfrm>
          <a:prstGeom prst="rect">
            <a:avLst/>
          </a:prstGeom>
        </p:spPr>
        <p:txBody>
          <a:bodyPr lIns="0" tIns="0" rIns="0" bIns="0" rtlCol="0" anchor="t">
            <a:spAutoFit/>
          </a:bodyPr>
          <a:lstStyle/>
          <a:p>
            <a:pPr marL="175170" lvl="1" algn="l">
              <a:lnSpc>
                <a:spcPts val="1947"/>
              </a:lnSpc>
            </a:pPr>
            <a:r>
              <a:rPr lang="en-US" sz="1622" spc="-32" dirty="0">
                <a:latin typeface="Open Sauce"/>
                <a:ea typeface="Open Sauce"/>
                <a:cs typeface="Open Sauce"/>
                <a:sym typeface="Open Sauce"/>
              </a:rPr>
              <a:t>4. Estado 3 (ACTUALIZAR_PANTALLA): Se </a:t>
            </a:r>
            <a:r>
              <a:rPr lang="en-US" sz="1622" spc="-32" dirty="0" err="1">
                <a:latin typeface="Open Sauce"/>
                <a:ea typeface="Open Sauce"/>
                <a:cs typeface="Open Sauce"/>
                <a:sym typeface="Open Sauce"/>
              </a:rPr>
              <a:t>transmite</a:t>
            </a:r>
            <a:r>
              <a:rPr lang="en-US" sz="1622" spc="-32" dirty="0">
                <a:latin typeface="Open Sauce"/>
                <a:ea typeface="Open Sauce"/>
                <a:cs typeface="Open Sauce"/>
                <a:sym typeface="Open Sauce"/>
              </a:rPr>
              <a:t> la </a:t>
            </a:r>
            <a:r>
              <a:rPr lang="en-US" sz="1622" spc="-32" dirty="0" err="1">
                <a:latin typeface="Open Sauce"/>
                <a:ea typeface="Open Sauce"/>
                <a:cs typeface="Open Sauce"/>
                <a:sym typeface="Open Sauce"/>
              </a:rPr>
              <a:t>información</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procesada</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hacia</a:t>
            </a:r>
            <a:r>
              <a:rPr lang="en-US" sz="1622" spc="-32" dirty="0">
                <a:latin typeface="Open Sauce"/>
                <a:ea typeface="Open Sauce"/>
                <a:cs typeface="Open Sauce"/>
                <a:sym typeface="Open Sauce"/>
              </a:rPr>
              <a:t> la </a:t>
            </a:r>
            <a:r>
              <a:rPr lang="en-US" sz="1622" spc="-32" dirty="0" err="1">
                <a:latin typeface="Open Sauce"/>
                <a:ea typeface="Open Sauce"/>
                <a:cs typeface="Open Sauce"/>
                <a:sym typeface="Open Sauce"/>
              </a:rPr>
              <a:t>pantalla</a:t>
            </a:r>
            <a:r>
              <a:rPr lang="en-US" sz="1622" spc="-32" dirty="0">
                <a:latin typeface="Open Sauce"/>
                <a:ea typeface="Open Sauce"/>
                <a:cs typeface="Open Sauce"/>
                <a:sym typeface="Open Sauce"/>
              </a:rPr>
              <a:t> LCD </a:t>
            </a:r>
            <a:r>
              <a:rPr lang="en-US" sz="1622" spc="-32" dirty="0" err="1">
                <a:latin typeface="Open Sauce"/>
                <a:ea typeface="Open Sauce"/>
                <a:cs typeface="Open Sauce"/>
                <a:sym typeface="Open Sauce"/>
              </a:rPr>
              <a:t>vía</a:t>
            </a:r>
            <a:r>
              <a:rPr lang="en-US" sz="1622" spc="-32" dirty="0">
                <a:latin typeface="Open Sauce"/>
                <a:ea typeface="Open Sauce"/>
                <a:cs typeface="Open Sauce"/>
                <a:sym typeface="Open Sauce"/>
              </a:rPr>
              <a:t> I2C y al Monitor Serie </a:t>
            </a:r>
            <a:r>
              <a:rPr lang="en-US" sz="1622" spc="-32" dirty="0" err="1">
                <a:latin typeface="Open Sauce"/>
                <a:ea typeface="Open Sauce"/>
                <a:cs typeface="Open Sauce"/>
                <a:sym typeface="Open Sauce"/>
              </a:rPr>
              <a:t>vía</a:t>
            </a:r>
            <a:r>
              <a:rPr lang="en-US" sz="1622" spc="-32" dirty="0">
                <a:latin typeface="Open Sauce"/>
                <a:ea typeface="Open Sauce"/>
                <a:cs typeface="Open Sauce"/>
                <a:sym typeface="Open Sauce"/>
              </a:rPr>
              <a:t> UART(</a:t>
            </a:r>
            <a:r>
              <a:rPr lang="en-US" sz="1622" spc="-32" dirty="0" err="1">
                <a:latin typeface="Open Sauce"/>
                <a:ea typeface="Open Sauce"/>
                <a:cs typeface="Open Sauce"/>
                <a:sym typeface="Open Sauce"/>
              </a:rPr>
              <a:t>Transmisor</a:t>
            </a:r>
            <a:r>
              <a:rPr lang="en-US" sz="1622" spc="-32" dirty="0">
                <a:latin typeface="Open Sauce"/>
                <a:ea typeface="Open Sauce"/>
                <a:cs typeface="Open Sauce"/>
                <a:sym typeface="Open Sauce"/>
              </a:rPr>
              <a:t>-Receptor </a:t>
            </a:r>
            <a:r>
              <a:rPr lang="en-US" sz="1622" spc="-32" dirty="0" err="1">
                <a:latin typeface="Open Sauce"/>
                <a:ea typeface="Open Sauce"/>
                <a:cs typeface="Open Sauce"/>
                <a:sym typeface="Open Sauce"/>
              </a:rPr>
              <a:t>Asíncrono</a:t>
            </a:r>
            <a:r>
              <a:rPr lang="en-US" sz="1622" spc="-32" dirty="0">
                <a:latin typeface="Open Sauce"/>
                <a:ea typeface="Open Sauce"/>
                <a:cs typeface="Open Sauce"/>
                <a:sym typeface="Open Sauce"/>
              </a:rPr>
              <a:t> Universal). La FSM </a:t>
            </a:r>
            <a:r>
              <a:rPr lang="en-US" sz="1622" spc="-32" dirty="0" err="1">
                <a:latin typeface="Open Sauce"/>
                <a:ea typeface="Open Sauce"/>
                <a:cs typeface="Open Sauce"/>
                <a:sym typeface="Open Sauce"/>
              </a:rPr>
              <a:t>transiciona</a:t>
            </a:r>
            <a:r>
              <a:rPr lang="en-US" sz="1622" spc="-32" dirty="0">
                <a:latin typeface="Open Sauce"/>
                <a:ea typeface="Open Sauce"/>
                <a:cs typeface="Open Sauce"/>
                <a:sym typeface="Open Sauce"/>
              </a:rPr>
              <a:t> </a:t>
            </a:r>
            <a:r>
              <a:rPr lang="en-US" sz="1622" spc="-32" dirty="0" err="1">
                <a:latin typeface="Open Sauce"/>
                <a:ea typeface="Open Sauce"/>
                <a:cs typeface="Open Sauce"/>
                <a:sym typeface="Open Sauce"/>
              </a:rPr>
              <a:t>incondicionalmente</a:t>
            </a:r>
            <a:r>
              <a:rPr lang="en-US" sz="1622" spc="-32" dirty="0">
                <a:latin typeface="Open Sauce"/>
                <a:ea typeface="Open Sauce"/>
                <a:cs typeface="Open Sauce"/>
                <a:sym typeface="Open Sauce"/>
              </a:rPr>
              <a:t> de </a:t>
            </a:r>
            <a:r>
              <a:rPr lang="en-US" sz="1622" spc="-32" dirty="0" err="1">
                <a:latin typeface="Open Sauce"/>
                <a:ea typeface="Open Sauce"/>
                <a:cs typeface="Open Sauce"/>
                <a:sym typeface="Open Sauce"/>
              </a:rPr>
              <a:t>regreso</a:t>
            </a:r>
            <a:r>
              <a:rPr lang="en-US" sz="1622" spc="-32" dirty="0">
                <a:latin typeface="Open Sauce"/>
                <a:ea typeface="Open Sauce"/>
                <a:cs typeface="Open Sauce"/>
                <a:sym typeface="Open Sauce"/>
              </a:rPr>
              <a:t> al </a:t>
            </a:r>
            <a:r>
              <a:rPr lang="en-US" sz="1622" spc="-32" dirty="0" err="1">
                <a:latin typeface="Open Sauce"/>
                <a:ea typeface="Open Sauce"/>
                <a:cs typeface="Open Sauce"/>
                <a:sym typeface="Open Sauce"/>
              </a:rPr>
              <a:t>estado</a:t>
            </a:r>
            <a:r>
              <a:rPr lang="en-US" sz="1622" spc="-32" dirty="0">
                <a:latin typeface="Open Sauce"/>
                <a:ea typeface="Open Sauce"/>
                <a:cs typeface="Open Sauce"/>
                <a:sym typeface="Open Sauce"/>
              </a:rPr>
              <a:t> de REPOSO.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989734" y="832910"/>
            <a:ext cx="269566" cy="179598"/>
          </a:xfrm>
          <a:custGeom>
            <a:avLst/>
            <a:gdLst/>
            <a:ahLst/>
            <a:cxnLst/>
            <a:rect l="l" t="t" r="r" b="b"/>
            <a:pathLst>
              <a:path w="269566" h="179598">
                <a:moveTo>
                  <a:pt x="0" y="0"/>
                </a:moveTo>
                <a:lnTo>
                  <a:pt x="269566" y="0"/>
                </a:lnTo>
                <a:lnTo>
                  <a:pt x="269566" y="179598"/>
                </a:lnTo>
                <a:lnTo>
                  <a:pt x="0" y="1795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PE"/>
          </a:p>
        </p:txBody>
      </p:sp>
      <p:grpSp>
        <p:nvGrpSpPr>
          <p:cNvPr id="3" name="Group 3"/>
          <p:cNvGrpSpPr/>
          <p:nvPr/>
        </p:nvGrpSpPr>
        <p:grpSpPr>
          <a:xfrm>
            <a:off x="1695450" y="3037967"/>
            <a:ext cx="9856688" cy="6220333"/>
            <a:chOff x="0" y="0"/>
            <a:chExt cx="2596000" cy="1638277"/>
          </a:xfrm>
        </p:grpSpPr>
        <p:sp>
          <p:nvSpPr>
            <p:cNvPr id="4" name="Freeform 4"/>
            <p:cNvSpPr/>
            <p:nvPr/>
          </p:nvSpPr>
          <p:spPr>
            <a:xfrm>
              <a:off x="0" y="0"/>
              <a:ext cx="2596000" cy="1638277"/>
            </a:xfrm>
            <a:custGeom>
              <a:avLst/>
              <a:gdLst/>
              <a:ahLst/>
              <a:cxnLst/>
              <a:rect l="l" t="t" r="r" b="b"/>
              <a:pathLst>
                <a:path w="2596000" h="1638277">
                  <a:moveTo>
                    <a:pt x="15709" y="0"/>
                  </a:moveTo>
                  <a:lnTo>
                    <a:pt x="2580291" y="0"/>
                  </a:lnTo>
                  <a:cubicBezTo>
                    <a:pt x="2584457" y="0"/>
                    <a:pt x="2588453" y="1655"/>
                    <a:pt x="2591399" y="4601"/>
                  </a:cubicBezTo>
                  <a:cubicBezTo>
                    <a:pt x="2594345" y="7547"/>
                    <a:pt x="2596000" y="11543"/>
                    <a:pt x="2596000" y="15709"/>
                  </a:cubicBezTo>
                  <a:lnTo>
                    <a:pt x="2596000" y="1622568"/>
                  </a:lnTo>
                  <a:cubicBezTo>
                    <a:pt x="2596000" y="1631244"/>
                    <a:pt x="2588967" y="1638277"/>
                    <a:pt x="2580291" y="1638277"/>
                  </a:cubicBezTo>
                  <a:lnTo>
                    <a:pt x="15709" y="1638277"/>
                  </a:lnTo>
                  <a:cubicBezTo>
                    <a:pt x="7033" y="1638277"/>
                    <a:pt x="0" y="1631244"/>
                    <a:pt x="0" y="1622568"/>
                  </a:cubicBezTo>
                  <a:lnTo>
                    <a:pt x="0" y="15709"/>
                  </a:lnTo>
                  <a:cubicBezTo>
                    <a:pt x="0" y="7033"/>
                    <a:pt x="7033" y="0"/>
                    <a:pt x="15709" y="0"/>
                  </a:cubicBezTo>
                  <a:close/>
                </a:path>
              </a:pathLst>
            </a:custGeom>
            <a:solidFill>
              <a:srgbClr val="393939"/>
            </a:solidFill>
          </p:spPr>
          <p:txBody>
            <a:bodyPr/>
            <a:lstStyle/>
            <a:p>
              <a:endParaRPr lang="es-PE"/>
            </a:p>
          </p:txBody>
        </p:sp>
        <p:sp>
          <p:nvSpPr>
            <p:cNvPr id="5" name="TextBox 5"/>
            <p:cNvSpPr txBox="1"/>
            <p:nvPr/>
          </p:nvSpPr>
          <p:spPr>
            <a:xfrm>
              <a:off x="0" y="-28575"/>
              <a:ext cx="2596000" cy="1666852"/>
            </a:xfrm>
            <a:prstGeom prst="rect">
              <a:avLst/>
            </a:prstGeom>
          </p:spPr>
          <p:txBody>
            <a:bodyPr lIns="50800" tIns="50800" rIns="50800" bIns="50800" rtlCol="0" anchor="ctr"/>
            <a:lstStyle/>
            <a:p>
              <a:pPr algn="ctr">
                <a:lnSpc>
                  <a:spcPts val="1960"/>
                </a:lnSpc>
              </a:pPr>
              <a:endParaRPr/>
            </a:p>
          </p:txBody>
        </p:sp>
      </p:grpSp>
      <p:grpSp>
        <p:nvGrpSpPr>
          <p:cNvPr id="6" name="Group 6"/>
          <p:cNvGrpSpPr/>
          <p:nvPr/>
        </p:nvGrpSpPr>
        <p:grpSpPr>
          <a:xfrm>
            <a:off x="11857920" y="3037967"/>
            <a:ext cx="5401380" cy="6220333"/>
            <a:chOff x="0" y="0"/>
            <a:chExt cx="1422586" cy="1638277"/>
          </a:xfrm>
        </p:grpSpPr>
        <p:sp>
          <p:nvSpPr>
            <p:cNvPr id="7" name="Freeform 7"/>
            <p:cNvSpPr/>
            <p:nvPr/>
          </p:nvSpPr>
          <p:spPr>
            <a:xfrm>
              <a:off x="0" y="0"/>
              <a:ext cx="1422586" cy="1638277"/>
            </a:xfrm>
            <a:custGeom>
              <a:avLst/>
              <a:gdLst/>
              <a:ahLst/>
              <a:cxnLst/>
              <a:rect l="l" t="t" r="r" b="b"/>
              <a:pathLst>
                <a:path w="1422586" h="1638277">
                  <a:moveTo>
                    <a:pt x="28666" y="0"/>
                  </a:moveTo>
                  <a:lnTo>
                    <a:pt x="1393919" y="0"/>
                  </a:lnTo>
                  <a:cubicBezTo>
                    <a:pt x="1409751" y="0"/>
                    <a:pt x="1422586" y="12834"/>
                    <a:pt x="1422586" y="28666"/>
                  </a:cubicBezTo>
                  <a:lnTo>
                    <a:pt x="1422586" y="1609610"/>
                  </a:lnTo>
                  <a:cubicBezTo>
                    <a:pt x="1422586" y="1625443"/>
                    <a:pt x="1409751" y="1638277"/>
                    <a:pt x="1393919" y="1638277"/>
                  </a:cubicBezTo>
                  <a:lnTo>
                    <a:pt x="28666" y="1638277"/>
                  </a:lnTo>
                  <a:cubicBezTo>
                    <a:pt x="12834" y="1638277"/>
                    <a:pt x="0" y="1625443"/>
                    <a:pt x="0" y="1609610"/>
                  </a:cubicBezTo>
                  <a:lnTo>
                    <a:pt x="0" y="28666"/>
                  </a:lnTo>
                  <a:cubicBezTo>
                    <a:pt x="0" y="12834"/>
                    <a:pt x="12834" y="0"/>
                    <a:pt x="28666" y="0"/>
                  </a:cubicBezTo>
                  <a:close/>
                </a:path>
              </a:pathLst>
            </a:custGeom>
            <a:solidFill>
              <a:srgbClr val="FFFFFF"/>
            </a:solidFill>
            <a:ln w="19050" cap="sq">
              <a:solidFill>
                <a:srgbClr val="393939"/>
              </a:solidFill>
              <a:prstDash val="solid"/>
              <a:miter/>
            </a:ln>
          </p:spPr>
          <p:txBody>
            <a:bodyPr/>
            <a:lstStyle/>
            <a:p>
              <a:endParaRPr lang="es-PE"/>
            </a:p>
          </p:txBody>
        </p:sp>
        <p:sp>
          <p:nvSpPr>
            <p:cNvPr id="8" name="TextBox 8"/>
            <p:cNvSpPr txBox="1"/>
            <p:nvPr/>
          </p:nvSpPr>
          <p:spPr>
            <a:xfrm>
              <a:off x="0" y="-28575"/>
              <a:ext cx="1422586" cy="1666852"/>
            </a:xfrm>
            <a:prstGeom prst="rect">
              <a:avLst/>
            </a:prstGeom>
          </p:spPr>
          <p:txBody>
            <a:bodyPr lIns="50800" tIns="50800" rIns="50800" bIns="50800" rtlCol="0" anchor="ctr"/>
            <a:lstStyle/>
            <a:p>
              <a:pPr algn="ctr">
                <a:lnSpc>
                  <a:spcPts val="1960"/>
                </a:lnSpc>
              </a:pPr>
              <a:endParaRPr/>
            </a:p>
          </p:txBody>
        </p:sp>
      </p:grpSp>
      <p:sp>
        <p:nvSpPr>
          <p:cNvPr id="9" name="Freeform 9"/>
          <p:cNvSpPr/>
          <p:nvPr/>
        </p:nvSpPr>
        <p:spPr>
          <a:xfrm>
            <a:off x="1028700" y="2229251"/>
            <a:ext cx="666750" cy="666750"/>
          </a:xfrm>
          <a:custGeom>
            <a:avLst/>
            <a:gdLst/>
            <a:ahLst/>
            <a:cxnLst/>
            <a:rect l="l" t="t" r="r" b="b"/>
            <a:pathLst>
              <a:path w="666750" h="666750">
                <a:moveTo>
                  <a:pt x="0" y="0"/>
                </a:moveTo>
                <a:lnTo>
                  <a:pt x="666750" y="0"/>
                </a:lnTo>
                <a:lnTo>
                  <a:pt x="666750" y="666750"/>
                </a:lnTo>
                <a:lnTo>
                  <a:pt x="0" y="66675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PE"/>
          </a:p>
        </p:txBody>
      </p:sp>
      <p:grpSp>
        <p:nvGrpSpPr>
          <p:cNvPr id="10" name="Group 10"/>
          <p:cNvGrpSpPr/>
          <p:nvPr/>
        </p:nvGrpSpPr>
        <p:grpSpPr>
          <a:xfrm>
            <a:off x="12027610" y="3456960"/>
            <a:ext cx="5062001" cy="5457616"/>
            <a:chOff x="0" y="0"/>
            <a:chExt cx="1317457" cy="1420421"/>
          </a:xfrm>
        </p:grpSpPr>
        <p:sp>
          <p:nvSpPr>
            <p:cNvPr id="11" name="Freeform 11"/>
            <p:cNvSpPr/>
            <p:nvPr/>
          </p:nvSpPr>
          <p:spPr>
            <a:xfrm>
              <a:off x="0" y="0"/>
              <a:ext cx="1317457" cy="1420421"/>
            </a:xfrm>
            <a:custGeom>
              <a:avLst/>
              <a:gdLst/>
              <a:ahLst/>
              <a:cxnLst/>
              <a:rect l="l" t="t" r="r" b="b"/>
              <a:pathLst>
                <a:path w="1317457" h="1420421">
                  <a:moveTo>
                    <a:pt x="30588" y="0"/>
                  </a:moveTo>
                  <a:lnTo>
                    <a:pt x="1286868" y="0"/>
                  </a:lnTo>
                  <a:cubicBezTo>
                    <a:pt x="1303762" y="0"/>
                    <a:pt x="1317457" y="13695"/>
                    <a:pt x="1317457" y="30588"/>
                  </a:cubicBezTo>
                  <a:lnTo>
                    <a:pt x="1317457" y="1389833"/>
                  </a:lnTo>
                  <a:cubicBezTo>
                    <a:pt x="1317457" y="1397945"/>
                    <a:pt x="1314234" y="1405726"/>
                    <a:pt x="1308498" y="1411462"/>
                  </a:cubicBezTo>
                  <a:cubicBezTo>
                    <a:pt x="1302761" y="1417198"/>
                    <a:pt x="1294981" y="1420421"/>
                    <a:pt x="1286868" y="1420421"/>
                  </a:cubicBezTo>
                  <a:lnTo>
                    <a:pt x="30588" y="1420421"/>
                  </a:lnTo>
                  <a:cubicBezTo>
                    <a:pt x="13695" y="1420421"/>
                    <a:pt x="0" y="1406726"/>
                    <a:pt x="0" y="1389833"/>
                  </a:cubicBezTo>
                  <a:lnTo>
                    <a:pt x="0" y="30588"/>
                  </a:lnTo>
                  <a:cubicBezTo>
                    <a:pt x="0" y="13695"/>
                    <a:pt x="13695" y="0"/>
                    <a:pt x="30588" y="0"/>
                  </a:cubicBezTo>
                  <a:close/>
                </a:path>
              </a:pathLst>
            </a:custGeom>
            <a:blipFill>
              <a:blip r:embed="rId4"/>
              <a:stretch>
                <a:fillRect l="-4583" r="-4583"/>
              </a:stretch>
            </a:blipFill>
          </p:spPr>
          <p:txBody>
            <a:bodyPr/>
            <a:lstStyle/>
            <a:p>
              <a:endParaRPr lang="es-PE"/>
            </a:p>
          </p:txBody>
        </p:sp>
      </p:grpSp>
      <p:sp>
        <p:nvSpPr>
          <p:cNvPr id="12" name="Freeform 12"/>
          <p:cNvSpPr/>
          <p:nvPr/>
        </p:nvSpPr>
        <p:spPr>
          <a:xfrm>
            <a:off x="1050927" y="832910"/>
            <a:ext cx="2466818" cy="944306"/>
          </a:xfrm>
          <a:custGeom>
            <a:avLst/>
            <a:gdLst/>
            <a:ahLst/>
            <a:cxnLst/>
            <a:rect l="l" t="t" r="r" b="b"/>
            <a:pathLst>
              <a:path w="2466818" h="944306">
                <a:moveTo>
                  <a:pt x="0" y="0"/>
                </a:moveTo>
                <a:lnTo>
                  <a:pt x="2466818" y="0"/>
                </a:lnTo>
                <a:lnTo>
                  <a:pt x="2466818" y="944306"/>
                </a:lnTo>
                <a:lnTo>
                  <a:pt x="0" y="944306"/>
                </a:lnTo>
                <a:lnTo>
                  <a:pt x="0" y="0"/>
                </a:lnTo>
                <a:close/>
              </a:path>
            </a:pathLst>
          </a:custGeom>
          <a:blipFill>
            <a:blip r:embed="rId5"/>
            <a:stretch>
              <a:fillRect/>
            </a:stretch>
          </a:blipFill>
        </p:spPr>
        <p:txBody>
          <a:bodyPr/>
          <a:lstStyle/>
          <a:p>
            <a:endParaRPr lang="es-PE"/>
          </a:p>
        </p:txBody>
      </p:sp>
      <p:sp>
        <p:nvSpPr>
          <p:cNvPr id="13" name="Freeform 13"/>
          <p:cNvSpPr/>
          <p:nvPr/>
        </p:nvSpPr>
        <p:spPr>
          <a:xfrm>
            <a:off x="14012245" y="832910"/>
            <a:ext cx="2900874" cy="835306"/>
          </a:xfrm>
          <a:custGeom>
            <a:avLst/>
            <a:gdLst/>
            <a:ahLst/>
            <a:cxnLst/>
            <a:rect l="l" t="t" r="r" b="b"/>
            <a:pathLst>
              <a:path w="2900874" h="835306">
                <a:moveTo>
                  <a:pt x="0" y="0"/>
                </a:moveTo>
                <a:lnTo>
                  <a:pt x="2900873" y="0"/>
                </a:lnTo>
                <a:lnTo>
                  <a:pt x="2900873" y="835306"/>
                </a:lnTo>
                <a:lnTo>
                  <a:pt x="0" y="835306"/>
                </a:lnTo>
                <a:lnTo>
                  <a:pt x="0" y="0"/>
                </a:lnTo>
                <a:close/>
              </a:path>
            </a:pathLst>
          </a:custGeom>
          <a:blipFill>
            <a:blip r:embed="rId6"/>
            <a:stretch>
              <a:fillRect/>
            </a:stretch>
          </a:blipFill>
        </p:spPr>
        <p:txBody>
          <a:bodyPr/>
          <a:lstStyle/>
          <a:p>
            <a:endParaRPr lang="es-PE"/>
          </a:p>
        </p:txBody>
      </p:sp>
      <p:sp>
        <p:nvSpPr>
          <p:cNvPr id="14" name="TextBox 14"/>
          <p:cNvSpPr txBox="1"/>
          <p:nvPr/>
        </p:nvSpPr>
        <p:spPr>
          <a:xfrm>
            <a:off x="1893595" y="2373142"/>
            <a:ext cx="11145705" cy="378969"/>
          </a:xfrm>
          <a:prstGeom prst="rect">
            <a:avLst/>
          </a:prstGeom>
        </p:spPr>
        <p:txBody>
          <a:bodyPr lIns="0" tIns="0" rIns="0" bIns="0" rtlCol="0" anchor="t">
            <a:spAutoFit/>
          </a:bodyPr>
          <a:lstStyle/>
          <a:p>
            <a:pPr algn="l">
              <a:lnSpc>
                <a:spcPts val="3001"/>
              </a:lnSpc>
            </a:pPr>
            <a:r>
              <a:rPr lang="en-US" sz="2500" b="1" spc="-50">
                <a:solidFill>
                  <a:srgbClr val="393939"/>
                </a:solidFill>
                <a:latin typeface="Open Sauce Bold"/>
                <a:ea typeface="Open Sauce Bold"/>
                <a:cs typeface="Open Sauce Bold"/>
                <a:sym typeface="Open Sauce Bold"/>
              </a:rPr>
              <a:t>GESTIÓN DE LAZO PRINCIPAL VS INTERRUPCIONES:</a:t>
            </a:r>
          </a:p>
        </p:txBody>
      </p:sp>
      <p:sp>
        <p:nvSpPr>
          <p:cNvPr id="15" name="TextBox 15"/>
          <p:cNvSpPr txBox="1"/>
          <p:nvPr/>
        </p:nvSpPr>
        <p:spPr>
          <a:xfrm>
            <a:off x="1886944" y="3243135"/>
            <a:ext cx="9473699" cy="6134100"/>
          </a:xfrm>
          <a:prstGeom prst="rect">
            <a:avLst/>
          </a:prstGeom>
        </p:spPr>
        <p:txBody>
          <a:bodyPr lIns="0" tIns="0" rIns="0" bIns="0" rtlCol="0" anchor="t">
            <a:spAutoFit/>
          </a:bodyPr>
          <a:lstStyle/>
          <a:p>
            <a:pPr algn="just">
              <a:lnSpc>
                <a:spcPts val="2110"/>
              </a:lnSpc>
            </a:pPr>
            <a:r>
              <a:rPr lang="en-US" sz="1758" spc="-35">
                <a:solidFill>
                  <a:srgbClr val="FFFFFF"/>
                </a:solidFill>
                <a:latin typeface="Open Sauce"/>
                <a:ea typeface="Open Sauce"/>
                <a:cs typeface="Open Sauce"/>
                <a:sym typeface="Open Sauce"/>
              </a:rPr>
              <a:t>Para que el sistema responda en tiempo real, se prohibió el uso de retardos bloqueantes como delay(). Usar un delay() congela el procesador (detiene el ciclo fetch-decode-execute), volviendo al sistema "ciego" ante los sensores.</a:t>
            </a:r>
          </a:p>
          <a:p>
            <a:pPr algn="just">
              <a:lnSpc>
                <a:spcPts val="2110"/>
              </a:lnSpc>
            </a:pPr>
            <a:endParaRPr lang="en-US" sz="1758" spc="-35">
              <a:solidFill>
                <a:srgbClr val="FFFFFF"/>
              </a:solidFill>
              <a:latin typeface="Open Sauce"/>
              <a:ea typeface="Open Sauce"/>
              <a:cs typeface="Open Sauce"/>
              <a:sym typeface="Open Sauce"/>
            </a:endParaRPr>
          </a:p>
          <a:p>
            <a:pPr algn="just">
              <a:lnSpc>
                <a:spcPts val="2110"/>
              </a:lnSpc>
            </a:pPr>
            <a:r>
              <a:rPr lang="en-US" sz="1758" spc="-35">
                <a:solidFill>
                  <a:srgbClr val="FFFFFF"/>
                </a:solidFill>
                <a:latin typeface="Open Sauce"/>
                <a:ea typeface="Open Sauce"/>
                <a:cs typeface="Open Sauce"/>
                <a:sym typeface="Open Sauce"/>
              </a:rPr>
              <a:t>Para solucionarlo, implementamos una arquitectura no bloqueante, dividiendo las tareas en dos roles claros:</a:t>
            </a:r>
          </a:p>
          <a:p>
            <a:pPr marL="379764" lvl="1" indent="-189882" algn="l">
              <a:lnSpc>
                <a:spcPts val="2110"/>
              </a:lnSpc>
              <a:buAutoNum type="arabicPeriod"/>
            </a:pPr>
            <a:r>
              <a:rPr lang="en-US" sz="1758" spc="-35">
                <a:solidFill>
                  <a:srgbClr val="FFFFFF"/>
                </a:solidFill>
                <a:latin typeface="Open Sauce"/>
                <a:ea typeface="Open Sauce"/>
                <a:cs typeface="Open Sauce"/>
                <a:sym typeface="Open Sauce"/>
              </a:rPr>
              <a:t>El Rol del Hardware (Temporización en segundo plano): El microcontrolador delega la cuenta del tiempo a su hardware interno (Timer0). A través de la función millis(), el sistema cuenta los milisegundos de forma autónoma mediante interrupciones (TIMER0_OVF_vect), sin necesidad de detener la ejecución del código.</a:t>
            </a:r>
          </a:p>
          <a:p>
            <a:pPr marL="379764" lvl="1" indent="-189882" algn="l">
              <a:lnSpc>
                <a:spcPts val="2110"/>
              </a:lnSpc>
              <a:buAutoNum type="arabicPeriod"/>
            </a:pPr>
            <a:r>
              <a:rPr lang="en-US" sz="1758" spc="-35">
                <a:solidFill>
                  <a:srgbClr val="FFFFFF"/>
                </a:solidFill>
                <a:latin typeface="Open Sauce"/>
                <a:ea typeface="Open Sauce"/>
                <a:cs typeface="Open Sauce"/>
                <a:sym typeface="Open Sauce"/>
              </a:rPr>
              <a:t>El Rol del Software (Lazo Principal y FSM): El procesador recorre el lazo infinito (loop) a máxima velocidad (16 MHz). Su único trabajo respecto al tiempo es preguntar periódicamente: ¿Ya pasó 1 segundo? (millis() - tiempoAnterior &gt;= 1000).</a:t>
            </a:r>
          </a:p>
          <a:p>
            <a:pPr algn="l">
              <a:lnSpc>
                <a:spcPts val="2110"/>
              </a:lnSpc>
            </a:pPr>
            <a:r>
              <a:rPr lang="en-US" sz="1758" spc="-35">
                <a:solidFill>
                  <a:srgbClr val="FFFFFF"/>
                </a:solidFill>
                <a:latin typeface="Open Sauce"/>
                <a:ea typeface="Open Sauce"/>
                <a:cs typeface="Open Sauce"/>
                <a:sym typeface="Open Sauce"/>
              </a:rPr>
              <a:t>→ Si es NO: El procesador salta la Máquina de Estados (FSM) y queda libre al instante para atender otras posibles tareas.</a:t>
            </a:r>
          </a:p>
          <a:p>
            <a:pPr algn="l">
              <a:lnSpc>
                <a:spcPts val="2110"/>
              </a:lnSpc>
            </a:pPr>
            <a:r>
              <a:rPr lang="en-US" sz="1758" spc="-35">
                <a:solidFill>
                  <a:srgbClr val="FFFFFF"/>
                </a:solidFill>
                <a:latin typeface="Open Sauce"/>
                <a:ea typeface="Open Sauce"/>
                <a:cs typeface="Open Sauce"/>
                <a:sym typeface="Open Sauce"/>
              </a:rPr>
              <a:t>→Si es SÍ: El procesador entra a la FSM, lee los sensores, decide si encender la bomba, e inmediatamente vuelve a salir al lazo continuo.</a:t>
            </a:r>
          </a:p>
          <a:p>
            <a:pPr algn="l">
              <a:lnSpc>
                <a:spcPts val="2110"/>
              </a:lnSpc>
            </a:pPr>
            <a:endParaRPr lang="en-US" sz="1758" spc="-35">
              <a:solidFill>
                <a:srgbClr val="FFFFFF"/>
              </a:solidFill>
              <a:latin typeface="Open Sauce"/>
              <a:ea typeface="Open Sauce"/>
              <a:cs typeface="Open Sauce"/>
              <a:sym typeface="Open Sauce"/>
            </a:endParaRPr>
          </a:p>
          <a:p>
            <a:pPr algn="just">
              <a:lnSpc>
                <a:spcPts val="2110"/>
              </a:lnSpc>
            </a:pPr>
            <a:r>
              <a:rPr lang="en-US" sz="1758" spc="-35">
                <a:solidFill>
                  <a:srgbClr val="FFFFFF"/>
                </a:solidFill>
                <a:latin typeface="Open Sauce"/>
                <a:ea typeface="Open Sauce"/>
                <a:cs typeface="Open Sauce"/>
                <a:sym typeface="Open Sauce"/>
              </a:rPr>
              <a:t>Conclusión: Este desacoplamiento lógico garantiza que la Unidad de Control nunca se estanque en bucles vacíos. El sistema se vuelve multitarea (Soft Real-Time), dejando recursos libres para futuras integraciones IoT sin comprometer la estabilidad del riego local.</a:t>
            </a:r>
          </a:p>
          <a:p>
            <a:pPr algn="just">
              <a:lnSpc>
                <a:spcPts val="2110"/>
              </a:lnSpc>
            </a:pPr>
            <a:endParaRPr lang="en-US" sz="1758" spc="-35">
              <a:solidFill>
                <a:srgbClr val="FFFFFF"/>
              </a:solidFill>
              <a:latin typeface="Open Sauce"/>
              <a:ea typeface="Open Sauce"/>
              <a:cs typeface="Open Sauce"/>
              <a:sym typeface="Open Sauc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17241" y="3061352"/>
            <a:ext cx="7299791" cy="6113575"/>
          </a:xfrm>
          <a:custGeom>
            <a:avLst/>
            <a:gdLst/>
            <a:ahLst/>
            <a:cxnLst/>
            <a:rect l="l" t="t" r="r" b="b"/>
            <a:pathLst>
              <a:path w="7299791" h="6113575">
                <a:moveTo>
                  <a:pt x="0" y="0"/>
                </a:moveTo>
                <a:lnTo>
                  <a:pt x="7299791" y="0"/>
                </a:lnTo>
                <a:lnTo>
                  <a:pt x="7299791" y="6113575"/>
                </a:lnTo>
                <a:lnTo>
                  <a:pt x="0" y="6113575"/>
                </a:lnTo>
                <a:lnTo>
                  <a:pt x="0" y="0"/>
                </a:lnTo>
                <a:close/>
              </a:path>
            </a:pathLst>
          </a:custGeom>
          <a:blipFill>
            <a:blip r:embed="rId2"/>
            <a:stretch>
              <a:fillRect/>
            </a:stretch>
          </a:blipFill>
          <a:ln w="38100" cap="sq">
            <a:solidFill>
              <a:srgbClr val="000000"/>
            </a:solidFill>
            <a:prstDash val="solid"/>
            <a:miter/>
          </a:ln>
        </p:spPr>
        <p:txBody>
          <a:bodyPr/>
          <a:lstStyle/>
          <a:p>
            <a:endParaRPr lang="es-PE"/>
          </a:p>
        </p:txBody>
      </p:sp>
      <p:sp>
        <p:nvSpPr>
          <p:cNvPr id="3" name="Freeform 3"/>
          <p:cNvSpPr/>
          <p:nvPr/>
        </p:nvSpPr>
        <p:spPr>
          <a:xfrm>
            <a:off x="9908300" y="3013727"/>
            <a:ext cx="7511530" cy="6065561"/>
          </a:xfrm>
          <a:custGeom>
            <a:avLst/>
            <a:gdLst/>
            <a:ahLst/>
            <a:cxnLst/>
            <a:rect l="l" t="t" r="r" b="b"/>
            <a:pathLst>
              <a:path w="7511530" h="6065561">
                <a:moveTo>
                  <a:pt x="0" y="0"/>
                </a:moveTo>
                <a:lnTo>
                  <a:pt x="7511531" y="0"/>
                </a:lnTo>
                <a:lnTo>
                  <a:pt x="7511531" y="6065561"/>
                </a:lnTo>
                <a:lnTo>
                  <a:pt x="0" y="6065561"/>
                </a:lnTo>
                <a:lnTo>
                  <a:pt x="0" y="0"/>
                </a:lnTo>
                <a:close/>
              </a:path>
            </a:pathLst>
          </a:custGeom>
          <a:blipFill>
            <a:blip r:embed="rId3"/>
            <a:stretch>
              <a:fillRect/>
            </a:stretch>
          </a:blipFill>
          <a:ln w="38100" cap="sq">
            <a:solidFill>
              <a:srgbClr val="000000"/>
            </a:solidFill>
            <a:prstDash val="solid"/>
            <a:miter/>
          </a:ln>
        </p:spPr>
        <p:txBody>
          <a:bodyPr/>
          <a:lstStyle/>
          <a:p>
            <a:endParaRPr lang="es-PE"/>
          </a:p>
        </p:txBody>
      </p:sp>
      <p:sp>
        <p:nvSpPr>
          <p:cNvPr id="4" name="TextBox 4"/>
          <p:cNvSpPr txBox="1"/>
          <p:nvPr/>
        </p:nvSpPr>
        <p:spPr>
          <a:xfrm>
            <a:off x="1717241" y="248051"/>
            <a:ext cx="14853517" cy="1828800"/>
          </a:xfrm>
          <a:prstGeom prst="rect">
            <a:avLst/>
          </a:prstGeom>
        </p:spPr>
        <p:txBody>
          <a:bodyPr lIns="0" tIns="0" rIns="0" bIns="0" rtlCol="0" anchor="t">
            <a:spAutoFit/>
          </a:bodyPr>
          <a:lstStyle/>
          <a:p>
            <a:pPr algn="ctr">
              <a:lnSpc>
                <a:spcPts val="7258"/>
              </a:lnSpc>
            </a:pPr>
            <a:r>
              <a:rPr lang="en-US" sz="6049" b="1" spc="-453">
                <a:solidFill>
                  <a:srgbClr val="72A220"/>
                </a:solidFill>
                <a:latin typeface="Open Sauce Bold"/>
                <a:ea typeface="Open Sauce Bold"/>
                <a:cs typeface="Open Sauce Bold"/>
                <a:sym typeface="Open Sauce Bold"/>
              </a:rPr>
              <a:t>Módulo de Evidencia, Simulación y Demo Funcional</a:t>
            </a:r>
          </a:p>
        </p:txBody>
      </p:sp>
      <p:sp>
        <p:nvSpPr>
          <p:cNvPr id="5" name="TextBox 5"/>
          <p:cNvSpPr txBox="1"/>
          <p:nvPr/>
        </p:nvSpPr>
        <p:spPr>
          <a:xfrm>
            <a:off x="1717241" y="2423177"/>
            <a:ext cx="11946824" cy="295275"/>
          </a:xfrm>
          <a:prstGeom prst="rect">
            <a:avLst/>
          </a:prstGeom>
        </p:spPr>
        <p:txBody>
          <a:bodyPr lIns="0" tIns="0" rIns="0" bIns="0" rtlCol="0" anchor="t">
            <a:spAutoFit/>
          </a:bodyPr>
          <a:lstStyle/>
          <a:p>
            <a:pPr algn="l">
              <a:lnSpc>
                <a:spcPts val="2399"/>
              </a:lnSpc>
            </a:pPr>
            <a:r>
              <a:rPr lang="en-US" sz="1999" spc="-39">
                <a:solidFill>
                  <a:srgbClr val="393939"/>
                </a:solidFill>
                <a:latin typeface="Open Sauce"/>
                <a:ea typeface="Open Sauce"/>
                <a:cs typeface="Open Sauce"/>
                <a:sym typeface="Open Sauce"/>
              </a:rPr>
              <a:t>Capturas del monitor serie mostrando las lecturas correctas de los sensores de humedad</a:t>
            </a:r>
          </a:p>
        </p:txBody>
      </p:sp>
      <p:sp>
        <p:nvSpPr>
          <p:cNvPr id="6" name="TextBox 6"/>
          <p:cNvSpPr txBox="1"/>
          <p:nvPr/>
        </p:nvSpPr>
        <p:spPr>
          <a:xfrm>
            <a:off x="1717241" y="9500528"/>
            <a:ext cx="7426759" cy="590550"/>
          </a:xfrm>
          <a:prstGeom prst="rect">
            <a:avLst/>
          </a:prstGeom>
        </p:spPr>
        <p:txBody>
          <a:bodyPr lIns="0" tIns="0" rIns="0" bIns="0" rtlCol="0" anchor="t">
            <a:spAutoFit/>
          </a:bodyPr>
          <a:lstStyle/>
          <a:p>
            <a:pPr algn="l">
              <a:lnSpc>
                <a:spcPts val="2399"/>
              </a:lnSpc>
            </a:pPr>
            <a:r>
              <a:rPr lang="en-US" sz="1999" spc="-39">
                <a:solidFill>
                  <a:srgbClr val="393939"/>
                </a:solidFill>
                <a:latin typeface="Open Sauce"/>
                <a:ea typeface="Open Sauce"/>
                <a:cs typeface="Open Sauce"/>
                <a:sym typeface="Open Sauce"/>
              </a:rPr>
              <a:t>Humedad al 0%, al observar los sensores por lo tanto la bomba se encuentra en estado ON</a:t>
            </a:r>
          </a:p>
        </p:txBody>
      </p:sp>
      <p:sp>
        <p:nvSpPr>
          <p:cNvPr id="7" name="TextBox 7"/>
          <p:cNvSpPr txBox="1"/>
          <p:nvPr/>
        </p:nvSpPr>
        <p:spPr>
          <a:xfrm>
            <a:off x="9832541" y="9500528"/>
            <a:ext cx="7426759" cy="590550"/>
          </a:xfrm>
          <a:prstGeom prst="rect">
            <a:avLst/>
          </a:prstGeom>
        </p:spPr>
        <p:txBody>
          <a:bodyPr lIns="0" tIns="0" rIns="0" bIns="0" rtlCol="0" anchor="t">
            <a:spAutoFit/>
          </a:bodyPr>
          <a:lstStyle/>
          <a:p>
            <a:pPr algn="l">
              <a:lnSpc>
                <a:spcPts val="2399"/>
              </a:lnSpc>
            </a:pPr>
            <a:r>
              <a:rPr lang="en-US" sz="1999" spc="-39">
                <a:solidFill>
                  <a:srgbClr val="393939"/>
                </a:solidFill>
                <a:latin typeface="Open Sauce"/>
                <a:ea typeface="Open Sauce"/>
                <a:cs typeface="Open Sauce"/>
                <a:sym typeface="Open Sauce"/>
              </a:rPr>
              <a:t>Humedad al 82%, al observar los sensores por lo tanto la bomba se encuentra en estado OFF</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816955" y="3217738"/>
            <a:ext cx="5780389" cy="2701517"/>
          </a:xfrm>
          <a:custGeom>
            <a:avLst/>
            <a:gdLst/>
            <a:ahLst/>
            <a:cxnLst/>
            <a:rect l="l" t="t" r="r" b="b"/>
            <a:pathLst>
              <a:path w="5780389" h="2701517">
                <a:moveTo>
                  <a:pt x="0" y="0"/>
                </a:moveTo>
                <a:lnTo>
                  <a:pt x="5780389" y="0"/>
                </a:lnTo>
                <a:lnTo>
                  <a:pt x="5780389" y="2701517"/>
                </a:lnTo>
                <a:lnTo>
                  <a:pt x="0" y="2701517"/>
                </a:lnTo>
                <a:lnTo>
                  <a:pt x="0" y="0"/>
                </a:lnTo>
                <a:close/>
              </a:path>
            </a:pathLst>
          </a:custGeom>
          <a:blipFill>
            <a:blip r:embed="rId2"/>
            <a:stretch>
              <a:fillRect/>
            </a:stretch>
          </a:blipFill>
        </p:spPr>
        <p:txBody>
          <a:bodyPr/>
          <a:lstStyle/>
          <a:p>
            <a:endParaRPr lang="es-PE"/>
          </a:p>
        </p:txBody>
      </p:sp>
      <p:sp>
        <p:nvSpPr>
          <p:cNvPr id="3" name="Freeform 3"/>
          <p:cNvSpPr/>
          <p:nvPr/>
        </p:nvSpPr>
        <p:spPr>
          <a:xfrm>
            <a:off x="1402774" y="3112118"/>
            <a:ext cx="6104247" cy="2912757"/>
          </a:xfrm>
          <a:custGeom>
            <a:avLst/>
            <a:gdLst/>
            <a:ahLst/>
            <a:cxnLst/>
            <a:rect l="l" t="t" r="r" b="b"/>
            <a:pathLst>
              <a:path w="6104247" h="2912757">
                <a:moveTo>
                  <a:pt x="0" y="0"/>
                </a:moveTo>
                <a:lnTo>
                  <a:pt x="6104247" y="0"/>
                </a:lnTo>
                <a:lnTo>
                  <a:pt x="6104247" y="2912757"/>
                </a:lnTo>
                <a:lnTo>
                  <a:pt x="0" y="2912757"/>
                </a:lnTo>
                <a:lnTo>
                  <a:pt x="0" y="0"/>
                </a:lnTo>
                <a:close/>
              </a:path>
            </a:pathLst>
          </a:custGeom>
          <a:blipFill>
            <a:blip r:embed="rId3"/>
            <a:stretch>
              <a:fillRect/>
            </a:stretch>
          </a:blipFill>
        </p:spPr>
        <p:txBody>
          <a:bodyPr/>
          <a:lstStyle/>
          <a:p>
            <a:endParaRPr lang="es-PE"/>
          </a:p>
        </p:txBody>
      </p:sp>
      <p:sp>
        <p:nvSpPr>
          <p:cNvPr id="4" name="Freeform 4"/>
          <p:cNvSpPr/>
          <p:nvPr/>
        </p:nvSpPr>
        <p:spPr>
          <a:xfrm>
            <a:off x="9233636" y="7381267"/>
            <a:ext cx="7337122" cy="2099917"/>
          </a:xfrm>
          <a:custGeom>
            <a:avLst/>
            <a:gdLst/>
            <a:ahLst/>
            <a:cxnLst/>
            <a:rect l="l" t="t" r="r" b="b"/>
            <a:pathLst>
              <a:path w="7337122" h="2099917">
                <a:moveTo>
                  <a:pt x="0" y="0"/>
                </a:moveTo>
                <a:lnTo>
                  <a:pt x="7337123" y="0"/>
                </a:lnTo>
                <a:lnTo>
                  <a:pt x="7337123" y="2099917"/>
                </a:lnTo>
                <a:lnTo>
                  <a:pt x="0" y="2099917"/>
                </a:lnTo>
                <a:lnTo>
                  <a:pt x="0" y="0"/>
                </a:lnTo>
                <a:close/>
              </a:path>
            </a:pathLst>
          </a:custGeom>
          <a:blipFill>
            <a:blip r:embed="rId4"/>
            <a:stretch>
              <a:fillRect r="-2679"/>
            </a:stretch>
          </a:blipFill>
          <a:ln w="38100" cap="sq">
            <a:solidFill>
              <a:srgbClr val="000000"/>
            </a:solidFill>
            <a:prstDash val="solid"/>
            <a:miter/>
          </a:ln>
        </p:spPr>
        <p:txBody>
          <a:bodyPr/>
          <a:lstStyle/>
          <a:p>
            <a:endParaRPr lang="es-PE"/>
          </a:p>
        </p:txBody>
      </p:sp>
      <p:sp>
        <p:nvSpPr>
          <p:cNvPr id="5" name="Freeform 5"/>
          <p:cNvSpPr/>
          <p:nvPr/>
        </p:nvSpPr>
        <p:spPr>
          <a:xfrm>
            <a:off x="1402774" y="7423176"/>
            <a:ext cx="6497931" cy="2016099"/>
          </a:xfrm>
          <a:custGeom>
            <a:avLst/>
            <a:gdLst/>
            <a:ahLst/>
            <a:cxnLst/>
            <a:rect l="l" t="t" r="r" b="b"/>
            <a:pathLst>
              <a:path w="6497931" h="2016099">
                <a:moveTo>
                  <a:pt x="0" y="0"/>
                </a:moveTo>
                <a:lnTo>
                  <a:pt x="6497932" y="0"/>
                </a:lnTo>
                <a:lnTo>
                  <a:pt x="6497932" y="2016099"/>
                </a:lnTo>
                <a:lnTo>
                  <a:pt x="0" y="2016099"/>
                </a:lnTo>
                <a:lnTo>
                  <a:pt x="0" y="0"/>
                </a:lnTo>
                <a:close/>
              </a:path>
            </a:pathLst>
          </a:custGeom>
          <a:blipFill>
            <a:blip r:embed="rId5"/>
            <a:stretch>
              <a:fillRect b="-9961"/>
            </a:stretch>
          </a:blipFill>
          <a:ln w="38100" cap="sq">
            <a:solidFill>
              <a:srgbClr val="000000"/>
            </a:solidFill>
            <a:prstDash val="solid"/>
            <a:miter/>
          </a:ln>
        </p:spPr>
        <p:txBody>
          <a:bodyPr/>
          <a:lstStyle/>
          <a:p>
            <a:endParaRPr lang="es-PE"/>
          </a:p>
        </p:txBody>
      </p:sp>
      <p:sp>
        <p:nvSpPr>
          <p:cNvPr id="6" name="TextBox 6"/>
          <p:cNvSpPr txBox="1"/>
          <p:nvPr/>
        </p:nvSpPr>
        <p:spPr>
          <a:xfrm>
            <a:off x="1717241" y="400451"/>
            <a:ext cx="14853517" cy="1828800"/>
          </a:xfrm>
          <a:prstGeom prst="rect">
            <a:avLst/>
          </a:prstGeom>
        </p:spPr>
        <p:txBody>
          <a:bodyPr lIns="0" tIns="0" rIns="0" bIns="0" rtlCol="0" anchor="t">
            <a:spAutoFit/>
          </a:bodyPr>
          <a:lstStyle/>
          <a:p>
            <a:pPr algn="ctr">
              <a:lnSpc>
                <a:spcPts val="7258"/>
              </a:lnSpc>
            </a:pPr>
            <a:r>
              <a:rPr lang="en-US" sz="6049" b="1" spc="-453">
                <a:solidFill>
                  <a:srgbClr val="72A220"/>
                </a:solidFill>
                <a:latin typeface="Open Sauce Bold"/>
                <a:ea typeface="Open Sauce Bold"/>
                <a:cs typeface="Open Sauce Bold"/>
                <a:sym typeface="Open Sauce Bold"/>
              </a:rPr>
              <a:t>Módulo de Evidencia, Simulación y Demo Funcional</a:t>
            </a:r>
          </a:p>
        </p:txBody>
      </p:sp>
      <p:sp>
        <p:nvSpPr>
          <p:cNvPr id="7" name="TextBox 7"/>
          <p:cNvSpPr txBox="1"/>
          <p:nvPr/>
        </p:nvSpPr>
        <p:spPr>
          <a:xfrm>
            <a:off x="1402774" y="2454350"/>
            <a:ext cx="4325058" cy="295275"/>
          </a:xfrm>
          <a:prstGeom prst="rect">
            <a:avLst/>
          </a:prstGeom>
        </p:spPr>
        <p:txBody>
          <a:bodyPr lIns="0" tIns="0" rIns="0" bIns="0" rtlCol="0" anchor="t">
            <a:spAutoFit/>
          </a:bodyPr>
          <a:lstStyle/>
          <a:p>
            <a:pPr algn="l">
              <a:lnSpc>
                <a:spcPts val="2399"/>
              </a:lnSpc>
            </a:pPr>
            <a:r>
              <a:rPr lang="en-US" sz="1999" spc="-39">
                <a:solidFill>
                  <a:srgbClr val="393939"/>
                </a:solidFill>
                <a:latin typeface="Open Sauce"/>
                <a:ea typeface="Open Sauce"/>
                <a:cs typeface="Open Sauce"/>
                <a:sym typeface="Open Sauce"/>
              </a:rPr>
              <a:t>Ampliaciones de los monitores LCD</a:t>
            </a:r>
          </a:p>
        </p:txBody>
      </p:sp>
      <p:sp>
        <p:nvSpPr>
          <p:cNvPr id="8" name="TextBox 8"/>
          <p:cNvSpPr txBox="1"/>
          <p:nvPr/>
        </p:nvSpPr>
        <p:spPr>
          <a:xfrm>
            <a:off x="1402774" y="6575451"/>
            <a:ext cx="10653150" cy="295275"/>
          </a:xfrm>
          <a:prstGeom prst="rect">
            <a:avLst/>
          </a:prstGeom>
        </p:spPr>
        <p:txBody>
          <a:bodyPr lIns="0" tIns="0" rIns="0" bIns="0" rtlCol="0" anchor="t">
            <a:spAutoFit/>
          </a:bodyPr>
          <a:lstStyle/>
          <a:p>
            <a:pPr algn="l">
              <a:lnSpc>
                <a:spcPts val="2399"/>
              </a:lnSpc>
            </a:pPr>
            <a:r>
              <a:rPr lang="en-US" sz="1999" spc="-39">
                <a:solidFill>
                  <a:srgbClr val="393939"/>
                </a:solidFill>
                <a:latin typeface="Open Sauce"/>
                <a:ea typeface="Open Sauce"/>
                <a:cs typeface="Open Sauce"/>
                <a:sym typeface="Open Sauce"/>
              </a:rPr>
              <a:t>Aquí apreciamos el cambio de estado de la bomba en la terminal del código de tinkercad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rcRect l="2562" t="10901"/>
          <a:stretch>
            <a:fillRect/>
          </a:stretch>
        </p:blipFill>
        <p:spPr>
          <a:xfrm>
            <a:off x="1717241" y="2229251"/>
            <a:ext cx="14918543" cy="7332443"/>
          </a:xfrm>
          <a:prstGeom prst="rect">
            <a:avLst/>
          </a:prstGeom>
          <a:ln w="38100" cap="sq">
            <a:solidFill>
              <a:srgbClr val="000000"/>
            </a:solidFill>
            <a:prstDash val="solid"/>
          </a:ln>
        </p:spPr>
      </p:pic>
      <p:sp>
        <p:nvSpPr>
          <p:cNvPr id="3" name="TextBox 3"/>
          <p:cNvSpPr txBox="1"/>
          <p:nvPr/>
        </p:nvSpPr>
        <p:spPr>
          <a:xfrm>
            <a:off x="1717241" y="793576"/>
            <a:ext cx="14853517" cy="809625"/>
          </a:xfrm>
          <a:prstGeom prst="rect">
            <a:avLst/>
          </a:prstGeom>
        </p:spPr>
        <p:txBody>
          <a:bodyPr lIns="0" tIns="0" rIns="0" bIns="0" rtlCol="0" anchor="t">
            <a:spAutoFit/>
          </a:bodyPr>
          <a:lstStyle/>
          <a:p>
            <a:pPr algn="ctr">
              <a:lnSpc>
                <a:spcPts val="6418"/>
              </a:lnSpc>
            </a:pPr>
            <a:r>
              <a:rPr lang="en-US" sz="5349" b="1" spc="-401">
                <a:solidFill>
                  <a:srgbClr val="72A220"/>
                </a:solidFill>
                <a:latin typeface="Open Sauce Bold"/>
                <a:ea typeface="Open Sauce Bold"/>
                <a:cs typeface="Open Sauce Bold"/>
                <a:sym typeface="Open Sauce Bold"/>
              </a:rPr>
              <a:t>Módulo de Evidencia, Simulación y Demo Funcional</a:t>
            </a:r>
          </a:p>
        </p:txBody>
      </p:sp>
    </p:spTree>
  </p:cSld>
  <p:clrMapOvr>
    <a:masterClrMapping/>
  </p:clrMapOvr>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237799"/>
            <a:ext cx="6767242" cy="7020501"/>
            <a:chOff x="0" y="0"/>
            <a:chExt cx="2033948" cy="2110067"/>
          </a:xfrm>
        </p:grpSpPr>
        <p:sp>
          <p:nvSpPr>
            <p:cNvPr id="3" name="Freeform 3"/>
            <p:cNvSpPr/>
            <p:nvPr/>
          </p:nvSpPr>
          <p:spPr>
            <a:xfrm>
              <a:off x="0" y="0"/>
              <a:ext cx="2033948" cy="2110067"/>
            </a:xfrm>
            <a:custGeom>
              <a:avLst/>
              <a:gdLst/>
              <a:ahLst/>
              <a:cxnLst/>
              <a:rect l="l" t="t" r="r" b="b"/>
              <a:pathLst>
                <a:path w="2033948" h="2110067">
                  <a:moveTo>
                    <a:pt x="22881" y="0"/>
                  </a:moveTo>
                  <a:lnTo>
                    <a:pt x="2011067" y="0"/>
                  </a:lnTo>
                  <a:cubicBezTo>
                    <a:pt x="2017135" y="0"/>
                    <a:pt x="2022955" y="2411"/>
                    <a:pt x="2027246" y="6702"/>
                  </a:cubicBezTo>
                  <a:cubicBezTo>
                    <a:pt x="2031537" y="10993"/>
                    <a:pt x="2033948" y="16812"/>
                    <a:pt x="2033948" y="22881"/>
                  </a:cubicBezTo>
                  <a:lnTo>
                    <a:pt x="2033948" y="2087186"/>
                  </a:lnTo>
                  <a:cubicBezTo>
                    <a:pt x="2033948" y="2093254"/>
                    <a:pt x="2031537" y="2099074"/>
                    <a:pt x="2027246" y="2103365"/>
                  </a:cubicBezTo>
                  <a:cubicBezTo>
                    <a:pt x="2022955" y="2107656"/>
                    <a:pt x="2017135" y="2110067"/>
                    <a:pt x="2011067" y="2110067"/>
                  </a:cubicBezTo>
                  <a:lnTo>
                    <a:pt x="22881" y="2110067"/>
                  </a:lnTo>
                  <a:cubicBezTo>
                    <a:pt x="16812" y="2110067"/>
                    <a:pt x="10993" y="2107656"/>
                    <a:pt x="6702" y="2103365"/>
                  </a:cubicBezTo>
                  <a:cubicBezTo>
                    <a:pt x="2411" y="2099074"/>
                    <a:pt x="0" y="2093254"/>
                    <a:pt x="0" y="2087186"/>
                  </a:cubicBezTo>
                  <a:lnTo>
                    <a:pt x="0" y="22881"/>
                  </a:lnTo>
                  <a:cubicBezTo>
                    <a:pt x="0" y="16812"/>
                    <a:pt x="2411" y="10993"/>
                    <a:pt x="6702" y="6702"/>
                  </a:cubicBezTo>
                  <a:cubicBezTo>
                    <a:pt x="10993" y="2411"/>
                    <a:pt x="16812" y="0"/>
                    <a:pt x="22881" y="0"/>
                  </a:cubicBezTo>
                  <a:close/>
                </a:path>
              </a:pathLst>
            </a:custGeom>
            <a:blipFill>
              <a:blip r:embed="rId2"/>
              <a:stretch>
                <a:fillRect l="-27736" r="-27736"/>
              </a:stretch>
            </a:blipFill>
          </p:spPr>
          <p:txBody>
            <a:bodyPr/>
            <a:lstStyle/>
            <a:p>
              <a:endParaRPr lang="es-PE"/>
            </a:p>
          </p:txBody>
        </p:sp>
      </p:grpSp>
      <p:sp>
        <p:nvSpPr>
          <p:cNvPr id="4" name="TextBox 4"/>
          <p:cNvSpPr txBox="1"/>
          <p:nvPr/>
        </p:nvSpPr>
        <p:spPr>
          <a:xfrm>
            <a:off x="8178844" y="3490625"/>
            <a:ext cx="8690256" cy="2257425"/>
          </a:xfrm>
          <a:prstGeom prst="rect">
            <a:avLst/>
          </a:prstGeom>
        </p:spPr>
        <p:txBody>
          <a:bodyPr lIns="0" tIns="0" rIns="0" bIns="0" rtlCol="0" anchor="t">
            <a:spAutoFit/>
          </a:bodyPr>
          <a:lstStyle/>
          <a:p>
            <a:pPr algn="ctr">
              <a:lnSpc>
                <a:spcPts val="17886"/>
              </a:lnSpc>
            </a:pPr>
            <a:r>
              <a:rPr lang="en-US" sz="14905" b="1" spc="-1117">
                <a:solidFill>
                  <a:srgbClr val="72A220"/>
                </a:solidFill>
                <a:latin typeface="Open Sauce Bold"/>
                <a:ea typeface="Open Sauce Bold"/>
                <a:cs typeface="Open Sauce Bold"/>
                <a:sym typeface="Open Sauce Bold"/>
              </a:rPr>
              <a:t>Gracias</a:t>
            </a:r>
          </a:p>
        </p:txBody>
      </p:sp>
      <p:sp>
        <p:nvSpPr>
          <p:cNvPr id="5" name="Freeform 5"/>
          <p:cNvSpPr/>
          <p:nvPr/>
        </p:nvSpPr>
        <p:spPr>
          <a:xfrm>
            <a:off x="5897880" y="4494276"/>
            <a:ext cx="6492240" cy="1298448"/>
          </a:xfrm>
          <a:custGeom>
            <a:avLst/>
            <a:gdLst/>
            <a:ahLst/>
            <a:cxnLst/>
            <a:rect l="l" t="t" r="r" b="b"/>
            <a:pathLst>
              <a:path w="6492240" h="1298448">
                <a:moveTo>
                  <a:pt x="0" y="0"/>
                </a:moveTo>
                <a:lnTo>
                  <a:pt x="3017520" y="0"/>
                </a:lnTo>
                <a:cubicBezTo>
                  <a:pt x="3143772" y="0"/>
                  <a:pt x="3246120" y="102348"/>
                  <a:pt x="3246120" y="228600"/>
                </a:cubicBezTo>
                <a:lnTo>
                  <a:pt x="3246120" y="1069848"/>
                </a:lnTo>
                <a:cubicBezTo>
                  <a:pt x="3246120" y="1130476"/>
                  <a:pt x="3270205" y="1188622"/>
                  <a:pt x="3313076" y="1231493"/>
                </a:cubicBezTo>
                <a:cubicBezTo>
                  <a:pt x="3355946" y="1274363"/>
                  <a:pt x="3414091" y="1298448"/>
                  <a:pt x="3474720" y="1298448"/>
                </a:cubicBezTo>
                <a:lnTo>
                  <a:pt x="6492240" y="1298448"/>
                </a:lnTo>
              </a:path>
            </a:pathLst>
          </a:custGeom>
          <a:ln w="38100" cap="flat">
            <a:solidFill>
              <a:srgbClr val="000000"/>
            </a:solidFill>
            <a:prstDash val="solid"/>
            <a:headEnd type="none" w="sm" len="sm"/>
            <a:tailEnd type="none" w="sm" len="sm"/>
          </a:ln>
        </p:spPr>
        <p:txBody>
          <a:bodyPr/>
          <a:lstStyle/>
          <a:p>
            <a:endParaRPr lang="es-P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1735</Words>
  <Application>Microsoft Office PowerPoint</Application>
  <PresentationFormat>Personalizado</PresentationFormat>
  <Paragraphs>102</Paragraphs>
  <Slides>16</Slides>
  <Notes>0</Notes>
  <HiddenSlides>0</HiddenSlides>
  <MMClips>1</MMClips>
  <ScaleCrop>false</ScaleCrop>
  <HeadingPairs>
    <vt:vector size="8" baseType="variant">
      <vt:variant>
        <vt:lpstr>Fuentes usadas</vt:lpstr>
      </vt:variant>
      <vt:variant>
        <vt:i4>8</vt:i4>
      </vt:variant>
      <vt:variant>
        <vt:lpstr>Tema</vt:lpstr>
      </vt:variant>
      <vt:variant>
        <vt:i4>1</vt:i4>
      </vt:variant>
      <vt:variant>
        <vt:lpstr>Servidores OLE incrustados</vt:lpstr>
      </vt:variant>
      <vt:variant>
        <vt:i4>2</vt:i4>
      </vt:variant>
      <vt:variant>
        <vt:lpstr>Títulos de diapositiva</vt:lpstr>
      </vt:variant>
      <vt:variant>
        <vt:i4>16</vt:i4>
      </vt:variant>
    </vt:vector>
  </HeadingPairs>
  <TitlesOfParts>
    <vt:vector size="27" baseType="lpstr">
      <vt:lpstr>SK Primo</vt:lpstr>
      <vt:lpstr>Cranberry</vt:lpstr>
      <vt:lpstr>Arial</vt:lpstr>
      <vt:lpstr>Open Sauce</vt:lpstr>
      <vt:lpstr>Open Sauce Bold</vt:lpstr>
      <vt:lpstr>DM Sans</vt:lpstr>
      <vt:lpstr>Calibri</vt:lpstr>
      <vt:lpstr>DM Sans Bold</vt:lpstr>
      <vt:lpstr>Office Theme</vt:lpstr>
      <vt:lpstr>Worksheet</vt:lpstr>
      <vt:lpstr>Hoja de cálculo de Microsoft Excel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Equipo 7 - Sistema de Riego Automatizado</dc:title>
  <cp:lastModifiedBy>Arnold Alonzo Salcedo Mego</cp:lastModifiedBy>
  <cp:revision>2</cp:revision>
  <dcterms:created xsi:type="dcterms:W3CDTF">2006-08-16T00:00:00Z</dcterms:created>
  <dcterms:modified xsi:type="dcterms:W3CDTF">2026-06-10T18:04:36Z</dcterms:modified>
  <dc:identifier>DAHK1Qp-CKM</dc:identifier>
</cp:coreProperties>
</file>