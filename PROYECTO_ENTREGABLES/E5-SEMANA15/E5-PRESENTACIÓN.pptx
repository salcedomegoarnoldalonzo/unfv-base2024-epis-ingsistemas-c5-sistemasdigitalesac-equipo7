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Gotham Bold" charset="1" panose="00000000000000000000"/>
      <p:regular r:id="rId22"/>
    </p:embeddedFont>
    <p:embeddedFont>
      <p:font typeface="Poppins" charset="1" panose="00000500000000000000"/>
      <p:regular r:id="rId23"/>
    </p:embeddedFont>
    <p:embeddedFont>
      <p:font typeface="Nunito" charset="1" panose="00000000000000000000"/>
      <p:regular r:id="rId24"/>
    </p:embeddedFont>
    <p:embeddedFont>
      <p:font typeface="Poppins Medium" charset="1" panose="00000600000000000000"/>
      <p:regular r:id="rId25"/>
    </p:embeddedFont>
    <p:embeddedFont>
      <p:font typeface="Nunito Semi-Bold" charset="1" panose="00000000000000000000"/>
      <p:regular r:id="rId26"/>
    </p:embeddedFont>
    <p:embeddedFont>
      <p:font typeface="Nunito Bold" charset="1" panose="00000000000000000000"/>
      <p:regular r:id="rId27"/>
    </p:embeddedFont>
    <p:embeddedFont>
      <p:font typeface="Poppins Light" charset="1" panose="0000040000000000000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8.pn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11" Target="../media/image22.pn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pn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png" Type="http://schemas.openxmlformats.org/officeDocument/2006/relationships/image"/><Relationship Id="rId2" Target="../media/image27.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2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30.png" Type="http://schemas.openxmlformats.org/officeDocument/2006/relationships/image"/><Relationship Id="rId9" Target="../embeddings/oleObject1.bin" Type="http://schemas.openxmlformats.org/officeDocument/2006/relationships/oleObjec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pn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png" Type="http://schemas.openxmlformats.org/officeDocument/2006/relationships/image"/><Relationship Id="rId4" Target="../media/image36.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svg" Type="http://schemas.openxmlformats.org/officeDocument/2006/relationships/image"/><Relationship Id="rId2" Target="../media/image37.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430768" y="4646344"/>
            <a:ext cx="5455035" cy="5106842"/>
            <a:chOff x="0" y="0"/>
            <a:chExt cx="596900" cy="558800"/>
          </a:xfrm>
        </p:grpSpPr>
        <p:sp>
          <p:nvSpPr>
            <p:cNvPr name="Freeform 3" id="3"/>
            <p:cNvSpPr/>
            <p:nvPr/>
          </p:nvSpPr>
          <p:spPr>
            <a:xfrm flipH="false" flipV="false" rot="0">
              <a:off x="0" y="0"/>
              <a:ext cx="596900" cy="558800"/>
            </a:xfrm>
            <a:custGeom>
              <a:avLst/>
              <a:gdLst/>
              <a:ahLst/>
              <a:cxnLst/>
              <a:rect r="r" b="b" t="t" l="l"/>
              <a:pathLst>
                <a:path h="558800" w="596900">
                  <a:moveTo>
                    <a:pt x="596900" y="16676"/>
                  </a:moveTo>
                  <a:lnTo>
                    <a:pt x="596900" y="288124"/>
                  </a:lnTo>
                  <a:cubicBezTo>
                    <a:pt x="596900" y="298773"/>
                    <a:pt x="592536" y="308957"/>
                    <a:pt x="584824" y="316301"/>
                  </a:cubicBezTo>
                  <a:lnTo>
                    <a:pt x="342276" y="547299"/>
                  </a:lnTo>
                  <a:cubicBezTo>
                    <a:pt x="334524" y="554682"/>
                    <a:pt x="324229" y="558800"/>
                    <a:pt x="313524" y="558800"/>
                  </a:cubicBezTo>
                  <a:lnTo>
                    <a:pt x="16676" y="558800"/>
                  </a:lnTo>
                  <a:cubicBezTo>
                    <a:pt x="12253" y="558800"/>
                    <a:pt x="8012" y="557043"/>
                    <a:pt x="4884" y="553916"/>
                  </a:cubicBezTo>
                  <a:cubicBezTo>
                    <a:pt x="1757" y="550788"/>
                    <a:pt x="0" y="546547"/>
                    <a:pt x="0" y="542124"/>
                  </a:cubicBezTo>
                  <a:lnTo>
                    <a:pt x="0" y="265596"/>
                  </a:lnTo>
                  <a:cubicBezTo>
                    <a:pt x="0" y="254950"/>
                    <a:pt x="4379" y="244774"/>
                    <a:pt x="12109" y="237454"/>
                  </a:cubicBezTo>
                  <a:lnTo>
                    <a:pt x="250781" y="11466"/>
                  </a:lnTo>
                  <a:cubicBezTo>
                    <a:pt x="258557" y="4103"/>
                    <a:pt x="268858" y="0"/>
                    <a:pt x="279566" y="0"/>
                  </a:cubicBezTo>
                  <a:lnTo>
                    <a:pt x="580224" y="0"/>
                  </a:lnTo>
                  <a:cubicBezTo>
                    <a:pt x="584647" y="0"/>
                    <a:pt x="588888" y="1757"/>
                    <a:pt x="592016" y="4884"/>
                  </a:cubicBezTo>
                  <a:cubicBezTo>
                    <a:pt x="595143" y="8012"/>
                    <a:pt x="596900" y="12253"/>
                    <a:pt x="596900" y="16676"/>
                  </a:cubicBezTo>
                  <a:close/>
                </a:path>
              </a:pathLst>
            </a:custGeom>
            <a:solidFill>
              <a:srgbClr val="014AAB"/>
            </a:solidFill>
          </p:spPr>
        </p:sp>
        <p:sp>
          <p:nvSpPr>
            <p:cNvPr name="TextBox 4" id="4"/>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5" id="5"/>
          <p:cNvGrpSpPr/>
          <p:nvPr/>
        </p:nvGrpSpPr>
        <p:grpSpPr>
          <a:xfrm rot="0">
            <a:off x="14626760" y="5534027"/>
            <a:ext cx="2765738" cy="2589201"/>
            <a:chOff x="0" y="0"/>
            <a:chExt cx="596900" cy="558800"/>
          </a:xfrm>
        </p:grpSpPr>
        <p:sp>
          <p:nvSpPr>
            <p:cNvPr name="Freeform 6" id="6"/>
            <p:cNvSpPr/>
            <p:nvPr/>
          </p:nvSpPr>
          <p:spPr>
            <a:xfrm flipH="false" flipV="false" rot="0">
              <a:off x="0" y="0"/>
              <a:ext cx="596900" cy="558800"/>
            </a:xfrm>
            <a:custGeom>
              <a:avLst/>
              <a:gdLst/>
              <a:ahLst/>
              <a:cxnLst/>
              <a:rect r="r" b="b" t="t" l="l"/>
              <a:pathLst>
                <a:path h="558800" w="596900">
                  <a:moveTo>
                    <a:pt x="596900" y="32891"/>
                  </a:moveTo>
                  <a:lnTo>
                    <a:pt x="596900" y="271909"/>
                  </a:lnTo>
                  <a:cubicBezTo>
                    <a:pt x="596900" y="292913"/>
                    <a:pt x="588292" y="312998"/>
                    <a:pt x="573082" y="327483"/>
                  </a:cubicBezTo>
                  <a:lnTo>
                    <a:pt x="354018" y="536117"/>
                  </a:lnTo>
                  <a:cubicBezTo>
                    <a:pt x="338728" y="550678"/>
                    <a:pt x="318423" y="558800"/>
                    <a:pt x="297309" y="558800"/>
                  </a:cubicBezTo>
                  <a:lnTo>
                    <a:pt x="32891" y="558800"/>
                  </a:lnTo>
                  <a:cubicBezTo>
                    <a:pt x="14726" y="558800"/>
                    <a:pt x="0" y="544074"/>
                    <a:pt x="0" y="525909"/>
                  </a:cubicBezTo>
                  <a:lnTo>
                    <a:pt x="0" y="281811"/>
                  </a:lnTo>
                  <a:cubicBezTo>
                    <a:pt x="0" y="260814"/>
                    <a:pt x="8637" y="240742"/>
                    <a:pt x="23883" y="226306"/>
                  </a:cubicBezTo>
                  <a:lnTo>
                    <a:pt x="239007" y="22614"/>
                  </a:lnTo>
                  <a:cubicBezTo>
                    <a:pt x="254343" y="8093"/>
                    <a:pt x="274661" y="0"/>
                    <a:pt x="295781" y="0"/>
                  </a:cubicBezTo>
                  <a:lnTo>
                    <a:pt x="564009" y="0"/>
                  </a:lnTo>
                  <a:cubicBezTo>
                    <a:pt x="582174" y="0"/>
                    <a:pt x="596900" y="14726"/>
                    <a:pt x="596900" y="32891"/>
                  </a:cubicBezTo>
                  <a:close/>
                </a:path>
              </a:pathLst>
            </a:custGeom>
            <a:solidFill>
              <a:srgbClr val="FFFFFF"/>
            </a:solidFill>
          </p:spPr>
        </p:sp>
        <p:sp>
          <p:nvSpPr>
            <p:cNvPr name="TextBox 7" id="7"/>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8" id="8"/>
          <p:cNvGrpSpPr/>
          <p:nvPr/>
        </p:nvGrpSpPr>
        <p:grpSpPr>
          <a:xfrm rot="0">
            <a:off x="3647508" y="8000901"/>
            <a:ext cx="4797016" cy="4490824"/>
            <a:chOff x="0" y="0"/>
            <a:chExt cx="596900" cy="558800"/>
          </a:xfrm>
        </p:grpSpPr>
        <p:sp>
          <p:nvSpPr>
            <p:cNvPr name="Freeform 9" id="9"/>
            <p:cNvSpPr/>
            <p:nvPr/>
          </p:nvSpPr>
          <p:spPr>
            <a:xfrm flipH="false" flipV="false" rot="0">
              <a:off x="0" y="0"/>
              <a:ext cx="596900" cy="558800"/>
            </a:xfrm>
            <a:custGeom>
              <a:avLst/>
              <a:gdLst/>
              <a:ahLst/>
              <a:cxnLst/>
              <a:rect r="r" b="b" t="t" l="l"/>
              <a:pathLst>
                <a:path h="558800" w="596900">
                  <a:moveTo>
                    <a:pt x="596900" y="18963"/>
                  </a:moveTo>
                  <a:lnTo>
                    <a:pt x="596900" y="285837"/>
                  </a:lnTo>
                  <a:cubicBezTo>
                    <a:pt x="596900" y="297946"/>
                    <a:pt x="591937" y="309527"/>
                    <a:pt x="583168" y="317878"/>
                  </a:cubicBezTo>
                  <a:lnTo>
                    <a:pt x="343932" y="545722"/>
                  </a:lnTo>
                  <a:cubicBezTo>
                    <a:pt x="335117" y="554117"/>
                    <a:pt x="323410" y="558800"/>
                    <a:pt x="311237" y="558800"/>
                  </a:cubicBezTo>
                  <a:lnTo>
                    <a:pt x="18963" y="558800"/>
                  </a:lnTo>
                  <a:cubicBezTo>
                    <a:pt x="8490" y="558800"/>
                    <a:pt x="0" y="550310"/>
                    <a:pt x="0" y="539837"/>
                  </a:cubicBezTo>
                  <a:lnTo>
                    <a:pt x="0" y="267883"/>
                  </a:lnTo>
                  <a:cubicBezTo>
                    <a:pt x="0" y="255778"/>
                    <a:pt x="4980" y="244205"/>
                    <a:pt x="13770" y="235882"/>
                  </a:cubicBezTo>
                  <a:lnTo>
                    <a:pt x="249120" y="13038"/>
                  </a:lnTo>
                  <a:cubicBezTo>
                    <a:pt x="257962" y="4666"/>
                    <a:pt x="269676" y="0"/>
                    <a:pt x="281853" y="0"/>
                  </a:cubicBezTo>
                  <a:lnTo>
                    <a:pt x="577937" y="0"/>
                  </a:lnTo>
                  <a:cubicBezTo>
                    <a:pt x="588410" y="0"/>
                    <a:pt x="596900" y="8490"/>
                    <a:pt x="596900" y="18963"/>
                  </a:cubicBezTo>
                  <a:close/>
                </a:path>
              </a:pathLst>
            </a:custGeom>
            <a:solidFill>
              <a:srgbClr val="014AAB">
                <a:alpha val="5882"/>
              </a:srgbClr>
            </a:solidFill>
          </p:spPr>
        </p:sp>
        <p:sp>
          <p:nvSpPr>
            <p:cNvPr name="TextBox 10" id="10"/>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1" id="11"/>
          <p:cNvGrpSpPr/>
          <p:nvPr/>
        </p:nvGrpSpPr>
        <p:grpSpPr>
          <a:xfrm rot="5400000">
            <a:off x="-536217" y="-2958766"/>
            <a:ext cx="6321001" cy="5917533"/>
            <a:chOff x="0" y="0"/>
            <a:chExt cx="596900" cy="558800"/>
          </a:xfrm>
        </p:grpSpPr>
        <p:sp>
          <p:nvSpPr>
            <p:cNvPr name="Freeform 12" id="12"/>
            <p:cNvSpPr/>
            <p:nvPr/>
          </p:nvSpPr>
          <p:spPr>
            <a:xfrm flipH="false" flipV="false" rot="0">
              <a:off x="0" y="0"/>
              <a:ext cx="596900" cy="558800"/>
            </a:xfrm>
            <a:custGeom>
              <a:avLst/>
              <a:gdLst/>
              <a:ahLst/>
              <a:cxnLst/>
              <a:rect r="r" b="b" t="t" l="l"/>
              <a:pathLst>
                <a:path h="558800" w="596900">
                  <a:moveTo>
                    <a:pt x="596900" y="14391"/>
                  </a:moveTo>
                  <a:lnTo>
                    <a:pt x="596900" y="290409"/>
                  </a:lnTo>
                  <a:cubicBezTo>
                    <a:pt x="596900" y="299599"/>
                    <a:pt x="593134" y="308387"/>
                    <a:pt x="586479" y="314725"/>
                  </a:cubicBezTo>
                  <a:lnTo>
                    <a:pt x="340621" y="548875"/>
                  </a:lnTo>
                  <a:cubicBezTo>
                    <a:pt x="333931" y="555246"/>
                    <a:pt x="325047" y="558800"/>
                    <a:pt x="315809" y="558800"/>
                  </a:cubicBezTo>
                  <a:lnTo>
                    <a:pt x="14391" y="558800"/>
                  </a:lnTo>
                  <a:cubicBezTo>
                    <a:pt x="10575" y="558800"/>
                    <a:pt x="6914" y="557284"/>
                    <a:pt x="4215" y="554585"/>
                  </a:cubicBezTo>
                  <a:cubicBezTo>
                    <a:pt x="1516" y="551886"/>
                    <a:pt x="0" y="548226"/>
                    <a:pt x="0" y="544409"/>
                  </a:cubicBezTo>
                  <a:lnTo>
                    <a:pt x="0" y="263311"/>
                  </a:lnTo>
                  <a:cubicBezTo>
                    <a:pt x="0" y="254124"/>
                    <a:pt x="3779" y="245342"/>
                    <a:pt x="10450" y="239025"/>
                  </a:cubicBezTo>
                  <a:lnTo>
                    <a:pt x="252440" y="9895"/>
                  </a:lnTo>
                  <a:cubicBezTo>
                    <a:pt x="259150" y="3541"/>
                    <a:pt x="268040" y="0"/>
                    <a:pt x="277281" y="0"/>
                  </a:cubicBezTo>
                  <a:lnTo>
                    <a:pt x="582509" y="0"/>
                  </a:lnTo>
                  <a:cubicBezTo>
                    <a:pt x="586326" y="0"/>
                    <a:pt x="589986" y="1516"/>
                    <a:pt x="592685" y="4215"/>
                  </a:cubicBezTo>
                  <a:cubicBezTo>
                    <a:pt x="595384" y="6914"/>
                    <a:pt x="596900" y="10575"/>
                    <a:pt x="596900" y="14391"/>
                  </a:cubicBezTo>
                  <a:close/>
                </a:path>
              </a:pathLst>
            </a:custGeom>
            <a:solidFill>
              <a:srgbClr val="014AAB">
                <a:alpha val="5882"/>
              </a:srgbClr>
            </a:solidFill>
          </p:spPr>
        </p:sp>
        <p:sp>
          <p:nvSpPr>
            <p:cNvPr name="TextBox 13" id="13"/>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4" id="14"/>
          <p:cNvGrpSpPr/>
          <p:nvPr/>
        </p:nvGrpSpPr>
        <p:grpSpPr>
          <a:xfrm rot="-10800000">
            <a:off x="13810359" y="-3147653"/>
            <a:ext cx="4531224" cy="4241997"/>
            <a:chOff x="0" y="0"/>
            <a:chExt cx="596900" cy="558800"/>
          </a:xfrm>
        </p:grpSpPr>
        <p:sp>
          <p:nvSpPr>
            <p:cNvPr name="Freeform 15" id="15"/>
            <p:cNvSpPr/>
            <p:nvPr/>
          </p:nvSpPr>
          <p:spPr>
            <a:xfrm flipH="false" flipV="false" rot="0">
              <a:off x="0" y="0"/>
              <a:ext cx="596900" cy="558800"/>
            </a:xfrm>
            <a:custGeom>
              <a:avLst/>
              <a:gdLst/>
              <a:ahLst/>
              <a:cxnLst/>
              <a:rect r="r" b="b" t="t" l="l"/>
              <a:pathLst>
                <a:path h="558800" w="596900">
                  <a:moveTo>
                    <a:pt x="596900" y="20076"/>
                  </a:moveTo>
                  <a:lnTo>
                    <a:pt x="596900" y="284724"/>
                  </a:lnTo>
                  <a:cubicBezTo>
                    <a:pt x="596900" y="297544"/>
                    <a:pt x="591646" y="309804"/>
                    <a:pt x="582362" y="318645"/>
                  </a:cubicBezTo>
                  <a:lnTo>
                    <a:pt x="344738" y="544955"/>
                  </a:lnTo>
                  <a:cubicBezTo>
                    <a:pt x="335405" y="553843"/>
                    <a:pt x="323012" y="558800"/>
                    <a:pt x="310124" y="558800"/>
                  </a:cubicBezTo>
                  <a:lnTo>
                    <a:pt x="20076" y="558800"/>
                  </a:lnTo>
                  <a:cubicBezTo>
                    <a:pt x="8988" y="558800"/>
                    <a:pt x="0" y="549812"/>
                    <a:pt x="0" y="538724"/>
                  </a:cubicBezTo>
                  <a:lnTo>
                    <a:pt x="0" y="268996"/>
                  </a:lnTo>
                  <a:cubicBezTo>
                    <a:pt x="0" y="256180"/>
                    <a:pt x="5272" y="243928"/>
                    <a:pt x="14578" y="235117"/>
                  </a:cubicBezTo>
                  <a:lnTo>
                    <a:pt x="248312" y="13803"/>
                  </a:lnTo>
                  <a:cubicBezTo>
                    <a:pt x="257673" y="4940"/>
                    <a:pt x="270074" y="0"/>
                    <a:pt x="282966" y="0"/>
                  </a:cubicBezTo>
                  <a:lnTo>
                    <a:pt x="576824" y="0"/>
                  </a:lnTo>
                  <a:cubicBezTo>
                    <a:pt x="587912" y="0"/>
                    <a:pt x="596900" y="8988"/>
                    <a:pt x="596900" y="20076"/>
                  </a:cubicBezTo>
                  <a:close/>
                </a:path>
              </a:pathLst>
            </a:custGeom>
            <a:solidFill>
              <a:srgbClr val="014AAB">
                <a:alpha val="5882"/>
              </a:srgbClr>
            </a:solidFill>
          </p:spPr>
        </p:sp>
        <p:sp>
          <p:nvSpPr>
            <p:cNvPr name="TextBox 16" id="16"/>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7" id="17"/>
          <p:cNvGrpSpPr/>
          <p:nvPr/>
        </p:nvGrpSpPr>
        <p:grpSpPr>
          <a:xfrm rot="0">
            <a:off x="9634197" y="543858"/>
            <a:ext cx="3762996" cy="3522804"/>
            <a:chOff x="0" y="0"/>
            <a:chExt cx="596900" cy="558800"/>
          </a:xfrm>
        </p:grpSpPr>
        <p:sp>
          <p:nvSpPr>
            <p:cNvPr name="Freeform 18" id="18"/>
            <p:cNvSpPr/>
            <p:nvPr/>
          </p:nvSpPr>
          <p:spPr>
            <a:xfrm flipH="false" flipV="false" rot="0">
              <a:off x="0" y="0"/>
              <a:ext cx="596900" cy="558800"/>
            </a:xfrm>
            <a:custGeom>
              <a:avLst/>
              <a:gdLst/>
              <a:ahLst/>
              <a:cxnLst/>
              <a:rect r="r" b="b" t="t" l="l"/>
              <a:pathLst>
                <a:path h="558800" w="596900">
                  <a:moveTo>
                    <a:pt x="596900" y="24174"/>
                  </a:moveTo>
                  <a:lnTo>
                    <a:pt x="596900" y="280626"/>
                  </a:lnTo>
                  <a:cubicBezTo>
                    <a:pt x="596900" y="296063"/>
                    <a:pt x="590573" y="310826"/>
                    <a:pt x="579395" y="321472"/>
                  </a:cubicBezTo>
                  <a:lnTo>
                    <a:pt x="347705" y="542128"/>
                  </a:lnTo>
                  <a:cubicBezTo>
                    <a:pt x="336468" y="552831"/>
                    <a:pt x="321544" y="558800"/>
                    <a:pt x="306026" y="558800"/>
                  </a:cubicBezTo>
                  <a:lnTo>
                    <a:pt x="24174" y="558800"/>
                  </a:lnTo>
                  <a:cubicBezTo>
                    <a:pt x="17763" y="558800"/>
                    <a:pt x="11614" y="556253"/>
                    <a:pt x="7080" y="551720"/>
                  </a:cubicBezTo>
                  <a:cubicBezTo>
                    <a:pt x="2547" y="547186"/>
                    <a:pt x="0" y="541037"/>
                    <a:pt x="0" y="534626"/>
                  </a:cubicBezTo>
                  <a:lnTo>
                    <a:pt x="0" y="273094"/>
                  </a:lnTo>
                  <a:cubicBezTo>
                    <a:pt x="0" y="257662"/>
                    <a:pt x="6348" y="242909"/>
                    <a:pt x="17554" y="232299"/>
                  </a:cubicBezTo>
                  <a:lnTo>
                    <a:pt x="245336" y="16621"/>
                  </a:lnTo>
                  <a:cubicBezTo>
                    <a:pt x="256608" y="5948"/>
                    <a:pt x="271541" y="0"/>
                    <a:pt x="287064" y="0"/>
                  </a:cubicBezTo>
                  <a:lnTo>
                    <a:pt x="572726" y="0"/>
                  </a:lnTo>
                  <a:cubicBezTo>
                    <a:pt x="579137" y="0"/>
                    <a:pt x="585286" y="2547"/>
                    <a:pt x="589820" y="7080"/>
                  </a:cubicBezTo>
                  <a:cubicBezTo>
                    <a:pt x="594353" y="11614"/>
                    <a:pt x="596900" y="17763"/>
                    <a:pt x="596900" y="24174"/>
                  </a:cubicBezTo>
                  <a:close/>
                </a:path>
              </a:pathLst>
            </a:custGeom>
            <a:solidFill>
              <a:srgbClr val="8DABD2"/>
            </a:solidFill>
          </p:spPr>
        </p:sp>
        <p:sp>
          <p:nvSpPr>
            <p:cNvPr name="TextBox 19" id="19"/>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20" id="20"/>
          <p:cNvGrpSpPr/>
          <p:nvPr/>
        </p:nvGrpSpPr>
        <p:grpSpPr>
          <a:xfrm rot="0">
            <a:off x="15147937" y="1323502"/>
            <a:ext cx="2737867" cy="2563109"/>
            <a:chOff x="0" y="0"/>
            <a:chExt cx="596900" cy="558800"/>
          </a:xfrm>
        </p:grpSpPr>
        <p:sp>
          <p:nvSpPr>
            <p:cNvPr name="Freeform 21" id="21"/>
            <p:cNvSpPr/>
            <p:nvPr/>
          </p:nvSpPr>
          <p:spPr>
            <a:xfrm flipH="false" flipV="false" rot="0">
              <a:off x="0" y="0"/>
              <a:ext cx="596900" cy="558800"/>
            </a:xfrm>
            <a:custGeom>
              <a:avLst/>
              <a:gdLst/>
              <a:ahLst/>
              <a:cxnLst/>
              <a:rect r="r" b="b" t="t" l="l"/>
              <a:pathLst>
                <a:path h="558800" w="596900">
                  <a:moveTo>
                    <a:pt x="596900" y="33226"/>
                  </a:moveTo>
                  <a:lnTo>
                    <a:pt x="596900" y="271574"/>
                  </a:lnTo>
                  <a:cubicBezTo>
                    <a:pt x="596900" y="292792"/>
                    <a:pt x="588204" y="313082"/>
                    <a:pt x="572840" y="327714"/>
                  </a:cubicBezTo>
                  <a:lnTo>
                    <a:pt x="354260" y="535886"/>
                  </a:lnTo>
                  <a:cubicBezTo>
                    <a:pt x="338815" y="550595"/>
                    <a:pt x="318303" y="558800"/>
                    <a:pt x="296974" y="558800"/>
                  </a:cubicBezTo>
                  <a:lnTo>
                    <a:pt x="33226" y="558800"/>
                  </a:lnTo>
                  <a:cubicBezTo>
                    <a:pt x="14876" y="558800"/>
                    <a:pt x="0" y="543924"/>
                    <a:pt x="0" y="525574"/>
                  </a:cubicBezTo>
                  <a:lnTo>
                    <a:pt x="0" y="282146"/>
                  </a:lnTo>
                  <a:cubicBezTo>
                    <a:pt x="0" y="260935"/>
                    <a:pt x="8725" y="240659"/>
                    <a:pt x="24126" y="226076"/>
                  </a:cubicBezTo>
                  <a:lnTo>
                    <a:pt x="238764" y="22844"/>
                  </a:lnTo>
                  <a:cubicBezTo>
                    <a:pt x="254256" y="8175"/>
                    <a:pt x="274780" y="0"/>
                    <a:pt x="296116" y="0"/>
                  </a:cubicBezTo>
                  <a:lnTo>
                    <a:pt x="563674" y="0"/>
                  </a:lnTo>
                  <a:cubicBezTo>
                    <a:pt x="582024" y="0"/>
                    <a:pt x="596900" y="14876"/>
                    <a:pt x="596900" y="33226"/>
                  </a:cubicBezTo>
                  <a:close/>
                </a:path>
              </a:pathLst>
            </a:custGeom>
            <a:solidFill>
              <a:srgbClr val="014AAB"/>
            </a:solidFill>
          </p:spPr>
        </p:sp>
        <p:sp>
          <p:nvSpPr>
            <p:cNvPr name="TextBox 22" id="22"/>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23" id="23"/>
          <p:cNvGrpSpPr/>
          <p:nvPr/>
        </p:nvGrpSpPr>
        <p:grpSpPr>
          <a:xfrm rot="5400000">
            <a:off x="9551409" y="7241939"/>
            <a:ext cx="2594035" cy="2428459"/>
            <a:chOff x="0" y="0"/>
            <a:chExt cx="596900" cy="558800"/>
          </a:xfrm>
        </p:grpSpPr>
        <p:sp>
          <p:nvSpPr>
            <p:cNvPr name="Freeform 24" id="24"/>
            <p:cNvSpPr/>
            <p:nvPr/>
          </p:nvSpPr>
          <p:spPr>
            <a:xfrm flipH="false" flipV="false" rot="0">
              <a:off x="0" y="0"/>
              <a:ext cx="596900" cy="558800"/>
            </a:xfrm>
            <a:custGeom>
              <a:avLst/>
              <a:gdLst/>
              <a:ahLst/>
              <a:cxnLst/>
              <a:rect r="r" b="b" t="t" l="l"/>
              <a:pathLst>
                <a:path h="558800" w="596900">
                  <a:moveTo>
                    <a:pt x="596900" y="35068"/>
                  </a:moveTo>
                  <a:lnTo>
                    <a:pt x="596900" y="269732"/>
                  </a:lnTo>
                  <a:cubicBezTo>
                    <a:pt x="596900" y="292126"/>
                    <a:pt x="587722" y="313541"/>
                    <a:pt x="571506" y="328985"/>
                  </a:cubicBezTo>
                  <a:lnTo>
                    <a:pt x="355594" y="534615"/>
                  </a:lnTo>
                  <a:cubicBezTo>
                    <a:pt x="339293" y="550140"/>
                    <a:pt x="317644" y="558800"/>
                    <a:pt x="295132" y="558800"/>
                  </a:cubicBezTo>
                  <a:lnTo>
                    <a:pt x="35068" y="558800"/>
                  </a:lnTo>
                  <a:cubicBezTo>
                    <a:pt x="25767" y="558800"/>
                    <a:pt x="16848" y="555105"/>
                    <a:pt x="10271" y="548529"/>
                  </a:cubicBezTo>
                  <a:cubicBezTo>
                    <a:pt x="3695" y="541952"/>
                    <a:pt x="0" y="533033"/>
                    <a:pt x="0" y="523732"/>
                  </a:cubicBezTo>
                  <a:lnTo>
                    <a:pt x="0" y="283988"/>
                  </a:lnTo>
                  <a:cubicBezTo>
                    <a:pt x="0" y="261602"/>
                    <a:pt x="9209" y="240201"/>
                    <a:pt x="25464" y="224809"/>
                  </a:cubicBezTo>
                  <a:lnTo>
                    <a:pt x="237426" y="24111"/>
                  </a:lnTo>
                  <a:cubicBezTo>
                    <a:pt x="253777" y="8628"/>
                    <a:pt x="275440" y="0"/>
                    <a:pt x="297958" y="0"/>
                  </a:cubicBezTo>
                  <a:lnTo>
                    <a:pt x="561832" y="0"/>
                  </a:lnTo>
                  <a:cubicBezTo>
                    <a:pt x="571133" y="0"/>
                    <a:pt x="580052" y="3695"/>
                    <a:pt x="586629" y="10271"/>
                  </a:cubicBezTo>
                  <a:cubicBezTo>
                    <a:pt x="593205" y="16848"/>
                    <a:pt x="596900" y="25767"/>
                    <a:pt x="596900" y="35068"/>
                  </a:cubicBezTo>
                  <a:close/>
                </a:path>
              </a:pathLst>
            </a:custGeom>
            <a:solidFill>
              <a:srgbClr val="8DABD2"/>
            </a:solidFill>
          </p:spPr>
        </p:sp>
        <p:sp>
          <p:nvSpPr>
            <p:cNvPr name="TextBox 25" id="25"/>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26" id="26"/>
          <p:cNvGrpSpPr/>
          <p:nvPr/>
        </p:nvGrpSpPr>
        <p:grpSpPr>
          <a:xfrm rot="0">
            <a:off x="10523711" y="1294169"/>
            <a:ext cx="6935129" cy="5905596"/>
            <a:chOff x="0" y="0"/>
            <a:chExt cx="1460623" cy="1243791"/>
          </a:xfrm>
        </p:grpSpPr>
        <p:sp>
          <p:nvSpPr>
            <p:cNvPr name="Freeform 27" id="27"/>
            <p:cNvSpPr/>
            <p:nvPr/>
          </p:nvSpPr>
          <p:spPr>
            <a:xfrm flipH="false" flipV="false" rot="0">
              <a:off x="0" y="0"/>
              <a:ext cx="1460627" cy="1243791"/>
            </a:xfrm>
            <a:custGeom>
              <a:avLst/>
              <a:gdLst/>
              <a:ahLst/>
              <a:cxnLst/>
              <a:rect r="r" b="b" t="t" l="l"/>
              <a:pathLst>
                <a:path h="1243791" w="1460627">
                  <a:moveTo>
                    <a:pt x="1046362" y="38122"/>
                  </a:moveTo>
                  <a:cubicBezTo>
                    <a:pt x="1024662" y="13865"/>
                    <a:pt x="993657" y="0"/>
                    <a:pt x="961111" y="0"/>
                  </a:cubicBezTo>
                  <a:lnTo>
                    <a:pt x="114385" y="0"/>
                  </a:lnTo>
                  <a:cubicBezTo>
                    <a:pt x="51213" y="1"/>
                    <a:pt x="1" y="51211"/>
                    <a:pt x="0" y="114384"/>
                  </a:cubicBezTo>
                  <a:lnTo>
                    <a:pt x="0" y="501214"/>
                  </a:lnTo>
                  <a:lnTo>
                    <a:pt x="0" y="795306"/>
                  </a:lnTo>
                  <a:cubicBezTo>
                    <a:pt x="0" y="858478"/>
                    <a:pt x="51211" y="909690"/>
                    <a:pt x="114384" y="909690"/>
                  </a:cubicBezTo>
                  <a:lnTo>
                    <a:pt x="587586" y="909690"/>
                  </a:lnTo>
                  <a:cubicBezTo>
                    <a:pt x="620132" y="909690"/>
                    <a:pt x="651138" y="923554"/>
                    <a:pt x="672837" y="947811"/>
                  </a:cubicBezTo>
                  <a:lnTo>
                    <a:pt x="903501" y="1205669"/>
                  </a:lnTo>
                  <a:cubicBezTo>
                    <a:pt x="925201" y="1229927"/>
                    <a:pt x="956207" y="1243791"/>
                    <a:pt x="988753" y="1243791"/>
                  </a:cubicBezTo>
                  <a:lnTo>
                    <a:pt x="1346239" y="1243791"/>
                  </a:lnTo>
                  <a:cubicBezTo>
                    <a:pt x="1376576" y="1243792"/>
                    <a:pt x="1405670" y="1231742"/>
                    <a:pt x="1427122" y="1210291"/>
                  </a:cubicBezTo>
                  <a:cubicBezTo>
                    <a:pt x="1448574" y="1188841"/>
                    <a:pt x="1460626" y="1159748"/>
                    <a:pt x="1460627" y="1129411"/>
                  </a:cubicBezTo>
                  <a:lnTo>
                    <a:pt x="1460627" y="562247"/>
                  </a:lnTo>
                  <a:cubicBezTo>
                    <a:pt x="1460627" y="522943"/>
                    <a:pt x="1446140" y="485019"/>
                    <a:pt x="1419935" y="455726"/>
                  </a:cubicBezTo>
                  <a:close/>
                </a:path>
              </a:pathLst>
            </a:custGeom>
            <a:blipFill>
              <a:blip r:embed="rId2"/>
              <a:stretch>
                <a:fillRect l="-90" t="0" r="-90" b="0"/>
              </a:stretch>
            </a:blipFill>
            <a:ln w="142875" cap="sq">
              <a:solidFill>
                <a:srgbClr val="FFFFFF"/>
              </a:solidFill>
              <a:prstDash val="solid"/>
              <a:miter/>
            </a:ln>
          </p:spPr>
        </p:sp>
      </p:grpSp>
      <p:grpSp>
        <p:nvGrpSpPr>
          <p:cNvPr name="Group 28" id="28"/>
          <p:cNvGrpSpPr/>
          <p:nvPr/>
        </p:nvGrpSpPr>
        <p:grpSpPr>
          <a:xfrm rot="0">
            <a:off x="9034205" y="5971469"/>
            <a:ext cx="5257565" cy="2731701"/>
            <a:chOff x="0" y="0"/>
            <a:chExt cx="1657619" cy="861258"/>
          </a:xfrm>
        </p:grpSpPr>
        <p:sp>
          <p:nvSpPr>
            <p:cNvPr name="Freeform 29" id="29"/>
            <p:cNvSpPr/>
            <p:nvPr/>
          </p:nvSpPr>
          <p:spPr>
            <a:xfrm flipH="false" flipV="false" rot="0">
              <a:off x="0" y="0"/>
              <a:ext cx="1657622" cy="861258"/>
            </a:xfrm>
            <a:custGeom>
              <a:avLst/>
              <a:gdLst/>
              <a:ahLst/>
              <a:cxnLst/>
              <a:rect r="r" b="b" t="t" l="l"/>
              <a:pathLst>
                <a:path h="861258" w="1657622">
                  <a:moveTo>
                    <a:pt x="1310663" y="0"/>
                  </a:moveTo>
                  <a:lnTo>
                    <a:pt x="148415" y="0"/>
                  </a:lnTo>
                  <a:cubicBezTo>
                    <a:pt x="66448" y="0"/>
                    <a:pt x="0" y="66448"/>
                    <a:pt x="0" y="148415"/>
                  </a:cubicBezTo>
                  <a:lnTo>
                    <a:pt x="0" y="581866"/>
                  </a:lnTo>
                  <a:cubicBezTo>
                    <a:pt x="0" y="618376"/>
                    <a:pt x="13458" y="653606"/>
                    <a:pt x="37800" y="680818"/>
                  </a:cubicBezTo>
                  <a:lnTo>
                    <a:pt x="154967" y="811794"/>
                  </a:lnTo>
                  <a:cubicBezTo>
                    <a:pt x="183122" y="843269"/>
                    <a:pt x="223353" y="861259"/>
                    <a:pt x="265584" y="861258"/>
                  </a:cubicBezTo>
                  <a:lnTo>
                    <a:pt x="1509206" y="861258"/>
                  </a:lnTo>
                  <a:cubicBezTo>
                    <a:pt x="1548568" y="861258"/>
                    <a:pt x="1586318" y="845622"/>
                    <a:pt x="1614152" y="817789"/>
                  </a:cubicBezTo>
                  <a:cubicBezTo>
                    <a:pt x="1641985" y="789956"/>
                    <a:pt x="1657622" y="752206"/>
                    <a:pt x="1657622" y="712843"/>
                  </a:cubicBezTo>
                  <a:lnTo>
                    <a:pt x="1657622" y="366141"/>
                  </a:lnTo>
                  <a:cubicBezTo>
                    <a:pt x="1657622" y="329143"/>
                    <a:pt x="1643803" y="293478"/>
                    <a:pt x="1618873" y="266140"/>
                  </a:cubicBezTo>
                  <a:lnTo>
                    <a:pt x="1420330" y="48414"/>
                  </a:lnTo>
                  <a:cubicBezTo>
                    <a:pt x="1392207" y="17574"/>
                    <a:pt x="1352400" y="0"/>
                    <a:pt x="1310663" y="0"/>
                  </a:cubicBezTo>
                  <a:close/>
                </a:path>
              </a:pathLst>
            </a:custGeom>
            <a:blipFill>
              <a:blip r:embed="rId3"/>
              <a:stretch>
                <a:fillRect l="0" t="-401" r="0" b="-401"/>
              </a:stretch>
            </a:blipFill>
            <a:ln w="142875" cap="sq">
              <a:solidFill>
                <a:srgbClr val="8DABD2"/>
              </a:solidFill>
              <a:prstDash val="solid"/>
              <a:miter/>
            </a:ln>
          </p:spPr>
        </p:sp>
      </p:grpSp>
      <p:grpSp>
        <p:nvGrpSpPr>
          <p:cNvPr name="Group 30" id="30"/>
          <p:cNvGrpSpPr/>
          <p:nvPr/>
        </p:nvGrpSpPr>
        <p:grpSpPr>
          <a:xfrm rot="-10800000">
            <a:off x="1274759" y="6027290"/>
            <a:ext cx="7267155" cy="650846"/>
            <a:chOff x="0" y="0"/>
            <a:chExt cx="1824869" cy="163435"/>
          </a:xfrm>
        </p:grpSpPr>
        <p:sp>
          <p:nvSpPr>
            <p:cNvPr name="Freeform 31" id="31"/>
            <p:cNvSpPr/>
            <p:nvPr/>
          </p:nvSpPr>
          <p:spPr>
            <a:xfrm flipH="false" flipV="false" rot="0">
              <a:off x="0" y="0"/>
              <a:ext cx="1824869" cy="163435"/>
            </a:xfrm>
            <a:custGeom>
              <a:avLst/>
              <a:gdLst/>
              <a:ahLst/>
              <a:cxnLst/>
              <a:rect r="r" b="b" t="t" l="l"/>
              <a:pathLst>
                <a:path h="163435" w="1824869">
                  <a:moveTo>
                    <a:pt x="81718" y="0"/>
                  </a:moveTo>
                  <a:lnTo>
                    <a:pt x="1743152" y="0"/>
                  </a:lnTo>
                  <a:cubicBezTo>
                    <a:pt x="1788283" y="0"/>
                    <a:pt x="1824869" y="36586"/>
                    <a:pt x="1824869" y="81718"/>
                  </a:cubicBezTo>
                  <a:lnTo>
                    <a:pt x="1824869" y="81718"/>
                  </a:lnTo>
                  <a:cubicBezTo>
                    <a:pt x="1824869" y="126849"/>
                    <a:pt x="1788283" y="163435"/>
                    <a:pt x="1743152" y="163435"/>
                  </a:cubicBezTo>
                  <a:lnTo>
                    <a:pt x="81718" y="163435"/>
                  </a:lnTo>
                  <a:cubicBezTo>
                    <a:pt x="36586" y="163435"/>
                    <a:pt x="0" y="126849"/>
                    <a:pt x="0" y="81718"/>
                  </a:cubicBezTo>
                  <a:lnTo>
                    <a:pt x="0" y="81718"/>
                  </a:lnTo>
                  <a:cubicBezTo>
                    <a:pt x="0" y="36586"/>
                    <a:pt x="36586" y="0"/>
                    <a:pt x="81718" y="0"/>
                  </a:cubicBezTo>
                  <a:close/>
                </a:path>
              </a:pathLst>
            </a:custGeom>
            <a:solidFill>
              <a:srgbClr val="014AAB"/>
            </a:solidFill>
          </p:spPr>
        </p:sp>
        <p:sp>
          <p:nvSpPr>
            <p:cNvPr name="TextBox 32" id="32"/>
            <p:cNvSpPr txBox="true"/>
            <p:nvPr/>
          </p:nvSpPr>
          <p:spPr>
            <a:xfrm>
              <a:off x="0" y="-47625"/>
              <a:ext cx="1824869" cy="211060"/>
            </a:xfrm>
            <a:prstGeom prst="rect">
              <a:avLst/>
            </a:prstGeom>
          </p:spPr>
          <p:txBody>
            <a:bodyPr anchor="ctr" rtlCol="false" tIns="50800" lIns="50800" bIns="50800" rIns="50800"/>
            <a:lstStyle/>
            <a:p>
              <a:pPr algn="ctr" marL="0" indent="0" lvl="0">
                <a:lnSpc>
                  <a:spcPts val="2800"/>
                </a:lnSpc>
              </a:pPr>
            </a:p>
          </p:txBody>
        </p:sp>
      </p:grpSp>
      <p:sp>
        <p:nvSpPr>
          <p:cNvPr name="Freeform 33" id="33"/>
          <p:cNvSpPr/>
          <p:nvPr/>
        </p:nvSpPr>
        <p:spPr>
          <a:xfrm flipH="false" flipV="true" rot="0">
            <a:off x="16114192" y="8000901"/>
            <a:ext cx="1771612" cy="1752285"/>
          </a:xfrm>
          <a:custGeom>
            <a:avLst/>
            <a:gdLst/>
            <a:ahLst/>
            <a:cxnLst/>
            <a:rect r="r" b="b" t="t" l="l"/>
            <a:pathLst>
              <a:path h="1752285" w="1771612">
                <a:moveTo>
                  <a:pt x="0" y="1752285"/>
                </a:moveTo>
                <a:lnTo>
                  <a:pt x="1771611" y="1752285"/>
                </a:lnTo>
                <a:lnTo>
                  <a:pt x="1771611" y="0"/>
                </a:lnTo>
                <a:lnTo>
                  <a:pt x="0" y="0"/>
                </a:lnTo>
                <a:lnTo>
                  <a:pt x="0" y="17522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4" id="34"/>
          <p:cNvSpPr/>
          <p:nvPr/>
        </p:nvSpPr>
        <p:spPr>
          <a:xfrm flipH="true" flipV="false" rot="0">
            <a:off x="9634197" y="543858"/>
            <a:ext cx="1113115" cy="1100972"/>
          </a:xfrm>
          <a:custGeom>
            <a:avLst/>
            <a:gdLst/>
            <a:ahLst/>
            <a:cxnLst/>
            <a:rect r="r" b="b" t="t" l="l"/>
            <a:pathLst>
              <a:path h="1100972" w="1113115">
                <a:moveTo>
                  <a:pt x="1113115" y="0"/>
                </a:moveTo>
                <a:lnTo>
                  <a:pt x="0" y="0"/>
                </a:lnTo>
                <a:lnTo>
                  <a:pt x="0" y="1100972"/>
                </a:lnTo>
                <a:lnTo>
                  <a:pt x="1113115" y="1100972"/>
                </a:lnTo>
                <a:lnTo>
                  <a:pt x="111311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5" id="35"/>
          <p:cNvSpPr/>
          <p:nvPr/>
        </p:nvSpPr>
        <p:spPr>
          <a:xfrm flipH="false" flipV="false" rot="0">
            <a:off x="679654" y="9654723"/>
            <a:ext cx="1190212" cy="196926"/>
          </a:xfrm>
          <a:custGeom>
            <a:avLst/>
            <a:gdLst/>
            <a:ahLst/>
            <a:cxnLst/>
            <a:rect r="r" b="b" t="t" l="l"/>
            <a:pathLst>
              <a:path h="196926" w="1190212">
                <a:moveTo>
                  <a:pt x="0" y="0"/>
                </a:moveTo>
                <a:lnTo>
                  <a:pt x="1190211" y="0"/>
                </a:lnTo>
                <a:lnTo>
                  <a:pt x="1190211" y="196926"/>
                </a:lnTo>
                <a:lnTo>
                  <a:pt x="0" y="1969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6" id="36"/>
          <p:cNvSpPr/>
          <p:nvPr/>
        </p:nvSpPr>
        <p:spPr>
          <a:xfrm flipH="false" flipV="false" rot="0">
            <a:off x="14626760" y="693817"/>
            <a:ext cx="1190212" cy="196926"/>
          </a:xfrm>
          <a:custGeom>
            <a:avLst/>
            <a:gdLst/>
            <a:ahLst/>
            <a:cxnLst/>
            <a:rect r="r" b="b" t="t" l="l"/>
            <a:pathLst>
              <a:path h="196926" w="1190212">
                <a:moveTo>
                  <a:pt x="0" y="0"/>
                </a:moveTo>
                <a:lnTo>
                  <a:pt x="1190212" y="0"/>
                </a:lnTo>
                <a:lnTo>
                  <a:pt x="1190212" y="196926"/>
                </a:lnTo>
                <a:lnTo>
                  <a:pt x="0" y="1969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7" id="37"/>
          <p:cNvSpPr/>
          <p:nvPr/>
        </p:nvSpPr>
        <p:spPr>
          <a:xfrm flipH="false" flipV="false" rot="0">
            <a:off x="13696665" y="9159837"/>
            <a:ext cx="1190212" cy="196926"/>
          </a:xfrm>
          <a:custGeom>
            <a:avLst/>
            <a:gdLst/>
            <a:ahLst/>
            <a:cxnLst/>
            <a:rect r="r" b="b" t="t" l="l"/>
            <a:pathLst>
              <a:path h="196926" w="1190212">
                <a:moveTo>
                  <a:pt x="0" y="0"/>
                </a:moveTo>
                <a:lnTo>
                  <a:pt x="1190211" y="0"/>
                </a:lnTo>
                <a:lnTo>
                  <a:pt x="1190211" y="196926"/>
                </a:lnTo>
                <a:lnTo>
                  <a:pt x="0" y="1969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8" id="38"/>
          <p:cNvSpPr/>
          <p:nvPr/>
        </p:nvSpPr>
        <p:spPr>
          <a:xfrm flipH="false" flipV="false" rot="0">
            <a:off x="1274759" y="792280"/>
            <a:ext cx="3152792" cy="1206899"/>
          </a:xfrm>
          <a:custGeom>
            <a:avLst/>
            <a:gdLst/>
            <a:ahLst/>
            <a:cxnLst/>
            <a:rect r="r" b="b" t="t" l="l"/>
            <a:pathLst>
              <a:path h="1206899" w="3152792">
                <a:moveTo>
                  <a:pt x="0" y="0"/>
                </a:moveTo>
                <a:lnTo>
                  <a:pt x="3152792" y="0"/>
                </a:lnTo>
                <a:lnTo>
                  <a:pt x="3152792" y="1206899"/>
                </a:lnTo>
                <a:lnTo>
                  <a:pt x="0" y="1206899"/>
                </a:lnTo>
                <a:lnTo>
                  <a:pt x="0" y="0"/>
                </a:lnTo>
                <a:close/>
              </a:path>
            </a:pathLst>
          </a:custGeom>
          <a:blipFill>
            <a:blip r:embed="rId12"/>
            <a:stretch>
              <a:fillRect l="0" t="0" r="0" b="0"/>
            </a:stretch>
          </a:blipFill>
        </p:spPr>
      </p:sp>
      <p:sp>
        <p:nvSpPr>
          <p:cNvPr name="Freeform 39" id="39"/>
          <p:cNvSpPr/>
          <p:nvPr/>
        </p:nvSpPr>
        <p:spPr>
          <a:xfrm flipH="false" flipV="false" rot="0">
            <a:off x="5483651" y="897293"/>
            <a:ext cx="3550554" cy="1022382"/>
          </a:xfrm>
          <a:custGeom>
            <a:avLst/>
            <a:gdLst/>
            <a:ahLst/>
            <a:cxnLst/>
            <a:rect r="r" b="b" t="t" l="l"/>
            <a:pathLst>
              <a:path h="1022382" w="3550554">
                <a:moveTo>
                  <a:pt x="0" y="0"/>
                </a:moveTo>
                <a:lnTo>
                  <a:pt x="3550554" y="0"/>
                </a:lnTo>
                <a:lnTo>
                  <a:pt x="3550554" y="1022382"/>
                </a:lnTo>
                <a:lnTo>
                  <a:pt x="0" y="1022382"/>
                </a:lnTo>
                <a:lnTo>
                  <a:pt x="0" y="0"/>
                </a:lnTo>
                <a:close/>
              </a:path>
            </a:pathLst>
          </a:custGeom>
          <a:blipFill>
            <a:blip r:embed="rId13"/>
            <a:stretch>
              <a:fillRect l="0" t="0" r="0" b="0"/>
            </a:stretch>
          </a:blipFill>
        </p:spPr>
      </p:sp>
      <p:sp>
        <p:nvSpPr>
          <p:cNvPr name="TextBox 40" id="40"/>
          <p:cNvSpPr txBox="true"/>
          <p:nvPr/>
        </p:nvSpPr>
        <p:spPr>
          <a:xfrm rot="0">
            <a:off x="979472" y="3541265"/>
            <a:ext cx="7562442" cy="2286000"/>
          </a:xfrm>
          <a:prstGeom prst="rect">
            <a:avLst/>
          </a:prstGeom>
        </p:spPr>
        <p:txBody>
          <a:bodyPr anchor="t" rtlCol="false" tIns="0" lIns="0" bIns="0" rIns="0">
            <a:spAutoFit/>
          </a:bodyPr>
          <a:lstStyle/>
          <a:p>
            <a:pPr algn="l" marL="0" indent="0" lvl="0">
              <a:lnSpc>
                <a:spcPts val="4544"/>
              </a:lnSpc>
            </a:pPr>
            <a:r>
              <a:rPr lang="en-US" b="true" sz="3786" spc="56">
                <a:solidFill>
                  <a:srgbClr val="011A3C"/>
                </a:solidFill>
                <a:latin typeface="Gotham Bold"/>
                <a:ea typeface="Gotham Bold"/>
                <a:cs typeface="Gotham Bold"/>
                <a:sym typeface="Gotham Bold"/>
              </a:rPr>
              <a:t>SISTEMA DE RIEGO</a:t>
            </a:r>
          </a:p>
          <a:p>
            <a:pPr algn="l" marL="0" indent="0" lvl="0">
              <a:lnSpc>
                <a:spcPts val="4544"/>
              </a:lnSpc>
            </a:pPr>
            <a:r>
              <a:rPr lang="en-US" b="true" sz="3786" spc="56">
                <a:solidFill>
                  <a:srgbClr val="011A3C"/>
                </a:solidFill>
                <a:latin typeface="Gotham Bold"/>
                <a:ea typeface="Gotham Bold"/>
                <a:cs typeface="Gotham Bold"/>
                <a:sym typeface="Gotham Bold"/>
              </a:rPr>
              <a:t>AUTOMATIZADO</a:t>
            </a:r>
          </a:p>
          <a:p>
            <a:pPr algn="l" marL="0" indent="0" lvl="0">
              <a:lnSpc>
                <a:spcPts val="4544"/>
              </a:lnSpc>
            </a:pPr>
            <a:r>
              <a:rPr lang="en-US" b="true" sz="3786" spc="56">
                <a:solidFill>
                  <a:srgbClr val="011A3C"/>
                </a:solidFill>
                <a:latin typeface="Gotham Bold"/>
                <a:ea typeface="Gotham Bold"/>
                <a:cs typeface="Gotham Bold"/>
                <a:sym typeface="Gotham Bold"/>
              </a:rPr>
              <a:t>MULTIVARIABLE DE MONITOREO CONSTANTE </a:t>
            </a:r>
          </a:p>
        </p:txBody>
      </p:sp>
      <p:sp>
        <p:nvSpPr>
          <p:cNvPr name="TextBox 41" id="41"/>
          <p:cNvSpPr txBox="true"/>
          <p:nvPr/>
        </p:nvSpPr>
        <p:spPr>
          <a:xfrm rot="0">
            <a:off x="374294" y="6214792"/>
            <a:ext cx="9068087" cy="247267"/>
          </a:xfrm>
          <a:prstGeom prst="rect">
            <a:avLst/>
          </a:prstGeom>
        </p:spPr>
        <p:txBody>
          <a:bodyPr anchor="t" rtlCol="false" tIns="0" lIns="0" bIns="0" rIns="0">
            <a:spAutoFit/>
          </a:bodyPr>
          <a:lstStyle/>
          <a:p>
            <a:pPr algn="ctr" marL="0" indent="0" lvl="0">
              <a:lnSpc>
                <a:spcPts val="1946"/>
              </a:lnSpc>
            </a:pPr>
            <a:r>
              <a:rPr lang="en-US" sz="1497" spc="29">
                <a:solidFill>
                  <a:srgbClr val="FFFFFF"/>
                </a:solidFill>
                <a:latin typeface="Poppins"/>
                <a:ea typeface="Poppins"/>
                <a:cs typeface="Poppins"/>
                <a:sym typeface="Poppins"/>
              </a:rPr>
              <a:t>ASIGNATURA: SISTEMAS DIGITALES Y ARQUITECTURA DE COMPUTADORAS </a:t>
            </a:r>
          </a:p>
        </p:txBody>
      </p:sp>
      <p:sp>
        <p:nvSpPr>
          <p:cNvPr name="TextBox 42" id="42"/>
          <p:cNvSpPr txBox="true"/>
          <p:nvPr/>
        </p:nvSpPr>
        <p:spPr>
          <a:xfrm rot="0">
            <a:off x="979472" y="6725676"/>
            <a:ext cx="3917336" cy="261093"/>
          </a:xfrm>
          <a:prstGeom prst="rect">
            <a:avLst/>
          </a:prstGeom>
        </p:spPr>
        <p:txBody>
          <a:bodyPr anchor="t" rtlCol="false" tIns="0" lIns="0" bIns="0" rIns="0">
            <a:spAutoFit/>
          </a:bodyPr>
          <a:lstStyle/>
          <a:p>
            <a:pPr algn="l" marL="0" indent="0" lvl="0">
              <a:lnSpc>
                <a:spcPts val="2181"/>
              </a:lnSpc>
            </a:pPr>
            <a:r>
              <a:rPr lang="en-US" sz="1558">
                <a:solidFill>
                  <a:srgbClr val="011A3C"/>
                </a:solidFill>
                <a:latin typeface="Nunito"/>
                <a:ea typeface="Nunito"/>
                <a:cs typeface="Nunito"/>
                <a:sym typeface="Nunito"/>
              </a:rPr>
              <a:t>Autores :</a:t>
            </a:r>
          </a:p>
        </p:txBody>
      </p:sp>
      <p:sp>
        <p:nvSpPr>
          <p:cNvPr name="TextBox 43" id="43"/>
          <p:cNvSpPr txBox="true"/>
          <p:nvPr/>
        </p:nvSpPr>
        <p:spPr>
          <a:xfrm rot="0">
            <a:off x="5583050" y="6832410"/>
            <a:ext cx="3254152" cy="874532"/>
          </a:xfrm>
          <a:prstGeom prst="rect">
            <a:avLst/>
          </a:prstGeom>
        </p:spPr>
        <p:txBody>
          <a:bodyPr anchor="t" rtlCol="false" tIns="0" lIns="0" bIns="0" rIns="0">
            <a:spAutoFit/>
          </a:bodyPr>
          <a:lstStyle/>
          <a:p>
            <a:pPr algn="l" marL="0" indent="0" lvl="0">
              <a:lnSpc>
                <a:spcPts val="2349"/>
              </a:lnSpc>
            </a:pPr>
            <a:r>
              <a:rPr lang="en-US" sz="1677">
                <a:solidFill>
                  <a:srgbClr val="011A3C"/>
                </a:solidFill>
                <a:latin typeface="Nunito"/>
                <a:ea typeface="Nunito"/>
                <a:cs typeface="Nunito"/>
                <a:sym typeface="Nunito"/>
              </a:rPr>
              <a:t>Asesor :</a:t>
            </a:r>
          </a:p>
          <a:p>
            <a:pPr algn="l" marL="0" indent="0" lvl="0">
              <a:lnSpc>
                <a:spcPts val="2349"/>
              </a:lnSpc>
            </a:pPr>
            <a:r>
              <a:rPr lang="en-US" sz="1677">
                <a:solidFill>
                  <a:srgbClr val="011A3C"/>
                </a:solidFill>
                <a:latin typeface="Nunito"/>
                <a:ea typeface="Nunito"/>
                <a:cs typeface="Nunito"/>
                <a:sym typeface="Nunito"/>
              </a:rPr>
              <a:t>Hernán Oswaldo Villafuerte Barreto</a:t>
            </a:r>
          </a:p>
        </p:txBody>
      </p:sp>
      <p:sp>
        <p:nvSpPr>
          <p:cNvPr name="TextBox 44" id="44"/>
          <p:cNvSpPr txBox="true"/>
          <p:nvPr/>
        </p:nvSpPr>
        <p:spPr>
          <a:xfrm rot="0">
            <a:off x="979472" y="7062353"/>
            <a:ext cx="4439228" cy="1060876"/>
          </a:xfrm>
          <a:prstGeom prst="rect">
            <a:avLst/>
          </a:prstGeom>
        </p:spPr>
        <p:txBody>
          <a:bodyPr anchor="t" rtlCol="false" tIns="0" lIns="0" bIns="0" rIns="0">
            <a:spAutoFit/>
          </a:bodyPr>
          <a:lstStyle/>
          <a:p>
            <a:pPr algn="l" marL="0" indent="0" lvl="0">
              <a:lnSpc>
                <a:spcPts val="2107"/>
              </a:lnSpc>
            </a:pPr>
            <a:r>
              <a:rPr lang="en-US" b="true" sz="1505">
                <a:solidFill>
                  <a:srgbClr val="011A3C"/>
                </a:solidFill>
                <a:latin typeface="Poppins Medium"/>
                <a:ea typeface="Poppins Medium"/>
                <a:cs typeface="Poppins Medium"/>
                <a:sym typeface="Poppins Medium"/>
              </a:rPr>
              <a:t>Arnold Alonzo Salcedo Mego · Gabriel David Toro Suyllon</a:t>
            </a:r>
          </a:p>
          <a:p>
            <a:pPr algn="l" marL="0" indent="0" lvl="0">
              <a:lnSpc>
                <a:spcPts val="2107"/>
              </a:lnSpc>
            </a:pPr>
            <a:r>
              <a:rPr lang="en-US" b="true" sz="1505">
                <a:solidFill>
                  <a:srgbClr val="011A3C"/>
                </a:solidFill>
                <a:latin typeface="Poppins Medium"/>
                <a:ea typeface="Poppins Medium"/>
                <a:cs typeface="Poppins Medium"/>
                <a:sym typeface="Poppins Medium"/>
              </a:rPr>
              <a:t>Luis Fernando Toccas Rojas · Johan Jairo Zapana Porras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1516820" y="2789656"/>
            <a:ext cx="7123315" cy="6668635"/>
            <a:chOff x="0" y="0"/>
            <a:chExt cx="596900" cy="558800"/>
          </a:xfrm>
        </p:grpSpPr>
        <p:sp>
          <p:nvSpPr>
            <p:cNvPr name="Freeform 3" id="3"/>
            <p:cNvSpPr/>
            <p:nvPr/>
          </p:nvSpPr>
          <p:spPr>
            <a:xfrm flipH="false" flipV="false" rot="0">
              <a:off x="0" y="0"/>
              <a:ext cx="596900" cy="558800"/>
            </a:xfrm>
            <a:custGeom>
              <a:avLst/>
              <a:gdLst/>
              <a:ahLst/>
              <a:cxnLst/>
              <a:rect r="r" b="b" t="t" l="l"/>
              <a:pathLst>
                <a:path h="558800" w="596900">
                  <a:moveTo>
                    <a:pt x="596900" y="12770"/>
                  </a:moveTo>
                  <a:lnTo>
                    <a:pt x="596900" y="292030"/>
                  </a:lnTo>
                  <a:cubicBezTo>
                    <a:pt x="596900" y="300185"/>
                    <a:pt x="593558" y="307983"/>
                    <a:pt x="587652" y="313607"/>
                  </a:cubicBezTo>
                  <a:lnTo>
                    <a:pt x="339448" y="549993"/>
                  </a:lnTo>
                  <a:cubicBezTo>
                    <a:pt x="333511" y="555647"/>
                    <a:pt x="325627" y="558800"/>
                    <a:pt x="317430" y="558800"/>
                  </a:cubicBezTo>
                  <a:lnTo>
                    <a:pt x="12770" y="558800"/>
                  </a:lnTo>
                  <a:cubicBezTo>
                    <a:pt x="5718" y="558800"/>
                    <a:pt x="0" y="553083"/>
                    <a:pt x="0" y="546030"/>
                  </a:cubicBezTo>
                  <a:lnTo>
                    <a:pt x="0" y="261690"/>
                  </a:lnTo>
                  <a:cubicBezTo>
                    <a:pt x="0" y="253538"/>
                    <a:pt x="3353" y="245745"/>
                    <a:pt x="9273" y="240140"/>
                  </a:cubicBezTo>
                  <a:lnTo>
                    <a:pt x="253617" y="8780"/>
                  </a:lnTo>
                  <a:cubicBezTo>
                    <a:pt x="259572" y="3142"/>
                    <a:pt x="267460" y="0"/>
                    <a:pt x="275660" y="0"/>
                  </a:cubicBezTo>
                  <a:lnTo>
                    <a:pt x="584130" y="0"/>
                  </a:lnTo>
                  <a:cubicBezTo>
                    <a:pt x="591183" y="0"/>
                    <a:pt x="596900" y="5718"/>
                    <a:pt x="596900" y="12770"/>
                  </a:cubicBezTo>
                  <a:close/>
                </a:path>
              </a:pathLst>
            </a:custGeom>
            <a:solidFill>
              <a:srgbClr val="014AAB">
                <a:alpha val="5882"/>
              </a:srgbClr>
            </a:solidFill>
          </p:spPr>
        </p:sp>
        <p:sp>
          <p:nvSpPr>
            <p:cNvPr name="TextBox 4" id="4"/>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5" id="5"/>
          <p:cNvGrpSpPr/>
          <p:nvPr/>
        </p:nvGrpSpPr>
        <p:grpSpPr>
          <a:xfrm rot="-10800000">
            <a:off x="11672748" y="-2698351"/>
            <a:ext cx="4732342" cy="4430278"/>
            <a:chOff x="0" y="0"/>
            <a:chExt cx="596900" cy="558800"/>
          </a:xfrm>
        </p:grpSpPr>
        <p:sp>
          <p:nvSpPr>
            <p:cNvPr name="Freeform 6" id="6"/>
            <p:cNvSpPr/>
            <p:nvPr/>
          </p:nvSpPr>
          <p:spPr>
            <a:xfrm flipH="false" flipV="false" rot="0">
              <a:off x="0" y="0"/>
              <a:ext cx="596900" cy="558800"/>
            </a:xfrm>
            <a:custGeom>
              <a:avLst/>
              <a:gdLst/>
              <a:ahLst/>
              <a:cxnLst/>
              <a:rect r="r" b="b" t="t" l="l"/>
              <a:pathLst>
                <a:path h="558800" w="596900">
                  <a:moveTo>
                    <a:pt x="596900" y="19223"/>
                  </a:moveTo>
                  <a:lnTo>
                    <a:pt x="596900" y="285577"/>
                  </a:lnTo>
                  <a:cubicBezTo>
                    <a:pt x="596900" y="297853"/>
                    <a:pt x="591869" y="309591"/>
                    <a:pt x="582980" y="318057"/>
                  </a:cubicBezTo>
                  <a:lnTo>
                    <a:pt x="344120" y="545543"/>
                  </a:lnTo>
                  <a:cubicBezTo>
                    <a:pt x="335184" y="554053"/>
                    <a:pt x="323317" y="558800"/>
                    <a:pt x="310977" y="558800"/>
                  </a:cubicBezTo>
                  <a:lnTo>
                    <a:pt x="19223" y="558800"/>
                  </a:lnTo>
                  <a:cubicBezTo>
                    <a:pt x="14124" y="558800"/>
                    <a:pt x="9235" y="556775"/>
                    <a:pt x="5630" y="553170"/>
                  </a:cubicBezTo>
                  <a:cubicBezTo>
                    <a:pt x="2025" y="549565"/>
                    <a:pt x="0" y="544676"/>
                    <a:pt x="0" y="539577"/>
                  </a:cubicBezTo>
                  <a:lnTo>
                    <a:pt x="0" y="268143"/>
                  </a:lnTo>
                  <a:cubicBezTo>
                    <a:pt x="0" y="255871"/>
                    <a:pt x="5048" y="244141"/>
                    <a:pt x="13958" y="235704"/>
                  </a:cubicBezTo>
                  <a:lnTo>
                    <a:pt x="248932" y="13216"/>
                  </a:lnTo>
                  <a:cubicBezTo>
                    <a:pt x="257895" y="4730"/>
                    <a:pt x="269769" y="0"/>
                    <a:pt x="282113" y="0"/>
                  </a:cubicBezTo>
                  <a:lnTo>
                    <a:pt x="577677" y="0"/>
                  </a:lnTo>
                  <a:cubicBezTo>
                    <a:pt x="582776" y="0"/>
                    <a:pt x="587665" y="2025"/>
                    <a:pt x="591270" y="5630"/>
                  </a:cubicBezTo>
                  <a:cubicBezTo>
                    <a:pt x="594875" y="9235"/>
                    <a:pt x="596900" y="14124"/>
                    <a:pt x="596900" y="19223"/>
                  </a:cubicBezTo>
                  <a:close/>
                </a:path>
              </a:pathLst>
            </a:custGeom>
            <a:solidFill>
              <a:srgbClr val="014AAB">
                <a:alpha val="5882"/>
              </a:srgbClr>
            </a:solidFill>
          </p:spPr>
        </p:sp>
        <p:sp>
          <p:nvSpPr>
            <p:cNvPr name="TextBox 7" id="7"/>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sp>
        <p:nvSpPr>
          <p:cNvPr name="TextBox 8" id="8"/>
          <p:cNvSpPr txBox="true"/>
          <p:nvPr/>
        </p:nvSpPr>
        <p:spPr>
          <a:xfrm rot="0">
            <a:off x="8723474" y="1678373"/>
            <a:ext cx="8115300" cy="2355082"/>
          </a:xfrm>
          <a:prstGeom prst="rect">
            <a:avLst/>
          </a:prstGeom>
        </p:spPr>
        <p:txBody>
          <a:bodyPr anchor="t" rtlCol="false" tIns="0" lIns="0" bIns="0" rIns="0">
            <a:spAutoFit/>
          </a:bodyPr>
          <a:lstStyle/>
          <a:p>
            <a:pPr algn="r" marL="0" indent="0" lvl="0">
              <a:lnSpc>
                <a:spcPts val="6094"/>
              </a:lnSpc>
            </a:pPr>
            <a:r>
              <a:rPr lang="en-US" b="true" sz="6094" spc="121">
                <a:solidFill>
                  <a:srgbClr val="011A3C"/>
                </a:solidFill>
                <a:latin typeface="Gotham Bold"/>
                <a:ea typeface="Gotham Bold"/>
                <a:cs typeface="Gotham Bold"/>
                <a:sym typeface="Gotham Bold"/>
              </a:rPr>
              <a:t>INTRODUCCIÓN Y CONTEXTO DEL PROBLEMA</a:t>
            </a:r>
          </a:p>
        </p:txBody>
      </p:sp>
      <p:grpSp>
        <p:nvGrpSpPr>
          <p:cNvPr name="Group 9" id="9"/>
          <p:cNvGrpSpPr/>
          <p:nvPr/>
        </p:nvGrpSpPr>
        <p:grpSpPr>
          <a:xfrm rot="0">
            <a:off x="-8289632" y="-946951"/>
            <a:ext cx="14820677" cy="13874676"/>
            <a:chOff x="0" y="0"/>
            <a:chExt cx="596900" cy="558800"/>
          </a:xfrm>
        </p:grpSpPr>
        <p:sp>
          <p:nvSpPr>
            <p:cNvPr name="Freeform 10" id="10"/>
            <p:cNvSpPr/>
            <p:nvPr/>
          </p:nvSpPr>
          <p:spPr>
            <a:xfrm flipH="false" flipV="false" rot="0">
              <a:off x="0" y="0"/>
              <a:ext cx="596900" cy="558800"/>
            </a:xfrm>
            <a:custGeom>
              <a:avLst/>
              <a:gdLst/>
              <a:ahLst/>
              <a:cxnLst/>
              <a:rect r="r" b="b" t="t" l="l"/>
              <a:pathLst>
                <a:path h="558800" w="596900">
                  <a:moveTo>
                    <a:pt x="596900" y="6138"/>
                  </a:moveTo>
                  <a:lnTo>
                    <a:pt x="596900" y="298662"/>
                  </a:lnTo>
                  <a:cubicBezTo>
                    <a:pt x="596900" y="302582"/>
                    <a:pt x="595294" y="306330"/>
                    <a:pt x="592455" y="309033"/>
                  </a:cubicBezTo>
                  <a:lnTo>
                    <a:pt x="334645" y="554567"/>
                  </a:lnTo>
                  <a:cubicBezTo>
                    <a:pt x="331791" y="557284"/>
                    <a:pt x="328002" y="558800"/>
                    <a:pt x="324062" y="558800"/>
                  </a:cubicBezTo>
                  <a:lnTo>
                    <a:pt x="6138" y="558800"/>
                  </a:lnTo>
                  <a:cubicBezTo>
                    <a:pt x="4510" y="558800"/>
                    <a:pt x="2949" y="558153"/>
                    <a:pt x="1798" y="557002"/>
                  </a:cubicBezTo>
                  <a:cubicBezTo>
                    <a:pt x="647" y="555851"/>
                    <a:pt x="0" y="554290"/>
                    <a:pt x="0" y="552662"/>
                  </a:cubicBezTo>
                  <a:lnTo>
                    <a:pt x="0" y="255058"/>
                  </a:lnTo>
                  <a:cubicBezTo>
                    <a:pt x="0" y="251140"/>
                    <a:pt x="1612" y="247394"/>
                    <a:pt x="4457" y="244700"/>
                  </a:cubicBezTo>
                  <a:lnTo>
                    <a:pt x="258433" y="4220"/>
                  </a:lnTo>
                  <a:cubicBezTo>
                    <a:pt x="261295" y="1510"/>
                    <a:pt x="265087" y="0"/>
                    <a:pt x="269028" y="0"/>
                  </a:cubicBezTo>
                  <a:lnTo>
                    <a:pt x="590762" y="0"/>
                  </a:lnTo>
                  <a:cubicBezTo>
                    <a:pt x="592390" y="0"/>
                    <a:pt x="593951" y="647"/>
                    <a:pt x="595102" y="1798"/>
                  </a:cubicBezTo>
                  <a:cubicBezTo>
                    <a:pt x="596253" y="2949"/>
                    <a:pt x="596900" y="4510"/>
                    <a:pt x="596900" y="6138"/>
                  </a:cubicBezTo>
                  <a:close/>
                </a:path>
              </a:pathLst>
            </a:custGeom>
            <a:ln w="190500" cap="sq">
              <a:solidFill>
                <a:srgbClr val="8DABD2"/>
              </a:solidFill>
              <a:prstDash val="solid"/>
              <a:miter/>
            </a:ln>
          </p:spPr>
        </p:sp>
        <p:sp>
          <p:nvSpPr>
            <p:cNvPr name="TextBox 11" id="11"/>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2" id="12"/>
          <p:cNvGrpSpPr/>
          <p:nvPr/>
        </p:nvGrpSpPr>
        <p:grpSpPr>
          <a:xfrm rot="0">
            <a:off x="-7592208" y="-294043"/>
            <a:ext cx="13425829" cy="12568861"/>
            <a:chOff x="0" y="0"/>
            <a:chExt cx="596900" cy="558800"/>
          </a:xfrm>
        </p:grpSpPr>
        <p:sp>
          <p:nvSpPr>
            <p:cNvPr name="Freeform 13" id="13"/>
            <p:cNvSpPr/>
            <p:nvPr/>
          </p:nvSpPr>
          <p:spPr>
            <a:xfrm flipH="false" flipV="false" rot="0">
              <a:off x="0" y="0"/>
              <a:ext cx="596900" cy="558800"/>
            </a:xfrm>
            <a:custGeom>
              <a:avLst/>
              <a:gdLst/>
              <a:ahLst/>
              <a:cxnLst/>
              <a:rect r="r" b="b" t="t" l="l"/>
              <a:pathLst>
                <a:path h="558800" w="596900">
                  <a:moveTo>
                    <a:pt x="596900" y="6776"/>
                  </a:moveTo>
                  <a:lnTo>
                    <a:pt x="596900" y="298024"/>
                  </a:lnTo>
                  <a:cubicBezTo>
                    <a:pt x="596900" y="302351"/>
                    <a:pt x="595127" y="306489"/>
                    <a:pt x="591994" y="309473"/>
                  </a:cubicBezTo>
                  <a:lnTo>
                    <a:pt x="335106" y="554127"/>
                  </a:lnTo>
                  <a:cubicBezTo>
                    <a:pt x="331957" y="557127"/>
                    <a:pt x="327774" y="558800"/>
                    <a:pt x="323424" y="558800"/>
                  </a:cubicBezTo>
                  <a:lnTo>
                    <a:pt x="6776" y="558800"/>
                  </a:lnTo>
                  <a:cubicBezTo>
                    <a:pt x="3034" y="558800"/>
                    <a:pt x="0" y="555766"/>
                    <a:pt x="0" y="552024"/>
                  </a:cubicBezTo>
                  <a:lnTo>
                    <a:pt x="0" y="255696"/>
                  </a:lnTo>
                  <a:cubicBezTo>
                    <a:pt x="0" y="251370"/>
                    <a:pt x="1779" y="247235"/>
                    <a:pt x="4920" y="244261"/>
                  </a:cubicBezTo>
                  <a:lnTo>
                    <a:pt x="257970" y="4659"/>
                  </a:lnTo>
                  <a:cubicBezTo>
                    <a:pt x="261129" y="1667"/>
                    <a:pt x="265315" y="0"/>
                    <a:pt x="269666" y="0"/>
                  </a:cubicBezTo>
                  <a:lnTo>
                    <a:pt x="590124" y="0"/>
                  </a:lnTo>
                  <a:cubicBezTo>
                    <a:pt x="593866" y="0"/>
                    <a:pt x="596900" y="3034"/>
                    <a:pt x="596900" y="6776"/>
                  </a:cubicBezTo>
                  <a:close/>
                </a:path>
              </a:pathLst>
            </a:custGeom>
            <a:solidFill>
              <a:srgbClr val="014AAB"/>
            </a:solidFill>
          </p:spPr>
        </p:sp>
        <p:sp>
          <p:nvSpPr>
            <p:cNvPr name="TextBox 14" id="14"/>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5" id="15"/>
          <p:cNvGrpSpPr/>
          <p:nvPr/>
        </p:nvGrpSpPr>
        <p:grpSpPr>
          <a:xfrm rot="0">
            <a:off x="6812552" y="5886315"/>
            <a:ext cx="2062328" cy="1930690"/>
            <a:chOff x="0" y="0"/>
            <a:chExt cx="596900" cy="558800"/>
          </a:xfrm>
        </p:grpSpPr>
        <p:sp>
          <p:nvSpPr>
            <p:cNvPr name="Freeform 16" id="16"/>
            <p:cNvSpPr/>
            <p:nvPr/>
          </p:nvSpPr>
          <p:spPr>
            <a:xfrm flipH="false" flipV="false" rot="0">
              <a:off x="0" y="0"/>
              <a:ext cx="596900" cy="558800"/>
            </a:xfrm>
            <a:custGeom>
              <a:avLst/>
              <a:gdLst/>
              <a:ahLst/>
              <a:cxnLst/>
              <a:rect r="r" b="b" t="t" l="l"/>
              <a:pathLst>
                <a:path h="558800" w="596900">
                  <a:moveTo>
                    <a:pt x="596900" y="44109"/>
                  </a:moveTo>
                  <a:lnTo>
                    <a:pt x="596900" y="260691"/>
                  </a:lnTo>
                  <a:cubicBezTo>
                    <a:pt x="596900" y="288858"/>
                    <a:pt x="585356" y="315794"/>
                    <a:pt x="564959" y="335220"/>
                  </a:cubicBezTo>
                  <a:lnTo>
                    <a:pt x="362141" y="528380"/>
                  </a:lnTo>
                  <a:cubicBezTo>
                    <a:pt x="341637" y="547908"/>
                    <a:pt x="314406" y="558800"/>
                    <a:pt x="286091" y="558800"/>
                  </a:cubicBezTo>
                  <a:lnTo>
                    <a:pt x="44109" y="558800"/>
                  </a:lnTo>
                  <a:cubicBezTo>
                    <a:pt x="19748" y="558800"/>
                    <a:pt x="0" y="539052"/>
                    <a:pt x="0" y="514691"/>
                  </a:cubicBezTo>
                  <a:lnTo>
                    <a:pt x="0" y="293029"/>
                  </a:lnTo>
                  <a:cubicBezTo>
                    <a:pt x="0" y="264871"/>
                    <a:pt x="11583" y="237953"/>
                    <a:pt x="32029" y="218593"/>
                  </a:cubicBezTo>
                  <a:lnTo>
                    <a:pt x="230861" y="30327"/>
                  </a:lnTo>
                  <a:cubicBezTo>
                    <a:pt x="251428" y="10853"/>
                    <a:pt x="278675" y="0"/>
                    <a:pt x="306999" y="0"/>
                  </a:cubicBezTo>
                  <a:lnTo>
                    <a:pt x="552791" y="0"/>
                  </a:lnTo>
                  <a:cubicBezTo>
                    <a:pt x="577152" y="0"/>
                    <a:pt x="596900" y="19748"/>
                    <a:pt x="596900" y="44109"/>
                  </a:cubicBezTo>
                  <a:close/>
                </a:path>
              </a:pathLst>
            </a:custGeom>
            <a:solidFill>
              <a:srgbClr val="8DABD2"/>
            </a:solidFill>
          </p:spPr>
        </p:sp>
        <p:sp>
          <p:nvSpPr>
            <p:cNvPr name="TextBox 17" id="17"/>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8" id="18"/>
          <p:cNvGrpSpPr/>
          <p:nvPr/>
        </p:nvGrpSpPr>
        <p:grpSpPr>
          <a:xfrm rot="-5400000">
            <a:off x="13308055" y="9334651"/>
            <a:ext cx="2392343" cy="2239640"/>
            <a:chOff x="0" y="0"/>
            <a:chExt cx="596900" cy="558800"/>
          </a:xfrm>
        </p:grpSpPr>
        <p:sp>
          <p:nvSpPr>
            <p:cNvPr name="Freeform 19" id="19"/>
            <p:cNvSpPr/>
            <p:nvPr/>
          </p:nvSpPr>
          <p:spPr>
            <a:xfrm flipH="false" flipV="false" rot="0">
              <a:off x="0" y="0"/>
              <a:ext cx="596900" cy="558800"/>
            </a:xfrm>
            <a:custGeom>
              <a:avLst/>
              <a:gdLst/>
              <a:ahLst/>
              <a:cxnLst/>
              <a:rect r="r" b="b" t="t" l="l"/>
              <a:pathLst>
                <a:path h="558800" w="596900">
                  <a:moveTo>
                    <a:pt x="596900" y="38024"/>
                  </a:moveTo>
                  <a:lnTo>
                    <a:pt x="596900" y="266776"/>
                  </a:lnTo>
                  <a:cubicBezTo>
                    <a:pt x="596900" y="291057"/>
                    <a:pt x="586948" y="314278"/>
                    <a:pt x="569365" y="331024"/>
                  </a:cubicBezTo>
                  <a:lnTo>
                    <a:pt x="357735" y="532576"/>
                  </a:lnTo>
                  <a:cubicBezTo>
                    <a:pt x="340059" y="549410"/>
                    <a:pt x="316585" y="558800"/>
                    <a:pt x="292176" y="558800"/>
                  </a:cubicBezTo>
                  <a:lnTo>
                    <a:pt x="38024" y="558800"/>
                  </a:lnTo>
                  <a:cubicBezTo>
                    <a:pt x="17024" y="558800"/>
                    <a:pt x="0" y="541776"/>
                    <a:pt x="0" y="520776"/>
                  </a:cubicBezTo>
                  <a:lnTo>
                    <a:pt x="0" y="286944"/>
                  </a:lnTo>
                  <a:cubicBezTo>
                    <a:pt x="0" y="262671"/>
                    <a:pt x="9985" y="239466"/>
                    <a:pt x="27611" y="222776"/>
                  </a:cubicBezTo>
                  <a:lnTo>
                    <a:pt x="235279" y="26144"/>
                  </a:lnTo>
                  <a:cubicBezTo>
                    <a:pt x="253009" y="9356"/>
                    <a:pt x="276498" y="0"/>
                    <a:pt x="300914" y="0"/>
                  </a:cubicBezTo>
                  <a:lnTo>
                    <a:pt x="558876" y="0"/>
                  </a:lnTo>
                  <a:cubicBezTo>
                    <a:pt x="579876" y="0"/>
                    <a:pt x="596900" y="17024"/>
                    <a:pt x="596900" y="38024"/>
                  </a:cubicBezTo>
                  <a:close/>
                </a:path>
              </a:pathLst>
            </a:custGeom>
            <a:solidFill>
              <a:srgbClr val="8DABD2"/>
            </a:solidFill>
          </p:spPr>
        </p:sp>
        <p:sp>
          <p:nvSpPr>
            <p:cNvPr name="TextBox 20" id="20"/>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21" id="21"/>
          <p:cNvGrpSpPr/>
          <p:nvPr/>
        </p:nvGrpSpPr>
        <p:grpSpPr>
          <a:xfrm rot="-5400000">
            <a:off x="6650567" y="2110012"/>
            <a:ext cx="2297642" cy="2150984"/>
            <a:chOff x="0" y="0"/>
            <a:chExt cx="596900" cy="558800"/>
          </a:xfrm>
        </p:grpSpPr>
        <p:sp>
          <p:nvSpPr>
            <p:cNvPr name="Freeform 22" id="22"/>
            <p:cNvSpPr/>
            <p:nvPr/>
          </p:nvSpPr>
          <p:spPr>
            <a:xfrm flipH="false" flipV="false" rot="0">
              <a:off x="0" y="0"/>
              <a:ext cx="596900" cy="558800"/>
            </a:xfrm>
            <a:custGeom>
              <a:avLst/>
              <a:gdLst/>
              <a:ahLst/>
              <a:cxnLst/>
              <a:rect r="r" b="b" t="t" l="l"/>
              <a:pathLst>
                <a:path h="558800" w="596900">
                  <a:moveTo>
                    <a:pt x="596900" y="39592"/>
                  </a:moveTo>
                  <a:lnTo>
                    <a:pt x="596900" y="265208"/>
                  </a:lnTo>
                  <a:cubicBezTo>
                    <a:pt x="596900" y="290491"/>
                    <a:pt x="586538" y="314668"/>
                    <a:pt x="568230" y="332105"/>
                  </a:cubicBezTo>
                  <a:lnTo>
                    <a:pt x="358870" y="531495"/>
                  </a:lnTo>
                  <a:cubicBezTo>
                    <a:pt x="340465" y="549023"/>
                    <a:pt x="316024" y="558800"/>
                    <a:pt x="290608" y="558800"/>
                  </a:cubicBezTo>
                  <a:lnTo>
                    <a:pt x="39592" y="558800"/>
                  </a:lnTo>
                  <a:cubicBezTo>
                    <a:pt x="29091" y="558800"/>
                    <a:pt x="19021" y="554629"/>
                    <a:pt x="11596" y="547204"/>
                  </a:cubicBezTo>
                  <a:cubicBezTo>
                    <a:pt x="4171" y="539779"/>
                    <a:pt x="0" y="529709"/>
                    <a:pt x="0" y="519208"/>
                  </a:cubicBezTo>
                  <a:lnTo>
                    <a:pt x="0" y="288512"/>
                  </a:lnTo>
                  <a:cubicBezTo>
                    <a:pt x="0" y="263237"/>
                    <a:pt x="10396" y="239076"/>
                    <a:pt x="28749" y="221699"/>
                  </a:cubicBezTo>
                  <a:lnTo>
                    <a:pt x="234141" y="27221"/>
                  </a:lnTo>
                  <a:cubicBezTo>
                    <a:pt x="252602" y="9742"/>
                    <a:pt x="277059" y="0"/>
                    <a:pt x="302482" y="0"/>
                  </a:cubicBezTo>
                  <a:lnTo>
                    <a:pt x="557308" y="0"/>
                  </a:lnTo>
                  <a:cubicBezTo>
                    <a:pt x="567809" y="0"/>
                    <a:pt x="577879" y="4171"/>
                    <a:pt x="585304" y="11596"/>
                  </a:cubicBezTo>
                  <a:cubicBezTo>
                    <a:pt x="592729" y="19021"/>
                    <a:pt x="596900" y="29091"/>
                    <a:pt x="596900" y="39592"/>
                  </a:cubicBezTo>
                  <a:close/>
                </a:path>
              </a:pathLst>
            </a:custGeom>
            <a:solidFill>
              <a:srgbClr val="8DABD2"/>
            </a:solidFill>
          </p:spPr>
        </p:sp>
        <p:sp>
          <p:nvSpPr>
            <p:cNvPr name="TextBox 23" id="23"/>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24" id="24"/>
          <p:cNvGrpSpPr/>
          <p:nvPr/>
        </p:nvGrpSpPr>
        <p:grpSpPr>
          <a:xfrm rot="0">
            <a:off x="1633977" y="1028700"/>
            <a:ext cx="6659390" cy="8229600"/>
            <a:chOff x="0" y="0"/>
            <a:chExt cx="1460623" cy="1805022"/>
          </a:xfrm>
        </p:grpSpPr>
        <p:sp>
          <p:nvSpPr>
            <p:cNvPr name="Freeform 25" id="25"/>
            <p:cNvSpPr/>
            <p:nvPr/>
          </p:nvSpPr>
          <p:spPr>
            <a:xfrm flipH="false" flipV="false" rot="0">
              <a:off x="0" y="0"/>
              <a:ext cx="1460627" cy="1805022"/>
            </a:xfrm>
            <a:custGeom>
              <a:avLst/>
              <a:gdLst/>
              <a:ahLst/>
              <a:cxnLst/>
              <a:rect r="r" b="b" t="t" l="l"/>
              <a:pathLst>
                <a:path h="1805022" w="1460627">
                  <a:moveTo>
                    <a:pt x="1460627" y="1189424"/>
                  </a:moveTo>
                  <a:lnTo>
                    <a:pt x="1460627" y="561989"/>
                  </a:lnTo>
                  <a:cubicBezTo>
                    <a:pt x="1460629" y="522853"/>
                    <a:pt x="1446205" y="485089"/>
                    <a:pt x="1420114" y="455919"/>
                  </a:cubicBezTo>
                  <a:lnTo>
                    <a:pt x="1046362" y="38122"/>
                  </a:lnTo>
                  <a:cubicBezTo>
                    <a:pt x="1024662" y="13865"/>
                    <a:pt x="993657" y="0"/>
                    <a:pt x="961111" y="0"/>
                  </a:cubicBezTo>
                  <a:lnTo>
                    <a:pt x="114384" y="0"/>
                  </a:lnTo>
                  <a:cubicBezTo>
                    <a:pt x="51211" y="0"/>
                    <a:pt x="0" y="51211"/>
                    <a:pt x="0" y="114384"/>
                  </a:cubicBezTo>
                  <a:lnTo>
                    <a:pt x="0" y="501214"/>
                  </a:lnTo>
                  <a:lnTo>
                    <a:pt x="0" y="1234766"/>
                  </a:lnTo>
                  <a:cubicBezTo>
                    <a:pt x="0" y="1279232"/>
                    <a:pt x="16390" y="1322137"/>
                    <a:pt x="46036" y="1355277"/>
                  </a:cubicBezTo>
                  <a:lnTo>
                    <a:pt x="414263" y="1766900"/>
                  </a:lnTo>
                  <a:cubicBezTo>
                    <a:pt x="435962" y="1791157"/>
                    <a:pt x="466967" y="1805022"/>
                    <a:pt x="499514" y="1805022"/>
                  </a:cubicBezTo>
                  <a:lnTo>
                    <a:pt x="944739" y="1805022"/>
                  </a:lnTo>
                  <a:cubicBezTo>
                    <a:pt x="975076" y="1805022"/>
                    <a:pt x="1004170" y="1792971"/>
                    <a:pt x="1025621" y="1771520"/>
                  </a:cubicBezTo>
                  <a:cubicBezTo>
                    <a:pt x="1047073" y="1750069"/>
                    <a:pt x="1059124" y="1720975"/>
                    <a:pt x="1059124" y="1690638"/>
                  </a:cubicBezTo>
                  <a:lnTo>
                    <a:pt x="1059124" y="1418193"/>
                  </a:lnTo>
                  <a:cubicBezTo>
                    <a:pt x="1059124" y="1355019"/>
                    <a:pt x="1110336" y="1303808"/>
                    <a:pt x="1173509" y="1303808"/>
                  </a:cubicBezTo>
                  <a:lnTo>
                    <a:pt x="1346241" y="1303808"/>
                  </a:lnTo>
                  <a:cubicBezTo>
                    <a:pt x="1376578" y="1303808"/>
                    <a:pt x="1405672" y="1291757"/>
                    <a:pt x="1427124" y="1270306"/>
                  </a:cubicBezTo>
                  <a:cubicBezTo>
                    <a:pt x="1448576" y="1248855"/>
                    <a:pt x="1460627" y="1219761"/>
                    <a:pt x="1460627" y="1189424"/>
                  </a:cubicBezTo>
                  <a:close/>
                </a:path>
              </a:pathLst>
            </a:custGeom>
            <a:blipFill>
              <a:blip r:embed="rId2"/>
              <a:stretch>
                <a:fillRect l="0" t="-27" r="0" b="-27"/>
              </a:stretch>
            </a:blipFill>
            <a:ln w="152400" cap="sq">
              <a:solidFill>
                <a:srgbClr val="FFFFFF"/>
              </a:solidFill>
              <a:prstDash val="solid"/>
              <a:miter/>
            </a:ln>
          </p:spPr>
        </p:sp>
      </p:grpSp>
      <p:sp>
        <p:nvSpPr>
          <p:cNvPr name="Freeform 26" id="26"/>
          <p:cNvSpPr/>
          <p:nvPr/>
        </p:nvSpPr>
        <p:spPr>
          <a:xfrm flipH="true" flipV="true" rot="0">
            <a:off x="839656" y="7316412"/>
            <a:ext cx="1588642" cy="1571311"/>
          </a:xfrm>
          <a:custGeom>
            <a:avLst/>
            <a:gdLst/>
            <a:ahLst/>
            <a:cxnLst/>
            <a:rect r="r" b="b" t="t" l="l"/>
            <a:pathLst>
              <a:path h="1571311" w="1588642">
                <a:moveTo>
                  <a:pt x="1588642" y="1571311"/>
                </a:moveTo>
                <a:lnTo>
                  <a:pt x="0" y="1571311"/>
                </a:lnTo>
                <a:lnTo>
                  <a:pt x="0" y="0"/>
                </a:lnTo>
                <a:lnTo>
                  <a:pt x="1588642" y="0"/>
                </a:lnTo>
                <a:lnTo>
                  <a:pt x="1588642" y="1571311"/>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7" id="27"/>
          <p:cNvSpPr/>
          <p:nvPr/>
        </p:nvSpPr>
        <p:spPr>
          <a:xfrm flipH="false" flipV="false" rot="0">
            <a:off x="931024" y="532300"/>
            <a:ext cx="1401730" cy="231923"/>
          </a:xfrm>
          <a:custGeom>
            <a:avLst/>
            <a:gdLst/>
            <a:ahLst/>
            <a:cxnLst/>
            <a:rect r="r" b="b" t="t" l="l"/>
            <a:pathLst>
              <a:path h="231923" w="1401730">
                <a:moveTo>
                  <a:pt x="0" y="0"/>
                </a:moveTo>
                <a:lnTo>
                  <a:pt x="1401731" y="0"/>
                </a:lnTo>
                <a:lnTo>
                  <a:pt x="1401731" y="231922"/>
                </a:lnTo>
                <a:lnTo>
                  <a:pt x="0" y="23192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8" id="28"/>
          <p:cNvSpPr/>
          <p:nvPr/>
        </p:nvSpPr>
        <p:spPr>
          <a:xfrm flipH="false" flipV="false" rot="0">
            <a:off x="14504226" y="9685631"/>
            <a:ext cx="1211471" cy="200443"/>
          </a:xfrm>
          <a:custGeom>
            <a:avLst/>
            <a:gdLst/>
            <a:ahLst/>
            <a:cxnLst/>
            <a:rect r="r" b="b" t="t" l="l"/>
            <a:pathLst>
              <a:path h="200443" w="1211471">
                <a:moveTo>
                  <a:pt x="0" y="0"/>
                </a:moveTo>
                <a:lnTo>
                  <a:pt x="1211472" y="0"/>
                </a:lnTo>
                <a:lnTo>
                  <a:pt x="1211472" y="200444"/>
                </a:lnTo>
                <a:lnTo>
                  <a:pt x="0" y="20044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9" id="29"/>
          <p:cNvSpPr/>
          <p:nvPr/>
        </p:nvSpPr>
        <p:spPr>
          <a:xfrm flipH="false" flipV="false" rot="0">
            <a:off x="11292003" y="609463"/>
            <a:ext cx="935360" cy="154760"/>
          </a:xfrm>
          <a:custGeom>
            <a:avLst/>
            <a:gdLst/>
            <a:ahLst/>
            <a:cxnLst/>
            <a:rect r="r" b="b" t="t" l="l"/>
            <a:pathLst>
              <a:path h="154760" w="935360">
                <a:moveTo>
                  <a:pt x="0" y="0"/>
                </a:moveTo>
                <a:lnTo>
                  <a:pt x="935360" y="0"/>
                </a:lnTo>
                <a:lnTo>
                  <a:pt x="935360" y="154759"/>
                </a:lnTo>
                <a:lnTo>
                  <a:pt x="0" y="15475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30" id="30"/>
          <p:cNvSpPr txBox="true"/>
          <p:nvPr/>
        </p:nvSpPr>
        <p:spPr>
          <a:xfrm rot="0">
            <a:off x="9931097" y="4428643"/>
            <a:ext cx="7328203" cy="4798408"/>
          </a:xfrm>
          <a:prstGeom prst="rect">
            <a:avLst/>
          </a:prstGeom>
        </p:spPr>
        <p:txBody>
          <a:bodyPr anchor="t" rtlCol="false" tIns="0" lIns="0" bIns="0" rIns="0">
            <a:spAutoFit/>
          </a:bodyPr>
          <a:lstStyle/>
          <a:p>
            <a:pPr algn="r" marL="0" indent="0" lvl="0">
              <a:lnSpc>
                <a:spcPts val="2745"/>
              </a:lnSpc>
            </a:pPr>
            <a:r>
              <a:rPr lang="en-US" sz="1961">
                <a:solidFill>
                  <a:srgbClr val="011A3C"/>
                </a:solidFill>
                <a:latin typeface="Nunito"/>
                <a:ea typeface="Nunito"/>
                <a:cs typeface="Nunito"/>
                <a:sym typeface="Nunito"/>
              </a:rPr>
              <a:t>La ge</a:t>
            </a:r>
            <a:r>
              <a:rPr lang="en-US" sz="1961">
                <a:solidFill>
                  <a:srgbClr val="011A3C"/>
                </a:solidFill>
                <a:latin typeface="Nunito"/>
                <a:ea typeface="Nunito"/>
                <a:cs typeface="Nunito"/>
                <a:sym typeface="Nunito"/>
              </a:rPr>
              <a:t>stión eficiente del agua es un reto importante, especialmente en la agricultura urbana y los biohuertos escolares. Los sistemas de riego tradicionales utilizan temporizadores fijos que no consideran las condiciones ambientales, lo que puede provocar desperdicio de agua o afectar el crecimiento de las plantas. Este proyecto propone un sistema de riego automatizado de bajo costo que monitorea la humedad del suelo y las condiciones climáticas para tomar decisiones inteligentes. Además, incorpora comunicación Bluetooth para enviar datos y recibir configuraciones de forma remota. El sistema emplea una placa Arduino Uno, protege las interfaces de hardware, controla el riego mediante una Máquina de Estados Finitos (FSM) y utiliza comunicación UART-Bluetooth para la transmisión de datos y la reconfiguración de parámetros.</a:t>
            </a:r>
          </a:p>
        </p:txBody>
      </p:sp>
      <p:sp>
        <p:nvSpPr>
          <p:cNvPr name="AutoShape 31" id="31"/>
          <p:cNvSpPr/>
          <p:nvPr/>
        </p:nvSpPr>
        <p:spPr>
          <a:xfrm>
            <a:off x="11498540" y="4144722"/>
            <a:ext cx="8461486" cy="0"/>
          </a:xfrm>
          <a:prstGeom prst="line">
            <a:avLst/>
          </a:prstGeom>
          <a:ln cap="rnd" w="38100">
            <a:solidFill>
              <a:srgbClr val="8DABD2"/>
            </a:solidFill>
            <a:prstDash val="solid"/>
            <a:headEnd type="none" len="sm" w="sm"/>
            <a:tailEnd type="none" len="sm" w="sm"/>
          </a:ln>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14372557" y="-522625"/>
            <a:ext cx="5586552" cy="5229964"/>
            <a:chOff x="0" y="0"/>
            <a:chExt cx="596900" cy="558800"/>
          </a:xfrm>
        </p:grpSpPr>
        <p:sp>
          <p:nvSpPr>
            <p:cNvPr name="Freeform 3" id="3"/>
            <p:cNvSpPr/>
            <p:nvPr/>
          </p:nvSpPr>
          <p:spPr>
            <a:xfrm flipH="false" flipV="false" rot="0">
              <a:off x="0" y="0"/>
              <a:ext cx="596900" cy="558800"/>
            </a:xfrm>
            <a:custGeom>
              <a:avLst/>
              <a:gdLst/>
              <a:ahLst/>
              <a:cxnLst/>
              <a:rect r="r" b="b" t="t" l="l"/>
              <a:pathLst>
                <a:path h="558800" w="596900">
                  <a:moveTo>
                    <a:pt x="596900" y="16283"/>
                  </a:moveTo>
                  <a:lnTo>
                    <a:pt x="596900" y="288517"/>
                  </a:lnTo>
                  <a:cubicBezTo>
                    <a:pt x="596900" y="298915"/>
                    <a:pt x="592638" y="308859"/>
                    <a:pt x="585109" y="316030"/>
                  </a:cubicBezTo>
                  <a:lnTo>
                    <a:pt x="341991" y="547570"/>
                  </a:lnTo>
                  <a:cubicBezTo>
                    <a:pt x="334422" y="554779"/>
                    <a:pt x="324370" y="558800"/>
                    <a:pt x="313917" y="558800"/>
                  </a:cubicBezTo>
                  <a:lnTo>
                    <a:pt x="16283" y="558800"/>
                  </a:lnTo>
                  <a:cubicBezTo>
                    <a:pt x="7290" y="558800"/>
                    <a:pt x="0" y="551510"/>
                    <a:pt x="0" y="542517"/>
                  </a:cubicBezTo>
                  <a:lnTo>
                    <a:pt x="0" y="265203"/>
                  </a:lnTo>
                  <a:cubicBezTo>
                    <a:pt x="0" y="254809"/>
                    <a:pt x="4276" y="244871"/>
                    <a:pt x="11824" y="237724"/>
                  </a:cubicBezTo>
                  <a:lnTo>
                    <a:pt x="251066" y="11196"/>
                  </a:lnTo>
                  <a:cubicBezTo>
                    <a:pt x="258659" y="4007"/>
                    <a:pt x="268717" y="0"/>
                    <a:pt x="279173" y="0"/>
                  </a:cubicBezTo>
                  <a:lnTo>
                    <a:pt x="580617" y="0"/>
                  </a:lnTo>
                  <a:cubicBezTo>
                    <a:pt x="589610" y="0"/>
                    <a:pt x="596900" y="7290"/>
                    <a:pt x="596900" y="16283"/>
                  </a:cubicBezTo>
                  <a:close/>
                </a:path>
              </a:pathLst>
            </a:custGeom>
            <a:solidFill>
              <a:srgbClr val="014AAB">
                <a:alpha val="5882"/>
              </a:srgbClr>
            </a:solidFill>
          </p:spPr>
        </p:sp>
        <p:sp>
          <p:nvSpPr>
            <p:cNvPr name="TextBox 4" id="4"/>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5" id="5"/>
          <p:cNvGrpSpPr/>
          <p:nvPr/>
        </p:nvGrpSpPr>
        <p:grpSpPr>
          <a:xfrm rot="-10800000">
            <a:off x="16832257" y="4400004"/>
            <a:ext cx="3358368" cy="3144004"/>
            <a:chOff x="0" y="0"/>
            <a:chExt cx="596900" cy="558800"/>
          </a:xfrm>
        </p:grpSpPr>
        <p:sp>
          <p:nvSpPr>
            <p:cNvPr name="Freeform 6" id="6"/>
            <p:cNvSpPr/>
            <p:nvPr/>
          </p:nvSpPr>
          <p:spPr>
            <a:xfrm flipH="false" flipV="false" rot="0">
              <a:off x="0" y="0"/>
              <a:ext cx="596900" cy="558800"/>
            </a:xfrm>
            <a:custGeom>
              <a:avLst/>
              <a:gdLst/>
              <a:ahLst/>
              <a:cxnLst/>
              <a:rect r="r" b="b" t="t" l="l"/>
              <a:pathLst>
                <a:path h="558800" w="596900">
                  <a:moveTo>
                    <a:pt x="596900" y="27087"/>
                  </a:moveTo>
                  <a:lnTo>
                    <a:pt x="596900" y="277713"/>
                  </a:lnTo>
                  <a:cubicBezTo>
                    <a:pt x="596900" y="295010"/>
                    <a:pt x="589811" y="311552"/>
                    <a:pt x="577285" y="323481"/>
                  </a:cubicBezTo>
                  <a:lnTo>
                    <a:pt x="349815" y="540119"/>
                  </a:lnTo>
                  <a:cubicBezTo>
                    <a:pt x="337223" y="552111"/>
                    <a:pt x="320501" y="558800"/>
                    <a:pt x="303113" y="558800"/>
                  </a:cubicBezTo>
                  <a:lnTo>
                    <a:pt x="27087" y="558800"/>
                  </a:lnTo>
                  <a:cubicBezTo>
                    <a:pt x="12127" y="558800"/>
                    <a:pt x="0" y="546673"/>
                    <a:pt x="0" y="531713"/>
                  </a:cubicBezTo>
                  <a:lnTo>
                    <a:pt x="0" y="276007"/>
                  </a:lnTo>
                  <a:cubicBezTo>
                    <a:pt x="0" y="258715"/>
                    <a:pt x="7113" y="242185"/>
                    <a:pt x="19669" y="230296"/>
                  </a:cubicBezTo>
                  <a:lnTo>
                    <a:pt x="243221" y="18624"/>
                  </a:lnTo>
                  <a:cubicBezTo>
                    <a:pt x="255851" y="6665"/>
                    <a:pt x="272583" y="0"/>
                    <a:pt x="289977" y="0"/>
                  </a:cubicBezTo>
                  <a:lnTo>
                    <a:pt x="569813" y="0"/>
                  </a:lnTo>
                  <a:cubicBezTo>
                    <a:pt x="584773" y="0"/>
                    <a:pt x="596900" y="12127"/>
                    <a:pt x="596900" y="27087"/>
                  </a:cubicBezTo>
                  <a:close/>
                </a:path>
              </a:pathLst>
            </a:custGeom>
            <a:solidFill>
              <a:srgbClr val="014AAB">
                <a:alpha val="5882"/>
              </a:srgbClr>
            </a:solidFill>
          </p:spPr>
        </p:sp>
        <p:sp>
          <p:nvSpPr>
            <p:cNvPr name="TextBox 7" id="7"/>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8" id="8"/>
          <p:cNvGrpSpPr/>
          <p:nvPr/>
        </p:nvGrpSpPr>
        <p:grpSpPr>
          <a:xfrm rot="-5400000">
            <a:off x="-2264889" y="963796"/>
            <a:ext cx="4019894" cy="3763305"/>
            <a:chOff x="0" y="0"/>
            <a:chExt cx="596900" cy="558800"/>
          </a:xfrm>
        </p:grpSpPr>
        <p:sp>
          <p:nvSpPr>
            <p:cNvPr name="Freeform 9" id="9"/>
            <p:cNvSpPr/>
            <p:nvPr/>
          </p:nvSpPr>
          <p:spPr>
            <a:xfrm flipH="false" flipV="false" rot="0">
              <a:off x="0" y="0"/>
              <a:ext cx="596900" cy="558800"/>
            </a:xfrm>
            <a:custGeom>
              <a:avLst/>
              <a:gdLst/>
              <a:ahLst/>
              <a:cxnLst/>
              <a:rect r="r" b="b" t="t" l="l"/>
              <a:pathLst>
                <a:path h="558800" w="596900">
                  <a:moveTo>
                    <a:pt x="596900" y="22629"/>
                  </a:moveTo>
                  <a:lnTo>
                    <a:pt x="596900" y="282171"/>
                  </a:lnTo>
                  <a:cubicBezTo>
                    <a:pt x="596900" y="296621"/>
                    <a:pt x="590977" y="310440"/>
                    <a:pt x="580513" y="320406"/>
                  </a:cubicBezTo>
                  <a:lnTo>
                    <a:pt x="346587" y="543194"/>
                  </a:lnTo>
                  <a:cubicBezTo>
                    <a:pt x="336067" y="553212"/>
                    <a:pt x="322097" y="558800"/>
                    <a:pt x="307571" y="558800"/>
                  </a:cubicBezTo>
                  <a:lnTo>
                    <a:pt x="22629" y="558800"/>
                  </a:lnTo>
                  <a:cubicBezTo>
                    <a:pt x="10132" y="558800"/>
                    <a:pt x="0" y="548668"/>
                    <a:pt x="0" y="536171"/>
                  </a:cubicBezTo>
                  <a:lnTo>
                    <a:pt x="0" y="271549"/>
                  </a:lnTo>
                  <a:cubicBezTo>
                    <a:pt x="0" y="257103"/>
                    <a:pt x="5942" y="243294"/>
                    <a:pt x="16432" y="233361"/>
                  </a:cubicBezTo>
                  <a:lnTo>
                    <a:pt x="246458" y="15559"/>
                  </a:lnTo>
                  <a:cubicBezTo>
                    <a:pt x="257010" y="5568"/>
                    <a:pt x="270988" y="0"/>
                    <a:pt x="285519" y="0"/>
                  </a:cubicBezTo>
                  <a:lnTo>
                    <a:pt x="574271" y="0"/>
                  </a:lnTo>
                  <a:cubicBezTo>
                    <a:pt x="586768" y="0"/>
                    <a:pt x="596900" y="10132"/>
                    <a:pt x="596900" y="22629"/>
                  </a:cubicBezTo>
                  <a:close/>
                </a:path>
              </a:pathLst>
            </a:custGeom>
            <a:solidFill>
              <a:srgbClr val="014AAB">
                <a:alpha val="5882"/>
              </a:srgbClr>
            </a:solidFill>
          </p:spPr>
        </p:sp>
        <p:sp>
          <p:nvSpPr>
            <p:cNvPr name="TextBox 10" id="10"/>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1" id="11"/>
          <p:cNvGrpSpPr/>
          <p:nvPr/>
        </p:nvGrpSpPr>
        <p:grpSpPr>
          <a:xfrm rot="-5400000">
            <a:off x="260802" y="5632991"/>
            <a:ext cx="11455664" cy="10724451"/>
            <a:chOff x="0" y="0"/>
            <a:chExt cx="596900" cy="558800"/>
          </a:xfrm>
        </p:grpSpPr>
        <p:sp>
          <p:nvSpPr>
            <p:cNvPr name="Freeform 12" id="12"/>
            <p:cNvSpPr/>
            <p:nvPr/>
          </p:nvSpPr>
          <p:spPr>
            <a:xfrm flipH="false" flipV="false" rot="0">
              <a:off x="0" y="0"/>
              <a:ext cx="596900" cy="558800"/>
            </a:xfrm>
            <a:custGeom>
              <a:avLst/>
              <a:gdLst/>
              <a:ahLst/>
              <a:cxnLst/>
              <a:rect r="r" b="b" t="t" l="l"/>
              <a:pathLst>
                <a:path h="558800" w="596900">
                  <a:moveTo>
                    <a:pt x="596900" y="35734"/>
                  </a:moveTo>
                  <a:lnTo>
                    <a:pt x="596900" y="269066"/>
                  </a:lnTo>
                  <a:cubicBezTo>
                    <a:pt x="596900" y="291885"/>
                    <a:pt x="587548" y="313707"/>
                    <a:pt x="571024" y="329444"/>
                  </a:cubicBezTo>
                  <a:lnTo>
                    <a:pt x="356076" y="534156"/>
                  </a:lnTo>
                  <a:cubicBezTo>
                    <a:pt x="339465" y="549976"/>
                    <a:pt x="317405" y="558800"/>
                    <a:pt x="294466" y="558800"/>
                  </a:cubicBezTo>
                  <a:lnTo>
                    <a:pt x="35734" y="558800"/>
                  </a:lnTo>
                  <a:cubicBezTo>
                    <a:pt x="26257" y="558800"/>
                    <a:pt x="17168" y="555035"/>
                    <a:pt x="10466" y="548334"/>
                  </a:cubicBezTo>
                  <a:cubicBezTo>
                    <a:pt x="3765" y="541632"/>
                    <a:pt x="0" y="532543"/>
                    <a:pt x="0" y="523066"/>
                  </a:cubicBezTo>
                  <a:lnTo>
                    <a:pt x="0" y="284654"/>
                  </a:lnTo>
                  <a:cubicBezTo>
                    <a:pt x="0" y="261842"/>
                    <a:pt x="9383" y="240035"/>
                    <a:pt x="25948" y="224351"/>
                  </a:cubicBezTo>
                  <a:lnTo>
                    <a:pt x="236942" y="24569"/>
                  </a:lnTo>
                  <a:cubicBezTo>
                    <a:pt x="253604" y="8792"/>
                    <a:pt x="275678" y="0"/>
                    <a:pt x="298624" y="0"/>
                  </a:cubicBezTo>
                  <a:lnTo>
                    <a:pt x="561166" y="0"/>
                  </a:lnTo>
                  <a:cubicBezTo>
                    <a:pt x="570643" y="0"/>
                    <a:pt x="579732" y="3765"/>
                    <a:pt x="586434" y="10466"/>
                  </a:cubicBezTo>
                  <a:cubicBezTo>
                    <a:pt x="593135" y="17168"/>
                    <a:pt x="596900" y="26257"/>
                    <a:pt x="596900" y="35734"/>
                  </a:cubicBezTo>
                  <a:close/>
                </a:path>
              </a:pathLst>
            </a:custGeom>
            <a:solidFill>
              <a:srgbClr val="8DABD2"/>
            </a:solidFill>
          </p:spPr>
        </p:sp>
        <p:sp>
          <p:nvSpPr>
            <p:cNvPr name="TextBox 13" id="13"/>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4" id="14"/>
          <p:cNvGrpSpPr/>
          <p:nvPr/>
        </p:nvGrpSpPr>
        <p:grpSpPr>
          <a:xfrm rot="0">
            <a:off x="2169636" y="4707338"/>
            <a:ext cx="12880056" cy="4550962"/>
            <a:chOff x="0" y="0"/>
            <a:chExt cx="3392278" cy="1198607"/>
          </a:xfrm>
        </p:grpSpPr>
        <p:sp>
          <p:nvSpPr>
            <p:cNvPr name="Freeform 15" id="15"/>
            <p:cNvSpPr/>
            <p:nvPr/>
          </p:nvSpPr>
          <p:spPr>
            <a:xfrm flipH="false" flipV="false" rot="0">
              <a:off x="0" y="0"/>
              <a:ext cx="3392278" cy="1198607"/>
            </a:xfrm>
            <a:custGeom>
              <a:avLst/>
              <a:gdLst/>
              <a:ahLst/>
              <a:cxnLst/>
              <a:rect r="r" b="b" t="t" l="l"/>
              <a:pathLst>
                <a:path h="1198607" w="3392278">
                  <a:moveTo>
                    <a:pt x="31857" y="0"/>
                  </a:moveTo>
                  <a:lnTo>
                    <a:pt x="3360421" y="0"/>
                  </a:lnTo>
                  <a:cubicBezTo>
                    <a:pt x="3368870" y="0"/>
                    <a:pt x="3376973" y="3356"/>
                    <a:pt x="3382947" y="9331"/>
                  </a:cubicBezTo>
                  <a:cubicBezTo>
                    <a:pt x="3388922" y="15305"/>
                    <a:pt x="3392278" y="23408"/>
                    <a:pt x="3392278" y="31857"/>
                  </a:cubicBezTo>
                  <a:lnTo>
                    <a:pt x="3392278" y="1166750"/>
                  </a:lnTo>
                  <a:cubicBezTo>
                    <a:pt x="3392278" y="1184344"/>
                    <a:pt x="3378015" y="1198607"/>
                    <a:pt x="3360421" y="1198607"/>
                  </a:cubicBezTo>
                  <a:lnTo>
                    <a:pt x="31857" y="1198607"/>
                  </a:lnTo>
                  <a:cubicBezTo>
                    <a:pt x="14263" y="1198607"/>
                    <a:pt x="0" y="1184344"/>
                    <a:pt x="0" y="1166750"/>
                  </a:cubicBezTo>
                  <a:lnTo>
                    <a:pt x="0" y="31857"/>
                  </a:lnTo>
                  <a:cubicBezTo>
                    <a:pt x="0" y="14263"/>
                    <a:pt x="14263" y="0"/>
                    <a:pt x="31857" y="0"/>
                  </a:cubicBezTo>
                  <a:close/>
                </a:path>
              </a:pathLst>
            </a:custGeom>
            <a:solidFill>
              <a:srgbClr val="FFFFFF"/>
            </a:solidFill>
          </p:spPr>
        </p:sp>
        <p:sp>
          <p:nvSpPr>
            <p:cNvPr name="TextBox 16" id="16"/>
            <p:cNvSpPr txBox="true"/>
            <p:nvPr/>
          </p:nvSpPr>
          <p:spPr>
            <a:xfrm>
              <a:off x="0" y="-57150"/>
              <a:ext cx="3392278" cy="1255757"/>
            </a:xfrm>
            <a:prstGeom prst="rect">
              <a:avLst/>
            </a:prstGeom>
          </p:spPr>
          <p:txBody>
            <a:bodyPr anchor="ctr" rtlCol="false" tIns="50800" lIns="50800" bIns="50800" rIns="50800"/>
            <a:lstStyle/>
            <a:p>
              <a:pPr algn="ctr" marL="0" indent="0" lvl="0">
                <a:lnSpc>
                  <a:spcPts val="3220"/>
                </a:lnSpc>
              </a:pPr>
            </a:p>
          </p:txBody>
        </p:sp>
      </p:grpSp>
      <p:sp>
        <p:nvSpPr>
          <p:cNvPr name="TextBox 17" id="17"/>
          <p:cNvSpPr txBox="true"/>
          <p:nvPr/>
        </p:nvSpPr>
        <p:spPr>
          <a:xfrm rot="0">
            <a:off x="3741893" y="1868411"/>
            <a:ext cx="10804215" cy="953914"/>
          </a:xfrm>
          <a:prstGeom prst="rect">
            <a:avLst/>
          </a:prstGeom>
        </p:spPr>
        <p:txBody>
          <a:bodyPr anchor="t" rtlCol="false" tIns="0" lIns="0" bIns="0" rIns="0">
            <a:spAutoFit/>
          </a:bodyPr>
          <a:lstStyle/>
          <a:p>
            <a:pPr algn="ctr" marL="0" indent="0" lvl="0">
              <a:lnSpc>
                <a:spcPts val="7180"/>
              </a:lnSpc>
            </a:pPr>
            <a:r>
              <a:rPr lang="en-US" b="true" sz="7180" spc="143">
                <a:solidFill>
                  <a:srgbClr val="011A3C"/>
                </a:solidFill>
                <a:latin typeface="Gotham Bold"/>
                <a:ea typeface="Gotham Bold"/>
                <a:cs typeface="Gotham Bold"/>
                <a:sym typeface="Gotham Bold"/>
              </a:rPr>
              <a:t>ANTECEDENTES</a:t>
            </a:r>
          </a:p>
        </p:txBody>
      </p:sp>
      <p:sp>
        <p:nvSpPr>
          <p:cNvPr name="AutoShape 18" id="18"/>
          <p:cNvSpPr/>
          <p:nvPr/>
        </p:nvSpPr>
        <p:spPr>
          <a:xfrm flipV="true">
            <a:off x="7951248" y="3078134"/>
            <a:ext cx="12134633" cy="0"/>
          </a:xfrm>
          <a:prstGeom prst="line">
            <a:avLst/>
          </a:prstGeom>
          <a:ln cap="rnd" w="38100">
            <a:solidFill>
              <a:srgbClr val="014AAB"/>
            </a:solidFill>
            <a:prstDash val="solid"/>
            <a:headEnd type="none" len="sm" w="sm"/>
            <a:tailEnd type="none" len="sm" w="sm"/>
          </a:ln>
        </p:spPr>
      </p:sp>
      <p:sp>
        <p:nvSpPr>
          <p:cNvPr name="TextBox 19" id="19"/>
          <p:cNvSpPr txBox="true"/>
          <p:nvPr/>
        </p:nvSpPr>
        <p:spPr>
          <a:xfrm rot="0">
            <a:off x="3126495" y="3287684"/>
            <a:ext cx="9012855" cy="5391150"/>
          </a:xfrm>
          <a:prstGeom prst="rect">
            <a:avLst/>
          </a:prstGeom>
        </p:spPr>
        <p:txBody>
          <a:bodyPr anchor="t" rtlCol="false" tIns="0" lIns="0" bIns="0" rIns="0">
            <a:spAutoFit/>
          </a:bodyPr>
          <a:lstStyle/>
          <a:p>
            <a:pPr algn="l" marL="371458" indent="-185729" lvl="1">
              <a:lnSpc>
                <a:spcPts val="2064"/>
              </a:lnSpc>
              <a:buFont typeface="Arial"/>
              <a:buChar char="•"/>
            </a:pPr>
            <a:r>
              <a:rPr lang="en-US" sz="1720">
                <a:solidFill>
                  <a:srgbClr val="011A3C"/>
                </a:solidFill>
                <a:latin typeface="Nunito"/>
                <a:ea typeface="Nunito"/>
                <a:cs typeface="Nunito"/>
                <a:sym typeface="Nunito"/>
              </a:rPr>
              <a:t>Los sistemas de</a:t>
            </a:r>
            <a:r>
              <a:rPr lang="en-US" sz="1720">
                <a:solidFill>
                  <a:srgbClr val="011A3C"/>
                </a:solidFill>
                <a:latin typeface="Nunito"/>
                <a:ea typeface="Nunito"/>
                <a:cs typeface="Nunito"/>
                <a:sym typeface="Nunito"/>
              </a:rPr>
              <a:t> riego automatizados han evolucionado gracias al uso de sistemas embebidos, sensores de bajo costo y comunicación inalámbrica, permitiendo optimizar el consumo de agua.</a:t>
            </a:r>
          </a:p>
          <a:p>
            <a:pPr algn="l">
              <a:lnSpc>
                <a:spcPts val="2064"/>
              </a:lnSpc>
            </a:pPr>
          </a:p>
          <a:p>
            <a:pPr algn="l" marL="371458" indent="-185729" lvl="1">
              <a:lnSpc>
                <a:spcPts val="2064"/>
              </a:lnSpc>
              <a:buFont typeface="Arial"/>
              <a:buChar char="•"/>
            </a:pPr>
            <a:r>
              <a:rPr lang="en-US" sz="1720">
                <a:solidFill>
                  <a:srgbClr val="011A3C"/>
                </a:solidFill>
                <a:latin typeface="Nunito"/>
                <a:ea typeface="Nunito"/>
                <a:cs typeface="Nunito"/>
                <a:sym typeface="Nunito"/>
              </a:rPr>
              <a:t>En 2014, José Gutiérrez y colaboradores desarrollaron un sistema de riego con redes de sensores inalámbricos y comunicación GPRS, logrando reducir el desperdicio de agua mediante monitoreo remoto. Sin embargo, su funcionamiento dependía de la red celular, aumentando la latencia y los costos.</a:t>
            </a:r>
          </a:p>
          <a:p>
            <a:pPr algn="l">
              <a:lnSpc>
                <a:spcPts val="2064"/>
              </a:lnSpc>
            </a:pPr>
          </a:p>
          <a:p>
            <a:pPr algn="l" marL="371458" indent="-185729" lvl="1">
              <a:lnSpc>
                <a:spcPts val="2064"/>
              </a:lnSpc>
              <a:buFont typeface="Arial"/>
              <a:buChar char="•"/>
            </a:pPr>
            <a:r>
              <a:rPr lang="en-US" sz="1720">
                <a:solidFill>
                  <a:srgbClr val="011A3C"/>
                </a:solidFill>
                <a:latin typeface="Nunito"/>
                <a:ea typeface="Nunito"/>
                <a:cs typeface="Nunito"/>
                <a:sym typeface="Nunito"/>
              </a:rPr>
              <a:t>En 2021, Muhammad S. Munir y colaboradores propusieron aplicar Edge Computing, donde el microcontrolador procesa los datos y toma decisiones de manera local, reduciendo el tiempo de respuesta y la dependencia de la nube.</a:t>
            </a:r>
          </a:p>
          <a:p>
            <a:pPr algn="l">
              <a:lnSpc>
                <a:spcPts val="2064"/>
              </a:lnSpc>
            </a:pPr>
          </a:p>
          <a:p>
            <a:pPr algn="l" marL="371458" indent="-185729" lvl="1">
              <a:lnSpc>
                <a:spcPts val="2064"/>
              </a:lnSpc>
              <a:buFont typeface="Arial"/>
              <a:buChar char="•"/>
            </a:pPr>
            <a:r>
              <a:rPr lang="en-US" sz="1720">
                <a:solidFill>
                  <a:srgbClr val="011A3C"/>
                </a:solidFill>
                <a:latin typeface="Nunito"/>
                <a:ea typeface="Nunito"/>
                <a:cs typeface="Nunito"/>
                <a:sym typeface="Nunito"/>
              </a:rPr>
              <a:t>En 2019, K. S. S. Prasad y colaboradores plantearon reemplazar los temporizadores tradicionales por un control basado en temperatura y humedad, logrando un riego más eficiente mediante umbrales dinámicos.</a:t>
            </a:r>
          </a:p>
          <a:p>
            <a:pPr algn="l">
              <a:lnSpc>
                <a:spcPts val="2064"/>
              </a:lnSpc>
            </a:pPr>
          </a:p>
          <a:p>
            <a:pPr algn="l" marL="371458" indent="-185729" lvl="1">
              <a:lnSpc>
                <a:spcPts val="2064"/>
              </a:lnSpc>
              <a:buFont typeface="Arial"/>
              <a:buChar char="•"/>
            </a:pPr>
            <a:r>
              <a:rPr lang="en-US" sz="1720">
                <a:solidFill>
                  <a:srgbClr val="011A3C"/>
                </a:solidFill>
                <a:latin typeface="Nunito"/>
                <a:ea typeface="Nunito"/>
                <a:cs typeface="Nunito"/>
                <a:sym typeface="Nunito"/>
              </a:rPr>
              <a:t>Nuestro proyecto integra estas ideas en una solución de bajo costo basada en Arduino Uno, con procesamiento local y comunicación Bluetooth para monitoreo, control y configuración remota desde una aplicación Android.</a:t>
            </a:r>
          </a:p>
          <a:p>
            <a:pPr algn="l" marL="0" indent="0" lvl="0">
              <a:lnSpc>
                <a:spcPts val="2064"/>
              </a:lnSpc>
            </a:pPr>
          </a:p>
        </p:txBody>
      </p:sp>
      <p:grpSp>
        <p:nvGrpSpPr>
          <p:cNvPr name="Group 20" id="20"/>
          <p:cNvGrpSpPr/>
          <p:nvPr/>
        </p:nvGrpSpPr>
        <p:grpSpPr>
          <a:xfrm rot="0">
            <a:off x="14546107" y="9008976"/>
            <a:ext cx="2954069" cy="2765512"/>
            <a:chOff x="0" y="0"/>
            <a:chExt cx="596900" cy="558800"/>
          </a:xfrm>
        </p:grpSpPr>
        <p:sp>
          <p:nvSpPr>
            <p:cNvPr name="Freeform 21" id="21"/>
            <p:cNvSpPr/>
            <p:nvPr/>
          </p:nvSpPr>
          <p:spPr>
            <a:xfrm flipH="false" flipV="false" rot="0">
              <a:off x="0" y="0"/>
              <a:ext cx="596900" cy="558800"/>
            </a:xfrm>
            <a:custGeom>
              <a:avLst/>
              <a:gdLst/>
              <a:ahLst/>
              <a:cxnLst/>
              <a:rect r="r" b="b" t="t" l="l"/>
              <a:pathLst>
                <a:path h="558800" w="596900">
                  <a:moveTo>
                    <a:pt x="596900" y="30794"/>
                  </a:moveTo>
                  <a:lnTo>
                    <a:pt x="596900" y="274006"/>
                  </a:lnTo>
                  <a:cubicBezTo>
                    <a:pt x="596900" y="293670"/>
                    <a:pt x="588841" y="312476"/>
                    <a:pt x="574601" y="326037"/>
                  </a:cubicBezTo>
                  <a:lnTo>
                    <a:pt x="352499" y="537563"/>
                  </a:lnTo>
                  <a:cubicBezTo>
                    <a:pt x="338184" y="551196"/>
                    <a:pt x="319174" y="558800"/>
                    <a:pt x="299406" y="558800"/>
                  </a:cubicBezTo>
                  <a:lnTo>
                    <a:pt x="30794" y="558800"/>
                  </a:lnTo>
                  <a:cubicBezTo>
                    <a:pt x="13787" y="558800"/>
                    <a:pt x="0" y="545013"/>
                    <a:pt x="0" y="528006"/>
                  </a:cubicBezTo>
                  <a:lnTo>
                    <a:pt x="0" y="279714"/>
                  </a:lnTo>
                  <a:cubicBezTo>
                    <a:pt x="0" y="260056"/>
                    <a:pt x="8086" y="241263"/>
                    <a:pt x="22361" y="227748"/>
                  </a:cubicBezTo>
                  <a:lnTo>
                    <a:pt x="240529" y="21172"/>
                  </a:lnTo>
                  <a:cubicBezTo>
                    <a:pt x="254888" y="7577"/>
                    <a:pt x="273910" y="0"/>
                    <a:pt x="293684" y="0"/>
                  </a:cubicBezTo>
                  <a:lnTo>
                    <a:pt x="566106" y="0"/>
                  </a:lnTo>
                  <a:cubicBezTo>
                    <a:pt x="583113" y="0"/>
                    <a:pt x="596900" y="13787"/>
                    <a:pt x="596900" y="30794"/>
                  </a:cubicBezTo>
                  <a:close/>
                </a:path>
              </a:pathLst>
            </a:custGeom>
            <a:solidFill>
              <a:srgbClr val="014AAB"/>
            </a:solidFill>
          </p:spPr>
        </p:sp>
        <p:sp>
          <p:nvSpPr>
            <p:cNvPr name="TextBox 22" id="22"/>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sp>
        <p:nvSpPr>
          <p:cNvPr name="Freeform 23" id="23"/>
          <p:cNvSpPr/>
          <p:nvPr/>
        </p:nvSpPr>
        <p:spPr>
          <a:xfrm flipH="false" flipV="false" rot="0">
            <a:off x="14372557" y="9685631"/>
            <a:ext cx="1211471" cy="200443"/>
          </a:xfrm>
          <a:custGeom>
            <a:avLst/>
            <a:gdLst/>
            <a:ahLst/>
            <a:cxnLst/>
            <a:rect r="r" b="b" t="t" l="l"/>
            <a:pathLst>
              <a:path h="200443" w="1211471">
                <a:moveTo>
                  <a:pt x="0" y="0"/>
                </a:moveTo>
                <a:lnTo>
                  <a:pt x="1211471" y="0"/>
                </a:lnTo>
                <a:lnTo>
                  <a:pt x="1211471" y="200444"/>
                </a:lnTo>
                <a:lnTo>
                  <a:pt x="0" y="2004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4" id="24"/>
          <p:cNvGrpSpPr/>
          <p:nvPr/>
        </p:nvGrpSpPr>
        <p:grpSpPr>
          <a:xfrm rot="-10800000">
            <a:off x="779460" y="-3002706"/>
            <a:ext cx="4863131" cy="4552719"/>
            <a:chOff x="0" y="0"/>
            <a:chExt cx="596900" cy="558800"/>
          </a:xfrm>
        </p:grpSpPr>
        <p:sp>
          <p:nvSpPr>
            <p:cNvPr name="Freeform 25" id="25"/>
            <p:cNvSpPr/>
            <p:nvPr/>
          </p:nvSpPr>
          <p:spPr>
            <a:xfrm flipH="false" flipV="false" rot="0">
              <a:off x="0" y="0"/>
              <a:ext cx="596900" cy="558800"/>
            </a:xfrm>
            <a:custGeom>
              <a:avLst/>
              <a:gdLst/>
              <a:ahLst/>
              <a:cxnLst/>
              <a:rect r="r" b="b" t="t" l="l"/>
              <a:pathLst>
                <a:path h="558800" w="596900">
                  <a:moveTo>
                    <a:pt x="596900" y="18706"/>
                  </a:moveTo>
                  <a:lnTo>
                    <a:pt x="596900" y="286094"/>
                  </a:lnTo>
                  <a:cubicBezTo>
                    <a:pt x="596900" y="298039"/>
                    <a:pt x="592004" y="309462"/>
                    <a:pt x="583355" y="317700"/>
                  </a:cubicBezTo>
                  <a:lnTo>
                    <a:pt x="343745" y="545900"/>
                  </a:lnTo>
                  <a:cubicBezTo>
                    <a:pt x="335050" y="554181"/>
                    <a:pt x="323502" y="558800"/>
                    <a:pt x="311494" y="558800"/>
                  </a:cubicBezTo>
                  <a:lnTo>
                    <a:pt x="18706" y="558800"/>
                  </a:lnTo>
                  <a:cubicBezTo>
                    <a:pt x="13745" y="558800"/>
                    <a:pt x="8987" y="556829"/>
                    <a:pt x="5479" y="553321"/>
                  </a:cubicBezTo>
                  <a:cubicBezTo>
                    <a:pt x="1971" y="549813"/>
                    <a:pt x="0" y="545055"/>
                    <a:pt x="0" y="540094"/>
                  </a:cubicBezTo>
                  <a:lnTo>
                    <a:pt x="0" y="267626"/>
                  </a:lnTo>
                  <a:cubicBezTo>
                    <a:pt x="0" y="255684"/>
                    <a:pt x="4912" y="244269"/>
                    <a:pt x="13583" y="236059"/>
                  </a:cubicBezTo>
                  <a:lnTo>
                    <a:pt x="249307" y="12861"/>
                  </a:lnTo>
                  <a:cubicBezTo>
                    <a:pt x="258029" y="4603"/>
                    <a:pt x="269584" y="0"/>
                    <a:pt x="281596" y="0"/>
                  </a:cubicBezTo>
                  <a:lnTo>
                    <a:pt x="578194" y="0"/>
                  </a:lnTo>
                  <a:cubicBezTo>
                    <a:pt x="583155" y="0"/>
                    <a:pt x="587913" y="1971"/>
                    <a:pt x="591421" y="5479"/>
                  </a:cubicBezTo>
                  <a:cubicBezTo>
                    <a:pt x="594929" y="8987"/>
                    <a:pt x="596900" y="13745"/>
                    <a:pt x="596900" y="18706"/>
                  </a:cubicBezTo>
                  <a:close/>
                </a:path>
              </a:pathLst>
            </a:custGeom>
            <a:ln w="85725" cap="sq">
              <a:solidFill>
                <a:srgbClr val="8DABD2"/>
              </a:solidFill>
              <a:prstDash val="solid"/>
              <a:miter/>
            </a:ln>
          </p:spPr>
        </p:sp>
        <p:sp>
          <p:nvSpPr>
            <p:cNvPr name="TextBox 26" id="26"/>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27" id="27"/>
          <p:cNvGrpSpPr/>
          <p:nvPr/>
        </p:nvGrpSpPr>
        <p:grpSpPr>
          <a:xfrm rot="-10800000">
            <a:off x="1174301" y="-2633068"/>
            <a:ext cx="4073450" cy="3813443"/>
            <a:chOff x="0" y="0"/>
            <a:chExt cx="596900" cy="558800"/>
          </a:xfrm>
        </p:grpSpPr>
        <p:sp>
          <p:nvSpPr>
            <p:cNvPr name="Freeform 28" id="28"/>
            <p:cNvSpPr/>
            <p:nvPr/>
          </p:nvSpPr>
          <p:spPr>
            <a:xfrm flipH="false" flipV="false" rot="0">
              <a:off x="0" y="0"/>
              <a:ext cx="596900" cy="558800"/>
            </a:xfrm>
            <a:custGeom>
              <a:avLst/>
              <a:gdLst/>
              <a:ahLst/>
              <a:cxnLst/>
              <a:rect r="r" b="b" t="t" l="l"/>
              <a:pathLst>
                <a:path h="558800" w="596900">
                  <a:moveTo>
                    <a:pt x="596900" y="22332"/>
                  </a:moveTo>
                  <a:lnTo>
                    <a:pt x="596900" y="282468"/>
                  </a:lnTo>
                  <a:cubicBezTo>
                    <a:pt x="596900" y="296729"/>
                    <a:pt x="591055" y="310366"/>
                    <a:pt x="580729" y="320201"/>
                  </a:cubicBezTo>
                  <a:lnTo>
                    <a:pt x="346371" y="543399"/>
                  </a:lnTo>
                  <a:cubicBezTo>
                    <a:pt x="335990" y="553285"/>
                    <a:pt x="322204" y="558800"/>
                    <a:pt x="307868" y="558800"/>
                  </a:cubicBezTo>
                  <a:lnTo>
                    <a:pt x="22332" y="558800"/>
                  </a:lnTo>
                  <a:cubicBezTo>
                    <a:pt x="16409" y="558800"/>
                    <a:pt x="10729" y="556447"/>
                    <a:pt x="6541" y="552259"/>
                  </a:cubicBezTo>
                  <a:cubicBezTo>
                    <a:pt x="2353" y="548071"/>
                    <a:pt x="0" y="542391"/>
                    <a:pt x="0" y="536468"/>
                  </a:cubicBezTo>
                  <a:lnTo>
                    <a:pt x="0" y="271252"/>
                  </a:lnTo>
                  <a:cubicBezTo>
                    <a:pt x="0" y="256996"/>
                    <a:pt x="5864" y="243367"/>
                    <a:pt x="16216" y="233566"/>
                  </a:cubicBezTo>
                  <a:lnTo>
                    <a:pt x="246674" y="15354"/>
                  </a:lnTo>
                  <a:cubicBezTo>
                    <a:pt x="257087" y="5495"/>
                    <a:pt x="270882" y="0"/>
                    <a:pt x="285222" y="0"/>
                  </a:cubicBezTo>
                  <a:lnTo>
                    <a:pt x="574568" y="0"/>
                  </a:lnTo>
                  <a:cubicBezTo>
                    <a:pt x="580491" y="0"/>
                    <a:pt x="586171" y="2353"/>
                    <a:pt x="590359" y="6541"/>
                  </a:cubicBezTo>
                  <a:cubicBezTo>
                    <a:pt x="594547" y="10729"/>
                    <a:pt x="596900" y="16409"/>
                    <a:pt x="596900" y="22332"/>
                  </a:cubicBezTo>
                  <a:close/>
                </a:path>
              </a:pathLst>
            </a:custGeom>
            <a:solidFill>
              <a:srgbClr val="014AAB"/>
            </a:solidFill>
          </p:spPr>
        </p:sp>
        <p:sp>
          <p:nvSpPr>
            <p:cNvPr name="TextBox 29" id="29"/>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30" id="30"/>
          <p:cNvGrpSpPr/>
          <p:nvPr/>
        </p:nvGrpSpPr>
        <p:grpSpPr>
          <a:xfrm rot="0">
            <a:off x="-1338322" y="845118"/>
            <a:ext cx="4235564" cy="935169"/>
            <a:chOff x="0" y="0"/>
            <a:chExt cx="1115539" cy="246300"/>
          </a:xfrm>
        </p:grpSpPr>
        <p:sp>
          <p:nvSpPr>
            <p:cNvPr name="Freeform 31" id="31"/>
            <p:cNvSpPr/>
            <p:nvPr/>
          </p:nvSpPr>
          <p:spPr>
            <a:xfrm flipH="false" flipV="false" rot="0">
              <a:off x="0" y="0"/>
              <a:ext cx="1115539" cy="246300"/>
            </a:xfrm>
            <a:custGeom>
              <a:avLst/>
              <a:gdLst/>
              <a:ahLst/>
              <a:cxnLst/>
              <a:rect r="r" b="b" t="t" l="l"/>
              <a:pathLst>
                <a:path h="246300" w="1115539">
                  <a:moveTo>
                    <a:pt x="63974" y="0"/>
                  </a:moveTo>
                  <a:lnTo>
                    <a:pt x="1051565" y="0"/>
                  </a:lnTo>
                  <a:cubicBezTo>
                    <a:pt x="1086897" y="0"/>
                    <a:pt x="1115539" y="28642"/>
                    <a:pt x="1115539" y="63974"/>
                  </a:cubicBezTo>
                  <a:lnTo>
                    <a:pt x="1115539" y="182325"/>
                  </a:lnTo>
                  <a:cubicBezTo>
                    <a:pt x="1115539" y="217657"/>
                    <a:pt x="1086897" y="246300"/>
                    <a:pt x="1051565" y="246300"/>
                  </a:cubicBezTo>
                  <a:lnTo>
                    <a:pt x="63974" y="246300"/>
                  </a:lnTo>
                  <a:cubicBezTo>
                    <a:pt x="28642" y="246300"/>
                    <a:pt x="0" y="217657"/>
                    <a:pt x="0" y="182325"/>
                  </a:cubicBezTo>
                  <a:lnTo>
                    <a:pt x="0" y="63974"/>
                  </a:lnTo>
                  <a:cubicBezTo>
                    <a:pt x="0" y="28642"/>
                    <a:pt x="28642" y="0"/>
                    <a:pt x="63974" y="0"/>
                  </a:cubicBezTo>
                  <a:close/>
                </a:path>
              </a:pathLst>
            </a:custGeom>
            <a:solidFill>
              <a:srgbClr val="FFFFFF"/>
            </a:solidFill>
          </p:spPr>
        </p:sp>
        <p:sp>
          <p:nvSpPr>
            <p:cNvPr name="TextBox 32" id="32"/>
            <p:cNvSpPr txBox="true"/>
            <p:nvPr/>
          </p:nvSpPr>
          <p:spPr>
            <a:xfrm>
              <a:off x="0" y="-57150"/>
              <a:ext cx="1115539" cy="303450"/>
            </a:xfrm>
            <a:prstGeom prst="rect">
              <a:avLst/>
            </a:prstGeom>
          </p:spPr>
          <p:txBody>
            <a:bodyPr anchor="ctr" rtlCol="false" tIns="50800" lIns="50800" bIns="50800" rIns="50800"/>
            <a:lstStyle/>
            <a:p>
              <a:pPr algn="ctr" marL="0" indent="0" lvl="0">
                <a:lnSpc>
                  <a:spcPts val="3220"/>
                </a:lnSpc>
              </a:pPr>
            </a:p>
          </p:txBody>
        </p:sp>
      </p:grpSp>
      <p:sp>
        <p:nvSpPr>
          <p:cNvPr name="Freeform 33" id="33"/>
          <p:cNvSpPr/>
          <p:nvPr/>
        </p:nvSpPr>
        <p:spPr>
          <a:xfrm flipH="false" flipV="false" rot="0">
            <a:off x="568565" y="1680065"/>
            <a:ext cx="1211471" cy="200443"/>
          </a:xfrm>
          <a:custGeom>
            <a:avLst/>
            <a:gdLst/>
            <a:ahLst/>
            <a:cxnLst/>
            <a:rect r="r" b="b" t="t" l="l"/>
            <a:pathLst>
              <a:path h="200443" w="1211471">
                <a:moveTo>
                  <a:pt x="0" y="0"/>
                </a:moveTo>
                <a:lnTo>
                  <a:pt x="1211471" y="0"/>
                </a:lnTo>
                <a:lnTo>
                  <a:pt x="1211471" y="200444"/>
                </a:lnTo>
                <a:lnTo>
                  <a:pt x="0" y="2004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4" id="34"/>
          <p:cNvSpPr/>
          <p:nvPr/>
        </p:nvSpPr>
        <p:spPr>
          <a:xfrm flipH="true" flipV="true" rot="0">
            <a:off x="402289" y="8450265"/>
            <a:ext cx="1248992" cy="1235367"/>
          </a:xfrm>
          <a:custGeom>
            <a:avLst/>
            <a:gdLst/>
            <a:ahLst/>
            <a:cxnLst/>
            <a:rect r="r" b="b" t="t" l="l"/>
            <a:pathLst>
              <a:path h="1235367" w="1248992">
                <a:moveTo>
                  <a:pt x="1248992" y="1235366"/>
                </a:moveTo>
                <a:lnTo>
                  <a:pt x="0" y="1235366"/>
                </a:lnTo>
                <a:lnTo>
                  <a:pt x="0" y="0"/>
                </a:lnTo>
                <a:lnTo>
                  <a:pt x="1248992" y="0"/>
                </a:lnTo>
                <a:lnTo>
                  <a:pt x="1248992" y="123536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5" id="35"/>
          <p:cNvSpPr/>
          <p:nvPr/>
        </p:nvSpPr>
        <p:spPr>
          <a:xfrm flipH="false" flipV="false" rot="0">
            <a:off x="16130060" y="845118"/>
            <a:ext cx="1370117" cy="1355170"/>
          </a:xfrm>
          <a:custGeom>
            <a:avLst/>
            <a:gdLst/>
            <a:ahLst/>
            <a:cxnLst/>
            <a:rect r="r" b="b" t="t" l="l"/>
            <a:pathLst>
              <a:path h="1355170" w="1370117">
                <a:moveTo>
                  <a:pt x="0" y="0"/>
                </a:moveTo>
                <a:lnTo>
                  <a:pt x="1370117" y="0"/>
                </a:lnTo>
                <a:lnTo>
                  <a:pt x="1370117" y="1355171"/>
                </a:lnTo>
                <a:lnTo>
                  <a:pt x="0" y="13551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801911" y="-787414"/>
            <a:ext cx="6005760" cy="5622414"/>
            <a:chOff x="0" y="0"/>
            <a:chExt cx="596900" cy="558800"/>
          </a:xfrm>
        </p:grpSpPr>
        <p:sp>
          <p:nvSpPr>
            <p:cNvPr name="Freeform 3" id="3"/>
            <p:cNvSpPr/>
            <p:nvPr/>
          </p:nvSpPr>
          <p:spPr>
            <a:xfrm flipH="false" flipV="false" rot="0">
              <a:off x="0" y="0"/>
              <a:ext cx="596900" cy="558800"/>
            </a:xfrm>
            <a:custGeom>
              <a:avLst/>
              <a:gdLst/>
              <a:ahLst/>
              <a:cxnLst/>
              <a:rect r="r" b="b" t="t" l="l"/>
              <a:pathLst>
                <a:path h="558800" w="596900">
                  <a:moveTo>
                    <a:pt x="596900" y="15147"/>
                  </a:moveTo>
                  <a:lnTo>
                    <a:pt x="596900" y="289653"/>
                  </a:lnTo>
                  <a:cubicBezTo>
                    <a:pt x="596900" y="299326"/>
                    <a:pt x="592936" y="308575"/>
                    <a:pt x="585932" y="315246"/>
                  </a:cubicBezTo>
                  <a:lnTo>
                    <a:pt x="341168" y="548354"/>
                  </a:lnTo>
                  <a:cubicBezTo>
                    <a:pt x="334127" y="555060"/>
                    <a:pt x="324777" y="558800"/>
                    <a:pt x="315053" y="558800"/>
                  </a:cubicBezTo>
                  <a:lnTo>
                    <a:pt x="15147" y="558800"/>
                  </a:lnTo>
                  <a:cubicBezTo>
                    <a:pt x="6781" y="558800"/>
                    <a:pt x="0" y="552019"/>
                    <a:pt x="0" y="543653"/>
                  </a:cubicBezTo>
                  <a:lnTo>
                    <a:pt x="0" y="264067"/>
                  </a:lnTo>
                  <a:cubicBezTo>
                    <a:pt x="0" y="254397"/>
                    <a:pt x="3977" y="245154"/>
                    <a:pt x="10999" y="238506"/>
                  </a:cubicBezTo>
                  <a:lnTo>
                    <a:pt x="251891" y="10414"/>
                  </a:lnTo>
                  <a:cubicBezTo>
                    <a:pt x="258954" y="3727"/>
                    <a:pt x="268311" y="0"/>
                    <a:pt x="278037" y="0"/>
                  </a:cubicBezTo>
                  <a:lnTo>
                    <a:pt x="581753" y="0"/>
                  </a:lnTo>
                  <a:cubicBezTo>
                    <a:pt x="590119" y="0"/>
                    <a:pt x="596900" y="6781"/>
                    <a:pt x="596900" y="15147"/>
                  </a:cubicBezTo>
                  <a:close/>
                </a:path>
              </a:pathLst>
            </a:custGeom>
            <a:solidFill>
              <a:srgbClr val="014AAB">
                <a:alpha val="5882"/>
              </a:srgbClr>
            </a:solidFill>
          </p:spPr>
        </p:sp>
        <p:sp>
          <p:nvSpPr>
            <p:cNvPr name="TextBox 4" id="4"/>
            <p:cNvSpPr txBox="true"/>
            <p:nvPr/>
          </p:nvSpPr>
          <p:spPr>
            <a:xfrm>
              <a:off x="101600" y="76200"/>
              <a:ext cx="393700" cy="350520"/>
            </a:xfrm>
            <a:prstGeom prst="rect">
              <a:avLst/>
            </a:prstGeom>
          </p:spPr>
          <p:txBody>
            <a:bodyPr anchor="ctr" rtlCol="false" tIns="50800" lIns="50800" bIns="50800" rIns="50800"/>
            <a:lstStyle/>
            <a:p>
              <a:pPr algn="l" marL="0" indent="0" lvl="0">
                <a:lnSpc>
                  <a:spcPts val="3220"/>
                </a:lnSpc>
              </a:pPr>
            </a:p>
          </p:txBody>
        </p:sp>
      </p:grpSp>
      <p:grpSp>
        <p:nvGrpSpPr>
          <p:cNvPr name="Group 5" id="5"/>
          <p:cNvGrpSpPr/>
          <p:nvPr/>
        </p:nvGrpSpPr>
        <p:grpSpPr>
          <a:xfrm rot="-5400000">
            <a:off x="-875342" y="3892899"/>
            <a:ext cx="1750683" cy="1638937"/>
            <a:chOff x="0" y="0"/>
            <a:chExt cx="596900" cy="558800"/>
          </a:xfrm>
        </p:grpSpPr>
        <p:sp>
          <p:nvSpPr>
            <p:cNvPr name="Freeform 6" id="6"/>
            <p:cNvSpPr/>
            <p:nvPr/>
          </p:nvSpPr>
          <p:spPr>
            <a:xfrm flipH="false" flipV="false" rot="0">
              <a:off x="0" y="0"/>
              <a:ext cx="596900" cy="558800"/>
            </a:xfrm>
            <a:custGeom>
              <a:avLst/>
              <a:gdLst/>
              <a:ahLst/>
              <a:cxnLst/>
              <a:rect r="r" b="b" t="t" l="l"/>
              <a:pathLst>
                <a:path h="558800" w="596900">
                  <a:moveTo>
                    <a:pt x="596900" y="51961"/>
                  </a:moveTo>
                  <a:lnTo>
                    <a:pt x="596900" y="252839"/>
                  </a:lnTo>
                  <a:cubicBezTo>
                    <a:pt x="596900" y="286020"/>
                    <a:pt x="583301" y="317752"/>
                    <a:pt x="559273" y="340635"/>
                  </a:cubicBezTo>
                  <a:lnTo>
                    <a:pt x="367827" y="522965"/>
                  </a:lnTo>
                  <a:cubicBezTo>
                    <a:pt x="343673" y="545969"/>
                    <a:pt x="311595" y="558800"/>
                    <a:pt x="278239" y="558800"/>
                  </a:cubicBezTo>
                  <a:lnTo>
                    <a:pt x="51961" y="558800"/>
                  </a:lnTo>
                  <a:cubicBezTo>
                    <a:pt x="23264" y="558800"/>
                    <a:pt x="0" y="535536"/>
                    <a:pt x="0" y="506839"/>
                  </a:cubicBezTo>
                  <a:lnTo>
                    <a:pt x="0" y="300881"/>
                  </a:lnTo>
                  <a:cubicBezTo>
                    <a:pt x="0" y="267711"/>
                    <a:pt x="13645" y="236001"/>
                    <a:pt x="37731" y="213194"/>
                  </a:cubicBezTo>
                  <a:lnTo>
                    <a:pt x="225159" y="35726"/>
                  </a:lnTo>
                  <a:cubicBezTo>
                    <a:pt x="249387" y="12785"/>
                    <a:pt x="281485" y="0"/>
                    <a:pt x="314851" y="0"/>
                  </a:cubicBezTo>
                  <a:lnTo>
                    <a:pt x="544939" y="0"/>
                  </a:lnTo>
                  <a:cubicBezTo>
                    <a:pt x="573636" y="0"/>
                    <a:pt x="596900" y="23264"/>
                    <a:pt x="596900" y="51961"/>
                  </a:cubicBezTo>
                  <a:close/>
                </a:path>
              </a:pathLst>
            </a:custGeom>
            <a:solidFill>
              <a:srgbClr val="014AAB">
                <a:alpha val="5882"/>
              </a:srgbClr>
            </a:solidFill>
          </p:spPr>
        </p:sp>
        <p:sp>
          <p:nvSpPr>
            <p:cNvPr name="TextBox 7" id="7"/>
            <p:cNvSpPr txBox="true"/>
            <p:nvPr/>
          </p:nvSpPr>
          <p:spPr>
            <a:xfrm>
              <a:off x="101600" y="76200"/>
              <a:ext cx="393700" cy="350520"/>
            </a:xfrm>
            <a:prstGeom prst="rect">
              <a:avLst/>
            </a:prstGeom>
          </p:spPr>
          <p:txBody>
            <a:bodyPr anchor="ctr" rtlCol="false" tIns="50800" lIns="50800" bIns="50800" rIns="50800"/>
            <a:lstStyle/>
            <a:p>
              <a:pPr algn="l" marL="0" indent="0" lvl="0">
                <a:lnSpc>
                  <a:spcPts val="3220"/>
                </a:lnSpc>
              </a:pPr>
            </a:p>
          </p:txBody>
        </p:sp>
      </p:grpSp>
      <p:sp>
        <p:nvSpPr>
          <p:cNvPr name="AutoShape 8" id="8"/>
          <p:cNvSpPr/>
          <p:nvPr/>
        </p:nvSpPr>
        <p:spPr>
          <a:xfrm flipV="true">
            <a:off x="-2427509" y="4202699"/>
            <a:ext cx="7232336" cy="0"/>
          </a:xfrm>
          <a:prstGeom prst="line">
            <a:avLst/>
          </a:prstGeom>
          <a:ln cap="rnd" w="38100">
            <a:solidFill>
              <a:srgbClr val="8DABD2"/>
            </a:solidFill>
            <a:prstDash val="solid"/>
            <a:headEnd type="none" len="sm" w="sm"/>
            <a:tailEnd type="none" len="sm" w="sm"/>
          </a:ln>
        </p:spPr>
      </p:sp>
      <p:grpSp>
        <p:nvGrpSpPr>
          <p:cNvPr name="Group 9" id="9"/>
          <p:cNvGrpSpPr/>
          <p:nvPr/>
        </p:nvGrpSpPr>
        <p:grpSpPr>
          <a:xfrm rot="5400000">
            <a:off x="10005635" y="6369713"/>
            <a:ext cx="5129706" cy="4802278"/>
            <a:chOff x="0" y="0"/>
            <a:chExt cx="596900" cy="558800"/>
          </a:xfrm>
        </p:grpSpPr>
        <p:sp>
          <p:nvSpPr>
            <p:cNvPr name="Freeform 10" id="10"/>
            <p:cNvSpPr/>
            <p:nvPr/>
          </p:nvSpPr>
          <p:spPr>
            <a:xfrm flipH="false" flipV="false" rot="0">
              <a:off x="0" y="0"/>
              <a:ext cx="596900" cy="558800"/>
            </a:xfrm>
            <a:custGeom>
              <a:avLst/>
              <a:gdLst/>
              <a:ahLst/>
              <a:cxnLst/>
              <a:rect r="r" b="b" t="t" l="l"/>
              <a:pathLst>
                <a:path h="558800" w="596900">
                  <a:moveTo>
                    <a:pt x="596900" y="17733"/>
                  </a:moveTo>
                  <a:lnTo>
                    <a:pt x="596900" y="287067"/>
                  </a:lnTo>
                  <a:cubicBezTo>
                    <a:pt x="596900" y="298391"/>
                    <a:pt x="592259" y="309220"/>
                    <a:pt x="584058" y="317030"/>
                  </a:cubicBezTo>
                  <a:lnTo>
                    <a:pt x="343041" y="546570"/>
                  </a:lnTo>
                  <a:cubicBezTo>
                    <a:pt x="334798" y="554421"/>
                    <a:pt x="323850" y="558800"/>
                    <a:pt x="312467" y="558800"/>
                  </a:cubicBezTo>
                  <a:lnTo>
                    <a:pt x="17733" y="558800"/>
                  </a:lnTo>
                  <a:cubicBezTo>
                    <a:pt x="13030" y="558800"/>
                    <a:pt x="8520" y="556932"/>
                    <a:pt x="5194" y="553606"/>
                  </a:cubicBezTo>
                  <a:cubicBezTo>
                    <a:pt x="1868" y="550280"/>
                    <a:pt x="0" y="545770"/>
                    <a:pt x="0" y="541067"/>
                  </a:cubicBezTo>
                  <a:lnTo>
                    <a:pt x="0" y="266653"/>
                  </a:lnTo>
                  <a:cubicBezTo>
                    <a:pt x="0" y="255333"/>
                    <a:pt x="4657" y="244511"/>
                    <a:pt x="12877" y="236727"/>
                  </a:cubicBezTo>
                  <a:lnTo>
                    <a:pt x="250013" y="12193"/>
                  </a:lnTo>
                  <a:cubicBezTo>
                    <a:pt x="258282" y="4363"/>
                    <a:pt x="269236" y="0"/>
                    <a:pt x="280623" y="0"/>
                  </a:cubicBezTo>
                  <a:lnTo>
                    <a:pt x="579167" y="0"/>
                  </a:lnTo>
                  <a:cubicBezTo>
                    <a:pt x="583870" y="0"/>
                    <a:pt x="588380" y="1868"/>
                    <a:pt x="591706" y="5194"/>
                  </a:cubicBezTo>
                  <a:cubicBezTo>
                    <a:pt x="595032" y="8520"/>
                    <a:pt x="596900" y="13030"/>
                    <a:pt x="596900" y="17733"/>
                  </a:cubicBezTo>
                  <a:close/>
                </a:path>
              </a:pathLst>
            </a:custGeom>
            <a:ln w="190500" cap="sq">
              <a:solidFill>
                <a:srgbClr val="8DABD2"/>
              </a:solidFill>
              <a:prstDash val="solid"/>
              <a:miter/>
            </a:ln>
          </p:spPr>
        </p:sp>
        <p:sp>
          <p:nvSpPr>
            <p:cNvPr name="TextBox 11" id="11"/>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2" id="12"/>
          <p:cNvGrpSpPr/>
          <p:nvPr/>
        </p:nvGrpSpPr>
        <p:grpSpPr>
          <a:xfrm rot="-5400000">
            <a:off x="9304440" y="1157886"/>
            <a:ext cx="11455664" cy="10724451"/>
            <a:chOff x="0" y="0"/>
            <a:chExt cx="596900" cy="558800"/>
          </a:xfrm>
        </p:grpSpPr>
        <p:sp>
          <p:nvSpPr>
            <p:cNvPr name="Freeform 13" id="13"/>
            <p:cNvSpPr/>
            <p:nvPr/>
          </p:nvSpPr>
          <p:spPr>
            <a:xfrm flipH="false" flipV="false" rot="0">
              <a:off x="0" y="0"/>
              <a:ext cx="596900" cy="558800"/>
            </a:xfrm>
            <a:custGeom>
              <a:avLst/>
              <a:gdLst/>
              <a:ahLst/>
              <a:cxnLst/>
              <a:rect r="r" b="b" t="t" l="l"/>
              <a:pathLst>
                <a:path h="558800" w="596900">
                  <a:moveTo>
                    <a:pt x="596900" y="35734"/>
                  </a:moveTo>
                  <a:lnTo>
                    <a:pt x="596900" y="269066"/>
                  </a:lnTo>
                  <a:cubicBezTo>
                    <a:pt x="596900" y="291885"/>
                    <a:pt x="587548" y="313707"/>
                    <a:pt x="571024" y="329444"/>
                  </a:cubicBezTo>
                  <a:lnTo>
                    <a:pt x="356076" y="534156"/>
                  </a:lnTo>
                  <a:cubicBezTo>
                    <a:pt x="339465" y="549976"/>
                    <a:pt x="317405" y="558800"/>
                    <a:pt x="294466" y="558800"/>
                  </a:cubicBezTo>
                  <a:lnTo>
                    <a:pt x="35734" y="558800"/>
                  </a:lnTo>
                  <a:cubicBezTo>
                    <a:pt x="26257" y="558800"/>
                    <a:pt x="17168" y="555035"/>
                    <a:pt x="10466" y="548334"/>
                  </a:cubicBezTo>
                  <a:cubicBezTo>
                    <a:pt x="3765" y="541632"/>
                    <a:pt x="0" y="532543"/>
                    <a:pt x="0" y="523066"/>
                  </a:cubicBezTo>
                  <a:lnTo>
                    <a:pt x="0" y="284654"/>
                  </a:lnTo>
                  <a:cubicBezTo>
                    <a:pt x="0" y="261842"/>
                    <a:pt x="9383" y="240035"/>
                    <a:pt x="25948" y="224351"/>
                  </a:cubicBezTo>
                  <a:lnTo>
                    <a:pt x="236942" y="24569"/>
                  </a:lnTo>
                  <a:cubicBezTo>
                    <a:pt x="253604" y="8792"/>
                    <a:pt x="275678" y="0"/>
                    <a:pt x="298624" y="0"/>
                  </a:cubicBezTo>
                  <a:lnTo>
                    <a:pt x="561166" y="0"/>
                  </a:lnTo>
                  <a:cubicBezTo>
                    <a:pt x="570643" y="0"/>
                    <a:pt x="579732" y="3765"/>
                    <a:pt x="586434" y="10466"/>
                  </a:cubicBezTo>
                  <a:cubicBezTo>
                    <a:pt x="593135" y="17168"/>
                    <a:pt x="596900" y="26257"/>
                    <a:pt x="596900" y="35734"/>
                  </a:cubicBezTo>
                  <a:close/>
                </a:path>
              </a:pathLst>
            </a:custGeom>
            <a:solidFill>
              <a:srgbClr val="014AAB"/>
            </a:solidFill>
          </p:spPr>
        </p:sp>
        <p:sp>
          <p:nvSpPr>
            <p:cNvPr name="TextBox 14" id="14"/>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5" id="15"/>
          <p:cNvGrpSpPr/>
          <p:nvPr/>
        </p:nvGrpSpPr>
        <p:grpSpPr>
          <a:xfrm rot="0">
            <a:off x="10169349" y="1886002"/>
            <a:ext cx="5981727" cy="6734474"/>
            <a:chOff x="0" y="0"/>
            <a:chExt cx="1575434" cy="1773689"/>
          </a:xfrm>
        </p:grpSpPr>
        <p:sp>
          <p:nvSpPr>
            <p:cNvPr name="Freeform 16" id="16"/>
            <p:cNvSpPr/>
            <p:nvPr/>
          </p:nvSpPr>
          <p:spPr>
            <a:xfrm flipH="false" flipV="false" rot="0">
              <a:off x="0" y="0"/>
              <a:ext cx="1575434" cy="1773689"/>
            </a:xfrm>
            <a:custGeom>
              <a:avLst/>
              <a:gdLst/>
              <a:ahLst/>
              <a:cxnLst/>
              <a:rect r="r" b="b" t="t" l="l"/>
              <a:pathLst>
                <a:path h="1773689" w="1575434">
                  <a:moveTo>
                    <a:pt x="38828" y="0"/>
                  </a:moveTo>
                  <a:lnTo>
                    <a:pt x="1536606" y="0"/>
                  </a:lnTo>
                  <a:cubicBezTo>
                    <a:pt x="1546904" y="0"/>
                    <a:pt x="1556780" y="4091"/>
                    <a:pt x="1564062" y="11372"/>
                  </a:cubicBezTo>
                  <a:cubicBezTo>
                    <a:pt x="1571344" y="18654"/>
                    <a:pt x="1575434" y="28530"/>
                    <a:pt x="1575434" y="38828"/>
                  </a:cubicBezTo>
                  <a:lnTo>
                    <a:pt x="1575434" y="1734861"/>
                  </a:lnTo>
                  <a:cubicBezTo>
                    <a:pt x="1575434" y="1756305"/>
                    <a:pt x="1558050" y="1773689"/>
                    <a:pt x="1536606" y="1773689"/>
                  </a:cubicBezTo>
                  <a:lnTo>
                    <a:pt x="38828" y="1773689"/>
                  </a:lnTo>
                  <a:cubicBezTo>
                    <a:pt x="17384" y="1773689"/>
                    <a:pt x="0" y="1756305"/>
                    <a:pt x="0" y="1734861"/>
                  </a:cubicBezTo>
                  <a:lnTo>
                    <a:pt x="0" y="38828"/>
                  </a:lnTo>
                  <a:cubicBezTo>
                    <a:pt x="0" y="17384"/>
                    <a:pt x="17384" y="0"/>
                    <a:pt x="38828" y="0"/>
                  </a:cubicBezTo>
                  <a:close/>
                </a:path>
              </a:pathLst>
            </a:custGeom>
            <a:solidFill>
              <a:srgbClr val="FFFFFF"/>
            </a:solidFill>
          </p:spPr>
        </p:sp>
        <p:sp>
          <p:nvSpPr>
            <p:cNvPr name="TextBox 17" id="17"/>
            <p:cNvSpPr txBox="true"/>
            <p:nvPr/>
          </p:nvSpPr>
          <p:spPr>
            <a:xfrm>
              <a:off x="0" y="-57150"/>
              <a:ext cx="1575434" cy="1830839"/>
            </a:xfrm>
            <a:prstGeom prst="rect">
              <a:avLst/>
            </a:prstGeom>
          </p:spPr>
          <p:txBody>
            <a:bodyPr anchor="ctr" rtlCol="false" tIns="50800" lIns="50800" bIns="50800" rIns="50800"/>
            <a:lstStyle/>
            <a:p>
              <a:pPr algn="ctr" marL="0" indent="0" lvl="0">
                <a:lnSpc>
                  <a:spcPts val="3220"/>
                </a:lnSpc>
              </a:pPr>
            </a:p>
          </p:txBody>
        </p:sp>
      </p:grpSp>
      <p:sp>
        <p:nvSpPr>
          <p:cNvPr name="TextBox 18" id="18"/>
          <p:cNvSpPr txBox="true"/>
          <p:nvPr/>
        </p:nvSpPr>
        <p:spPr>
          <a:xfrm rot="0">
            <a:off x="368233" y="1861604"/>
            <a:ext cx="8115300" cy="1783139"/>
          </a:xfrm>
          <a:prstGeom prst="rect">
            <a:avLst/>
          </a:prstGeom>
        </p:spPr>
        <p:txBody>
          <a:bodyPr anchor="t" rtlCol="false" tIns="0" lIns="0" bIns="0" rIns="0">
            <a:spAutoFit/>
          </a:bodyPr>
          <a:lstStyle/>
          <a:p>
            <a:pPr algn="l" marL="0" indent="0" lvl="0">
              <a:lnSpc>
                <a:spcPts val="6827"/>
              </a:lnSpc>
            </a:pPr>
            <a:r>
              <a:rPr lang="en-US" b="true" sz="6827" spc="136">
                <a:solidFill>
                  <a:srgbClr val="011A3C"/>
                </a:solidFill>
                <a:latin typeface="Gotham Bold"/>
                <a:ea typeface="Gotham Bold"/>
                <a:cs typeface="Gotham Bold"/>
                <a:sym typeface="Gotham Bold"/>
              </a:rPr>
              <a:t>Componentes</a:t>
            </a:r>
          </a:p>
          <a:p>
            <a:pPr algn="l" marL="0" indent="0" lvl="0">
              <a:lnSpc>
                <a:spcPts val="6827"/>
              </a:lnSpc>
            </a:pPr>
            <a:r>
              <a:rPr lang="en-US" b="true" sz="6827" spc="136">
                <a:solidFill>
                  <a:srgbClr val="011A3C"/>
                </a:solidFill>
                <a:latin typeface="Gotham Bold"/>
                <a:ea typeface="Gotham Bold"/>
                <a:cs typeface="Gotham Bold"/>
                <a:sym typeface="Gotham Bold"/>
              </a:rPr>
              <a:t>Técnicos (Parte 1)</a:t>
            </a:r>
          </a:p>
        </p:txBody>
      </p:sp>
      <p:sp>
        <p:nvSpPr>
          <p:cNvPr name="Freeform 19" id="19"/>
          <p:cNvSpPr/>
          <p:nvPr/>
        </p:nvSpPr>
        <p:spPr>
          <a:xfrm flipH="false" flipV="false" rot="0">
            <a:off x="16064016" y="792280"/>
            <a:ext cx="1670629" cy="1652404"/>
          </a:xfrm>
          <a:custGeom>
            <a:avLst/>
            <a:gdLst/>
            <a:ahLst/>
            <a:cxnLst/>
            <a:rect r="r" b="b" t="t" l="l"/>
            <a:pathLst>
              <a:path h="1652404" w="1670629">
                <a:moveTo>
                  <a:pt x="0" y="0"/>
                </a:moveTo>
                <a:lnTo>
                  <a:pt x="1670629" y="0"/>
                </a:lnTo>
                <a:lnTo>
                  <a:pt x="1670629" y="1652404"/>
                </a:lnTo>
                <a:lnTo>
                  <a:pt x="0" y="16524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0" id="20"/>
          <p:cNvGrpSpPr/>
          <p:nvPr/>
        </p:nvGrpSpPr>
        <p:grpSpPr>
          <a:xfrm rot="0">
            <a:off x="1215085" y="6250839"/>
            <a:ext cx="4139340" cy="924316"/>
            <a:chOff x="0" y="0"/>
            <a:chExt cx="1090197" cy="243441"/>
          </a:xfrm>
        </p:grpSpPr>
        <p:sp>
          <p:nvSpPr>
            <p:cNvPr name="Freeform 21" id="21"/>
            <p:cNvSpPr/>
            <p:nvPr/>
          </p:nvSpPr>
          <p:spPr>
            <a:xfrm flipH="false" flipV="false" rot="0">
              <a:off x="0" y="0"/>
              <a:ext cx="1090197" cy="243441"/>
            </a:xfrm>
            <a:custGeom>
              <a:avLst/>
              <a:gdLst/>
              <a:ahLst/>
              <a:cxnLst/>
              <a:rect r="r" b="b" t="t" l="l"/>
              <a:pathLst>
                <a:path h="243441" w="1090197">
                  <a:moveTo>
                    <a:pt x="121721" y="0"/>
                  </a:moveTo>
                  <a:lnTo>
                    <a:pt x="968476" y="0"/>
                  </a:lnTo>
                  <a:cubicBezTo>
                    <a:pt x="1000758" y="0"/>
                    <a:pt x="1031718" y="12824"/>
                    <a:pt x="1054546" y="35651"/>
                  </a:cubicBezTo>
                  <a:cubicBezTo>
                    <a:pt x="1077373" y="58478"/>
                    <a:pt x="1090197" y="89438"/>
                    <a:pt x="1090197" y="121721"/>
                  </a:cubicBezTo>
                  <a:lnTo>
                    <a:pt x="1090197" y="121721"/>
                  </a:lnTo>
                  <a:cubicBezTo>
                    <a:pt x="1090197" y="188945"/>
                    <a:pt x="1035700" y="243441"/>
                    <a:pt x="968476" y="243441"/>
                  </a:cubicBezTo>
                  <a:lnTo>
                    <a:pt x="121721" y="243441"/>
                  </a:lnTo>
                  <a:cubicBezTo>
                    <a:pt x="89438" y="243441"/>
                    <a:pt x="58478" y="230617"/>
                    <a:pt x="35651" y="207790"/>
                  </a:cubicBezTo>
                  <a:cubicBezTo>
                    <a:pt x="12824" y="184963"/>
                    <a:pt x="0" y="154003"/>
                    <a:pt x="0" y="121721"/>
                  </a:cubicBezTo>
                  <a:lnTo>
                    <a:pt x="0" y="121721"/>
                  </a:lnTo>
                  <a:cubicBezTo>
                    <a:pt x="0" y="89438"/>
                    <a:pt x="12824" y="58478"/>
                    <a:pt x="35651" y="35651"/>
                  </a:cubicBezTo>
                  <a:cubicBezTo>
                    <a:pt x="58478" y="12824"/>
                    <a:pt x="89438" y="0"/>
                    <a:pt x="121721" y="0"/>
                  </a:cubicBezTo>
                  <a:close/>
                </a:path>
              </a:pathLst>
            </a:custGeom>
            <a:solidFill>
              <a:srgbClr val="014AAB"/>
            </a:solidFill>
            <a:ln cap="rnd">
              <a:noFill/>
              <a:prstDash val="solid"/>
              <a:round/>
            </a:ln>
          </p:spPr>
        </p:sp>
        <p:sp>
          <p:nvSpPr>
            <p:cNvPr name="TextBox 22" id="22"/>
            <p:cNvSpPr txBox="true"/>
            <p:nvPr/>
          </p:nvSpPr>
          <p:spPr>
            <a:xfrm>
              <a:off x="0" y="-57150"/>
              <a:ext cx="1090197" cy="300591"/>
            </a:xfrm>
            <a:prstGeom prst="rect">
              <a:avLst/>
            </a:prstGeom>
          </p:spPr>
          <p:txBody>
            <a:bodyPr anchor="ctr" rtlCol="false" tIns="50800" lIns="50800" bIns="50800" rIns="50800"/>
            <a:lstStyle/>
            <a:p>
              <a:pPr algn="ctr" marL="0" indent="0" lvl="0">
                <a:lnSpc>
                  <a:spcPts val="3220"/>
                </a:lnSpc>
              </a:pPr>
            </a:p>
          </p:txBody>
        </p:sp>
      </p:grpSp>
      <p:grpSp>
        <p:nvGrpSpPr>
          <p:cNvPr name="Group 23" id="23"/>
          <p:cNvGrpSpPr/>
          <p:nvPr/>
        </p:nvGrpSpPr>
        <p:grpSpPr>
          <a:xfrm rot="0">
            <a:off x="9431105" y="2357718"/>
            <a:ext cx="4731056" cy="1014107"/>
            <a:chOff x="0" y="0"/>
            <a:chExt cx="1246040" cy="267090"/>
          </a:xfrm>
        </p:grpSpPr>
        <p:sp>
          <p:nvSpPr>
            <p:cNvPr name="Freeform 24" id="24"/>
            <p:cNvSpPr/>
            <p:nvPr/>
          </p:nvSpPr>
          <p:spPr>
            <a:xfrm flipH="false" flipV="false" rot="0">
              <a:off x="0" y="0"/>
              <a:ext cx="1246040" cy="267090"/>
            </a:xfrm>
            <a:custGeom>
              <a:avLst/>
              <a:gdLst/>
              <a:ahLst/>
              <a:cxnLst/>
              <a:rect r="r" b="b" t="t" l="l"/>
              <a:pathLst>
                <a:path h="267090" w="1246040">
                  <a:moveTo>
                    <a:pt x="133545" y="0"/>
                  </a:moveTo>
                  <a:lnTo>
                    <a:pt x="1112494" y="0"/>
                  </a:lnTo>
                  <a:cubicBezTo>
                    <a:pt x="1186249" y="0"/>
                    <a:pt x="1246040" y="59790"/>
                    <a:pt x="1246040" y="133545"/>
                  </a:cubicBezTo>
                  <a:lnTo>
                    <a:pt x="1246040" y="133545"/>
                  </a:lnTo>
                  <a:cubicBezTo>
                    <a:pt x="1246040" y="168963"/>
                    <a:pt x="1231970" y="202931"/>
                    <a:pt x="1206925" y="227976"/>
                  </a:cubicBezTo>
                  <a:cubicBezTo>
                    <a:pt x="1181881" y="253020"/>
                    <a:pt x="1147913" y="267090"/>
                    <a:pt x="1112494" y="267090"/>
                  </a:cubicBezTo>
                  <a:lnTo>
                    <a:pt x="133545" y="267090"/>
                  </a:lnTo>
                  <a:cubicBezTo>
                    <a:pt x="98127" y="267090"/>
                    <a:pt x="64159" y="253020"/>
                    <a:pt x="39114" y="227976"/>
                  </a:cubicBezTo>
                  <a:cubicBezTo>
                    <a:pt x="14070" y="202931"/>
                    <a:pt x="0" y="168963"/>
                    <a:pt x="0" y="133545"/>
                  </a:cubicBezTo>
                  <a:lnTo>
                    <a:pt x="0" y="133545"/>
                  </a:lnTo>
                  <a:cubicBezTo>
                    <a:pt x="0" y="98127"/>
                    <a:pt x="14070" y="64159"/>
                    <a:pt x="39114" y="39114"/>
                  </a:cubicBezTo>
                  <a:cubicBezTo>
                    <a:pt x="64159" y="14070"/>
                    <a:pt x="98127" y="0"/>
                    <a:pt x="133545" y="0"/>
                  </a:cubicBezTo>
                  <a:close/>
                </a:path>
              </a:pathLst>
            </a:custGeom>
            <a:solidFill>
              <a:srgbClr val="FFFFFF"/>
            </a:solidFill>
            <a:ln w="38100" cap="rnd">
              <a:solidFill>
                <a:srgbClr val="8DABD2"/>
              </a:solidFill>
              <a:prstDash val="solid"/>
              <a:round/>
            </a:ln>
          </p:spPr>
        </p:sp>
        <p:sp>
          <p:nvSpPr>
            <p:cNvPr name="TextBox 25" id="25"/>
            <p:cNvSpPr txBox="true"/>
            <p:nvPr/>
          </p:nvSpPr>
          <p:spPr>
            <a:xfrm>
              <a:off x="0" y="-57150"/>
              <a:ext cx="1246040" cy="324240"/>
            </a:xfrm>
            <a:prstGeom prst="rect">
              <a:avLst/>
            </a:prstGeom>
          </p:spPr>
          <p:txBody>
            <a:bodyPr anchor="ctr" rtlCol="false" tIns="50800" lIns="50800" bIns="50800" rIns="50800"/>
            <a:lstStyle/>
            <a:p>
              <a:pPr algn="ctr" marL="0" indent="0" lvl="0">
                <a:lnSpc>
                  <a:spcPts val="3220"/>
                </a:lnSpc>
              </a:pPr>
            </a:p>
          </p:txBody>
        </p:sp>
      </p:grpSp>
      <p:grpSp>
        <p:nvGrpSpPr>
          <p:cNvPr name="Group 26" id="26"/>
          <p:cNvGrpSpPr/>
          <p:nvPr/>
        </p:nvGrpSpPr>
        <p:grpSpPr>
          <a:xfrm rot="0">
            <a:off x="8721658" y="2259882"/>
            <a:ext cx="1209779" cy="1209779"/>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ABD2"/>
            </a:solidFill>
          </p:spPr>
        </p:sp>
        <p:sp>
          <p:nvSpPr>
            <p:cNvPr name="TextBox 28" id="28"/>
            <p:cNvSpPr txBox="true"/>
            <p:nvPr/>
          </p:nvSpPr>
          <p:spPr>
            <a:xfrm>
              <a:off x="76200" y="19050"/>
              <a:ext cx="660400" cy="717550"/>
            </a:xfrm>
            <a:prstGeom prst="rect">
              <a:avLst/>
            </a:prstGeom>
          </p:spPr>
          <p:txBody>
            <a:bodyPr anchor="ctr" rtlCol="false" tIns="50800" lIns="50800" bIns="50800" rIns="50800"/>
            <a:lstStyle/>
            <a:p>
              <a:pPr algn="ctr" marL="0" indent="0" lvl="0">
                <a:lnSpc>
                  <a:spcPts val="3220"/>
                </a:lnSpc>
              </a:pPr>
            </a:p>
          </p:txBody>
        </p:sp>
      </p:grpSp>
      <p:sp>
        <p:nvSpPr>
          <p:cNvPr name="Freeform 29" id="29"/>
          <p:cNvSpPr/>
          <p:nvPr/>
        </p:nvSpPr>
        <p:spPr>
          <a:xfrm flipH="false" flipV="false" rot="0">
            <a:off x="15545340" y="9258300"/>
            <a:ext cx="1211471" cy="200443"/>
          </a:xfrm>
          <a:custGeom>
            <a:avLst/>
            <a:gdLst/>
            <a:ahLst/>
            <a:cxnLst/>
            <a:rect r="r" b="b" t="t" l="l"/>
            <a:pathLst>
              <a:path h="200443" w="1211471">
                <a:moveTo>
                  <a:pt x="0" y="0"/>
                </a:moveTo>
                <a:lnTo>
                  <a:pt x="1211472" y="0"/>
                </a:lnTo>
                <a:lnTo>
                  <a:pt x="1211472" y="200443"/>
                </a:lnTo>
                <a:lnTo>
                  <a:pt x="0" y="20044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0" id="30"/>
          <p:cNvSpPr/>
          <p:nvPr/>
        </p:nvSpPr>
        <p:spPr>
          <a:xfrm flipH="false" flipV="false" rot="0">
            <a:off x="9093788" y="2691261"/>
            <a:ext cx="507006" cy="520305"/>
          </a:xfrm>
          <a:custGeom>
            <a:avLst/>
            <a:gdLst/>
            <a:ahLst/>
            <a:cxnLst/>
            <a:rect r="r" b="b" t="t" l="l"/>
            <a:pathLst>
              <a:path h="520305" w="507006">
                <a:moveTo>
                  <a:pt x="0" y="0"/>
                </a:moveTo>
                <a:lnTo>
                  <a:pt x="507006" y="0"/>
                </a:lnTo>
                <a:lnTo>
                  <a:pt x="507006" y="520305"/>
                </a:lnTo>
                <a:lnTo>
                  <a:pt x="0" y="520305"/>
                </a:lnTo>
                <a:lnTo>
                  <a:pt x="0" y="0"/>
                </a:lnTo>
                <a:close/>
              </a:path>
            </a:pathLst>
          </a:custGeom>
          <a:blipFill>
            <a:blip r:embed="rId6"/>
            <a:stretch>
              <a:fillRect l="0" t="0" r="0" b="0"/>
            </a:stretch>
          </a:blipFill>
        </p:spPr>
      </p:sp>
      <p:sp>
        <p:nvSpPr>
          <p:cNvPr name="TextBox 31" id="31"/>
          <p:cNvSpPr txBox="true"/>
          <p:nvPr/>
        </p:nvSpPr>
        <p:spPr>
          <a:xfrm rot="0">
            <a:off x="1202761" y="6478065"/>
            <a:ext cx="4151665" cy="455343"/>
          </a:xfrm>
          <a:prstGeom prst="rect">
            <a:avLst/>
          </a:prstGeom>
        </p:spPr>
        <p:txBody>
          <a:bodyPr anchor="t" rtlCol="false" tIns="0" lIns="0" bIns="0" rIns="0">
            <a:spAutoFit/>
          </a:bodyPr>
          <a:lstStyle/>
          <a:p>
            <a:pPr algn="ctr" marL="0" indent="0" lvl="0">
              <a:lnSpc>
                <a:spcPts val="3777"/>
              </a:lnSpc>
            </a:pPr>
            <a:r>
              <a:rPr lang="en-US" b="true" sz="2698">
                <a:solidFill>
                  <a:srgbClr val="FFFFFF"/>
                </a:solidFill>
                <a:latin typeface="Nunito Semi-Bold"/>
                <a:ea typeface="Nunito Semi-Bold"/>
                <a:cs typeface="Nunito Semi-Bold"/>
                <a:sym typeface="Nunito Semi-Bold"/>
              </a:rPr>
              <a:t>Primary Objectives</a:t>
            </a:r>
          </a:p>
        </p:txBody>
      </p:sp>
      <p:sp>
        <p:nvSpPr>
          <p:cNvPr name="TextBox 32" id="32"/>
          <p:cNvSpPr txBox="true"/>
          <p:nvPr/>
        </p:nvSpPr>
        <p:spPr>
          <a:xfrm rot="0">
            <a:off x="10063655" y="2629840"/>
            <a:ext cx="3723907" cy="455343"/>
          </a:xfrm>
          <a:prstGeom prst="rect">
            <a:avLst/>
          </a:prstGeom>
        </p:spPr>
        <p:txBody>
          <a:bodyPr anchor="t" rtlCol="false" tIns="0" lIns="0" bIns="0" rIns="0">
            <a:spAutoFit/>
          </a:bodyPr>
          <a:lstStyle/>
          <a:p>
            <a:pPr algn="l" marL="0" indent="0" lvl="0">
              <a:lnSpc>
                <a:spcPts val="3777"/>
              </a:lnSpc>
            </a:pPr>
            <a:r>
              <a:rPr lang="en-US" b="true" sz="2698">
                <a:solidFill>
                  <a:srgbClr val="011A3C"/>
                </a:solidFill>
                <a:latin typeface="Nunito Semi-Bold"/>
                <a:ea typeface="Nunito Semi-Bold"/>
                <a:cs typeface="Nunito Semi-Bold"/>
                <a:sym typeface="Nunito Semi-Bold"/>
              </a:rPr>
              <a:t>Hardware Principal</a:t>
            </a:r>
          </a:p>
        </p:txBody>
      </p:sp>
      <p:sp>
        <p:nvSpPr>
          <p:cNvPr name="TextBox 33" id="33"/>
          <p:cNvSpPr txBox="true"/>
          <p:nvPr/>
        </p:nvSpPr>
        <p:spPr>
          <a:xfrm rot="0">
            <a:off x="1202761" y="4636965"/>
            <a:ext cx="7328203" cy="871616"/>
          </a:xfrm>
          <a:prstGeom prst="rect">
            <a:avLst/>
          </a:prstGeom>
        </p:spPr>
        <p:txBody>
          <a:bodyPr anchor="t" rtlCol="false" tIns="0" lIns="0" bIns="0" rIns="0">
            <a:spAutoFit/>
          </a:bodyPr>
          <a:lstStyle/>
          <a:p>
            <a:pPr algn="l" marL="0" indent="0" lvl="0">
              <a:lnSpc>
                <a:spcPts val="2358"/>
              </a:lnSpc>
            </a:pPr>
            <a:r>
              <a:rPr lang="en-US" sz="1684">
                <a:solidFill>
                  <a:srgbClr val="011A3C"/>
                </a:solidFill>
                <a:latin typeface="Nunito"/>
                <a:ea typeface="Nunito"/>
                <a:cs typeface="Nunito"/>
                <a:sym typeface="Nunito"/>
              </a:rPr>
              <a:t>El sistema integra componentes electrónicos de bajo costo y alta disponibilidad, coordinados por un microcontrolador Arduino Uno para el control preciso del riego automatizado.</a:t>
            </a:r>
          </a:p>
        </p:txBody>
      </p:sp>
      <p:sp>
        <p:nvSpPr>
          <p:cNvPr name="TextBox 34" id="34"/>
          <p:cNvSpPr txBox="true"/>
          <p:nvPr/>
        </p:nvSpPr>
        <p:spPr>
          <a:xfrm rot="0">
            <a:off x="1215085" y="7518054"/>
            <a:ext cx="7723773" cy="247650"/>
          </a:xfrm>
          <a:prstGeom prst="rect">
            <a:avLst/>
          </a:prstGeom>
        </p:spPr>
        <p:txBody>
          <a:bodyPr anchor="t" rtlCol="false" tIns="0" lIns="0" bIns="0" rIns="0">
            <a:spAutoFit/>
          </a:bodyPr>
          <a:lstStyle/>
          <a:p>
            <a:pPr algn="l" marL="0" indent="0" lvl="0">
              <a:lnSpc>
                <a:spcPts val="2021"/>
              </a:lnSpc>
            </a:pPr>
            <a:r>
              <a:rPr lang="en-US" sz="1684">
                <a:solidFill>
                  <a:srgbClr val="011A3C"/>
                </a:solidFill>
                <a:latin typeface="Nunito"/>
                <a:ea typeface="Nunito"/>
                <a:cs typeface="Nunito"/>
                <a:sym typeface="Nunito"/>
              </a:rPr>
              <a:t>Arduino Uno (ATmega328P): control maestro, ADC de 10 bits y salidas PWM.</a:t>
            </a:r>
          </a:p>
        </p:txBody>
      </p:sp>
      <p:sp>
        <p:nvSpPr>
          <p:cNvPr name="TextBox 35" id="35"/>
          <p:cNvSpPr txBox="true"/>
          <p:nvPr/>
        </p:nvSpPr>
        <p:spPr>
          <a:xfrm rot="0">
            <a:off x="1215085" y="8079992"/>
            <a:ext cx="7723773" cy="247650"/>
          </a:xfrm>
          <a:prstGeom prst="rect">
            <a:avLst/>
          </a:prstGeom>
        </p:spPr>
        <p:txBody>
          <a:bodyPr anchor="t" rtlCol="false" tIns="0" lIns="0" bIns="0" rIns="0">
            <a:spAutoFit/>
          </a:bodyPr>
          <a:lstStyle/>
          <a:p>
            <a:pPr algn="l" marL="0" indent="0" lvl="0">
              <a:lnSpc>
                <a:spcPts val="2021"/>
              </a:lnSpc>
            </a:pPr>
            <a:r>
              <a:rPr lang="en-US" sz="1684">
                <a:solidFill>
                  <a:srgbClr val="011A3C"/>
                </a:solidFill>
                <a:latin typeface="Nunito"/>
                <a:ea typeface="Nunito"/>
                <a:cs typeface="Nunito"/>
                <a:sym typeface="Nunito"/>
              </a:rPr>
              <a:t>Módulo Bluetooth HC-05: comunicación UART bidireccional con la app Android.</a:t>
            </a:r>
          </a:p>
        </p:txBody>
      </p:sp>
      <p:sp>
        <p:nvSpPr>
          <p:cNvPr name="TextBox 36" id="36"/>
          <p:cNvSpPr txBox="true"/>
          <p:nvPr/>
        </p:nvSpPr>
        <p:spPr>
          <a:xfrm rot="0">
            <a:off x="1215085" y="8641930"/>
            <a:ext cx="7723773" cy="247650"/>
          </a:xfrm>
          <a:prstGeom prst="rect">
            <a:avLst/>
          </a:prstGeom>
        </p:spPr>
        <p:txBody>
          <a:bodyPr anchor="t" rtlCol="false" tIns="0" lIns="0" bIns="0" rIns="0">
            <a:spAutoFit/>
          </a:bodyPr>
          <a:lstStyle/>
          <a:p>
            <a:pPr algn="l" marL="0" indent="0" lvl="0">
              <a:lnSpc>
                <a:spcPts val="2021"/>
              </a:lnSpc>
            </a:pPr>
            <a:r>
              <a:rPr lang="en-US" sz="1684">
                <a:solidFill>
                  <a:srgbClr val="011A3C"/>
                </a:solidFill>
                <a:latin typeface="Nunito"/>
                <a:ea typeface="Nunito"/>
                <a:cs typeface="Nunito"/>
                <a:sym typeface="Nunito"/>
              </a:rPr>
              <a:t>Sensores de humedad resistivos conectados a pines analógicos A0 y A1.</a:t>
            </a:r>
          </a:p>
        </p:txBody>
      </p:sp>
      <p:sp>
        <p:nvSpPr>
          <p:cNvPr name="TextBox 37" id="37"/>
          <p:cNvSpPr txBox="true"/>
          <p:nvPr/>
        </p:nvSpPr>
        <p:spPr>
          <a:xfrm rot="0">
            <a:off x="10868338" y="3772049"/>
            <a:ext cx="4583749" cy="990600"/>
          </a:xfrm>
          <a:prstGeom prst="rect">
            <a:avLst/>
          </a:prstGeom>
        </p:spPr>
        <p:txBody>
          <a:bodyPr anchor="t" rtlCol="false" tIns="0" lIns="0" bIns="0" rIns="0">
            <a:spAutoFit/>
          </a:bodyPr>
          <a:lstStyle/>
          <a:p>
            <a:pPr algn="l" marL="0" indent="0" lvl="0">
              <a:lnSpc>
                <a:spcPts val="2021"/>
              </a:lnSpc>
            </a:pPr>
            <a:r>
              <a:rPr lang="en-US" sz="1684">
                <a:solidFill>
                  <a:srgbClr val="011A3C"/>
                </a:solidFill>
                <a:latin typeface="Nunito"/>
                <a:ea typeface="Nunito"/>
                <a:cs typeface="Nunito"/>
                <a:sym typeface="Nunito"/>
              </a:rPr>
              <a:t>Cada componente cumple una función específica dentro de la arquitectura de adquisición de datos y control del sistema de riego automatizado multivariable.</a:t>
            </a:r>
          </a:p>
        </p:txBody>
      </p:sp>
      <p:sp>
        <p:nvSpPr>
          <p:cNvPr name="TextBox 38" id="38"/>
          <p:cNvSpPr txBox="true"/>
          <p:nvPr/>
        </p:nvSpPr>
        <p:spPr>
          <a:xfrm rot="0">
            <a:off x="10868338" y="5520273"/>
            <a:ext cx="4583749" cy="495300"/>
          </a:xfrm>
          <a:prstGeom prst="rect">
            <a:avLst/>
          </a:prstGeom>
        </p:spPr>
        <p:txBody>
          <a:bodyPr anchor="t" rtlCol="false" tIns="0" lIns="0" bIns="0" rIns="0">
            <a:spAutoFit/>
          </a:bodyPr>
          <a:lstStyle/>
          <a:p>
            <a:pPr algn="l" marL="0" indent="0" lvl="0">
              <a:lnSpc>
                <a:spcPts val="2021"/>
              </a:lnSpc>
            </a:pPr>
            <a:r>
              <a:rPr lang="en-US" sz="1684">
                <a:solidFill>
                  <a:srgbClr val="011A3C"/>
                </a:solidFill>
                <a:latin typeface="Nunito"/>
                <a:ea typeface="Nunito"/>
                <a:cs typeface="Nunito"/>
                <a:sym typeface="Nunito"/>
              </a:rPr>
              <a:t>Arduino Uno (ATmega328P): procesamiento central, control ADC y PWM.</a:t>
            </a:r>
          </a:p>
        </p:txBody>
      </p:sp>
      <p:sp>
        <p:nvSpPr>
          <p:cNvPr name="TextBox 39" id="39"/>
          <p:cNvSpPr txBox="true"/>
          <p:nvPr/>
        </p:nvSpPr>
        <p:spPr>
          <a:xfrm rot="0">
            <a:off x="10868338" y="6398727"/>
            <a:ext cx="4583749" cy="495300"/>
          </a:xfrm>
          <a:prstGeom prst="rect">
            <a:avLst/>
          </a:prstGeom>
        </p:spPr>
        <p:txBody>
          <a:bodyPr anchor="t" rtlCol="false" tIns="0" lIns="0" bIns="0" rIns="0">
            <a:spAutoFit/>
          </a:bodyPr>
          <a:lstStyle/>
          <a:p>
            <a:pPr algn="l" marL="0" indent="0" lvl="0">
              <a:lnSpc>
                <a:spcPts val="2021"/>
              </a:lnSpc>
            </a:pPr>
            <a:r>
              <a:rPr lang="en-US" sz="1684">
                <a:solidFill>
                  <a:srgbClr val="011A3C"/>
                </a:solidFill>
                <a:latin typeface="Nunito"/>
                <a:ea typeface="Nunito"/>
                <a:cs typeface="Nunito"/>
                <a:sym typeface="Nunito"/>
              </a:rPr>
              <a:t>Módulo HC-05: enlace Bluetooth bidireccional a 9600 baudios vía UART.</a:t>
            </a:r>
          </a:p>
        </p:txBody>
      </p:sp>
      <p:sp>
        <p:nvSpPr>
          <p:cNvPr name="TextBox 40" id="40"/>
          <p:cNvSpPr txBox="true"/>
          <p:nvPr/>
        </p:nvSpPr>
        <p:spPr>
          <a:xfrm rot="0">
            <a:off x="10868338" y="7274953"/>
            <a:ext cx="4583749" cy="495300"/>
          </a:xfrm>
          <a:prstGeom prst="rect">
            <a:avLst/>
          </a:prstGeom>
        </p:spPr>
        <p:txBody>
          <a:bodyPr anchor="t" rtlCol="false" tIns="0" lIns="0" bIns="0" rIns="0">
            <a:spAutoFit/>
          </a:bodyPr>
          <a:lstStyle/>
          <a:p>
            <a:pPr algn="l" marL="0" indent="0" lvl="0">
              <a:lnSpc>
                <a:spcPts val="2021"/>
              </a:lnSpc>
            </a:pPr>
            <a:r>
              <a:rPr lang="en-US" sz="1684">
                <a:solidFill>
                  <a:srgbClr val="011A3C"/>
                </a:solidFill>
                <a:latin typeface="Nunito"/>
                <a:ea typeface="Nunito"/>
                <a:cs typeface="Nunito"/>
                <a:sym typeface="Nunito"/>
              </a:rPr>
              <a:t>Sensor DHT11: medición de temperatura y humedad ambiental en tiempo real.</a:t>
            </a:r>
          </a:p>
        </p:txBody>
      </p:sp>
      <p:grpSp>
        <p:nvGrpSpPr>
          <p:cNvPr name="Group 41" id="41"/>
          <p:cNvGrpSpPr/>
          <p:nvPr/>
        </p:nvGrpSpPr>
        <p:grpSpPr>
          <a:xfrm rot="0">
            <a:off x="8000488" y="-1161592"/>
            <a:ext cx="2287024" cy="2141044"/>
            <a:chOff x="0" y="0"/>
            <a:chExt cx="596900" cy="558800"/>
          </a:xfrm>
        </p:grpSpPr>
        <p:sp>
          <p:nvSpPr>
            <p:cNvPr name="Freeform 42" id="42"/>
            <p:cNvSpPr/>
            <p:nvPr/>
          </p:nvSpPr>
          <p:spPr>
            <a:xfrm flipH="false" flipV="false" rot="0">
              <a:off x="0" y="0"/>
              <a:ext cx="596900" cy="558800"/>
            </a:xfrm>
            <a:custGeom>
              <a:avLst/>
              <a:gdLst/>
              <a:ahLst/>
              <a:cxnLst/>
              <a:rect r="r" b="b" t="t" l="l"/>
              <a:pathLst>
                <a:path h="558800" w="596900">
                  <a:moveTo>
                    <a:pt x="596900" y="39776"/>
                  </a:moveTo>
                  <a:lnTo>
                    <a:pt x="596900" y="265024"/>
                  </a:lnTo>
                  <a:cubicBezTo>
                    <a:pt x="596900" y="290424"/>
                    <a:pt x="586490" y="314714"/>
                    <a:pt x="568097" y="332231"/>
                  </a:cubicBezTo>
                  <a:lnTo>
                    <a:pt x="359003" y="531369"/>
                  </a:lnTo>
                  <a:cubicBezTo>
                    <a:pt x="340513" y="548978"/>
                    <a:pt x="315958" y="558800"/>
                    <a:pt x="290424" y="558800"/>
                  </a:cubicBezTo>
                  <a:lnTo>
                    <a:pt x="39776" y="558800"/>
                  </a:lnTo>
                  <a:cubicBezTo>
                    <a:pt x="29226" y="558800"/>
                    <a:pt x="19109" y="554609"/>
                    <a:pt x="11650" y="547150"/>
                  </a:cubicBezTo>
                  <a:cubicBezTo>
                    <a:pt x="4191" y="539691"/>
                    <a:pt x="0" y="529574"/>
                    <a:pt x="0" y="519024"/>
                  </a:cubicBezTo>
                  <a:lnTo>
                    <a:pt x="0" y="288696"/>
                  </a:lnTo>
                  <a:cubicBezTo>
                    <a:pt x="0" y="263304"/>
                    <a:pt x="10445" y="239030"/>
                    <a:pt x="28882" y="221572"/>
                  </a:cubicBezTo>
                  <a:lnTo>
                    <a:pt x="234008" y="27348"/>
                  </a:lnTo>
                  <a:cubicBezTo>
                    <a:pt x="252554" y="9787"/>
                    <a:pt x="277124" y="0"/>
                    <a:pt x="302666" y="0"/>
                  </a:cubicBezTo>
                  <a:lnTo>
                    <a:pt x="557124" y="0"/>
                  </a:lnTo>
                  <a:cubicBezTo>
                    <a:pt x="567674" y="0"/>
                    <a:pt x="577791" y="4191"/>
                    <a:pt x="585250" y="11650"/>
                  </a:cubicBezTo>
                  <a:cubicBezTo>
                    <a:pt x="592709" y="19109"/>
                    <a:pt x="596900" y="29226"/>
                    <a:pt x="596900" y="39776"/>
                  </a:cubicBezTo>
                  <a:close/>
                </a:path>
              </a:pathLst>
            </a:custGeom>
            <a:solidFill>
              <a:srgbClr val="8DABD2"/>
            </a:solidFill>
          </p:spPr>
        </p:sp>
        <p:sp>
          <p:nvSpPr>
            <p:cNvPr name="TextBox 43" id="43"/>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sp>
        <p:nvSpPr>
          <p:cNvPr name="Freeform 44" id="44"/>
          <p:cNvSpPr/>
          <p:nvPr/>
        </p:nvSpPr>
        <p:spPr>
          <a:xfrm flipH="false" flipV="false" rot="0">
            <a:off x="7394752" y="341699"/>
            <a:ext cx="1211471" cy="200443"/>
          </a:xfrm>
          <a:custGeom>
            <a:avLst/>
            <a:gdLst/>
            <a:ahLst/>
            <a:cxnLst/>
            <a:rect r="r" b="b" t="t" l="l"/>
            <a:pathLst>
              <a:path h="200443" w="1211471">
                <a:moveTo>
                  <a:pt x="0" y="0"/>
                </a:moveTo>
                <a:lnTo>
                  <a:pt x="1211472" y="0"/>
                </a:lnTo>
                <a:lnTo>
                  <a:pt x="1211472" y="200443"/>
                </a:lnTo>
                <a:lnTo>
                  <a:pt x="0" y="20044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45" id="45"/>
          <p:cNvSpPr/>
          <p:nvPr/>
        </p:nvSpPr>
        <p:spPr>
          <a:xfrm flipH="true" flipV="true" rot="0">
            <a:off x="404204" y="8740838"/>
            <a:ext cx="1145306" cy="1132812"/>
          </a:xfrm>
          <a:custGeom>
            <a:avLst/>
            <a:gdLst/>
            <a:ahLst/>
            <a:cxnLst/>
            <a:rect r="r" b="b" t="t" l="l"/>
            <a:pathLst>
              <a:path h="1132812" w="1145306">
                <a:moveTo>
                  <a:pt x="1145306" y="1132812"/>
                </a:moveTo>
                <a:lnTo>
                  <a:pt x="0" y="1132812"/>
                </a:lnTo>
                <a:lnTo>
                  <a:pt x="0" y="0"/>
                </a:lnTo>
                <a:lnTo>
                  <a:pt x="1145306" y="0"/>
                </a:lnTo>
                <a:lnTo>
                  <a:pt x="1145306" y="1132812"/>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14372557" y="-522625"/>
            <a:ext cx="5586552" cy="5229964"/>
            <a:chOff x="0" y="0"/>
            <a:chExt cx="596900" cy="558800"/>
          </a:xfrm>
        </p:grpSpPr>
        <p:sp>
          <p:nvSpPr>
            <p:cNvPr name="Freeform 3" id="3"/>
            <p:cNvSpPr/>
            <p:nvPr/>
          </p:nvSpPr>
          <p:spPr>
            <a:xfrm flipH="false" flipV="false" rot="0">
              <a:off x="0" y="0"/>
              <a:ext cx="596900" cy="558800"/>
            </a:xfrm>
            <a:custGeom>
              <a:avLst/>
              <a:gdLst/>
              <a:ahLst/>
              <a:cxnLst/>
              <a:rect r="r" b="b" t="t" l="l"/>
              <a:pathLst>
                <a:path h="558800" w="596900">
                  <a:moveTo>
                    <a:pt x="596900" y="16283"/>
                  </a:moveTo>
                  <a:lnTo>
                    <a:pt x="596900" y="288517"/>
                  </a:lnTo>
                  <a:cubicBezTo>
                    <a:pt x="596900" y="298915"/>
                    <a:pt x="592638" y="308859"/>
                    <a:pt x="585109" y="316030"/>
                  </a:cubicBezTo>
                  <a:lnTo>
                    <a:pt x="341991" y="547570"/>
                  </a:lnTo>
                  <a:cubicBezTo>
                    <a:pt x="334422" y="554779"/>
                    <a:pt x="324370" y="558800"/>
                    <a:pt x="313917" y="558800"/>
                  </a:cubicBezTo>
                  <a:lnTo>
                    <a:pt x="16283" y="558800"/>
                  </a:lnTo>
                  <a:cubicBezTo>
                    <a:pt x="7290" y="558800"/>
                    <a:pt x="0" y="551510"/>
                    <a:pt x="0" y="542517"/>
                  </a:cubicBezTo>
                  <a:lnTo>
                    <a:pt x="0" y="265203"/>
                  </a:lnTo>
                  <a:cubicBezTo>
                    <a:pt x="0" y="254809"/>
                    <a:pt x="4276" y="244871"/>
                    <a:pt x="11824" y="237724"/>
                  </a:cubicBezTo>
                  <a:lnTo>
                    <a:pt x="251066" y="11196"/>
                  </a:lnTo>
                  <a:cubicBezTo>
                    <a:pt x="258659" y="4007"/>
                    <a:pt x="268717" y="0"/>
                    <a:pt x="279173" y="0"/>
                  </a:cubicBezTo>
                  <a:lnTo>
                    <a:pt x="580617" y="0"/>
                  </a:lnTo>
                  <a:cubicBezTo>
                    <a:pt x="589610" y="0"/>
                    <a:pt x="596900" y="7290"/>
                    <a:pt x="596900" y="16283"/>
                  </a:cubicBezTo>
                  <a:close/>
                </a:path>
              </a:pathLst>
            </a:custGeom>
            <a:solidFill>
              <a:srgbClr val="014AAB">
                <a:alpha val="5882"/>
              </a:srgbClr>
            </a:solidFill>
          </p:spPr>
        </p:sp>
        <p:sp>
          <p:nvSpPr>
            <p:cNvPr name="TextBox 4" id="4"/>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5" id="5"/>
          <p:cNvGrpSpPr/>
          <p:nvPr/>
        </p:nvGrpSpPr>
        <p:grpSpPr>
          <a:xfrm rot="-10800000">
            <a:off x="16832257" y="4400004"/>
            <a:ext cx="3358368" cy="3144004"/>
            <a:chOff x="0" y="0"/>
            <a:chExt cx="596900" cy="558800"/>
          </a:xfrm>
        </p:grpSpPr>
        <p:sp>
          <p:nvSpPr>
            <p:cNvPr name="Freeform 6" id="6"/>
            <p:cNvSpPr/>
            <p:nvPr/>
          </p:nvSpPr>
          <p:spPr>
            <a:xfrm flipH="false" flipV="false" rot="0">
              <a:off x="0" y="0"/>
              <a:ext cx="596900" cy="558800"/>
            </a:xfrm>
            <a:custGeom>
              <a:avLst/>
              <a:gdLst/>
              <a:ahLst/>
              <a:cxnLst/>
              <a:rect r="r" b="b" t="t" l="l"/>
              <a:pathLst>
                <a:path h="558800" w="596900">
                  <a:moveTo>
                    <a:pt x="596900" y="27087"/>
                  </a:moveTo>
                  <a:lnTo>
                    <a:pt x="596900" y="277713"/>
                  </a:lnTo>
                  <a:cubicBezTo>
                    <a:pt x="596900" y="295010"/>
                    <a:pt x="589811" y="311552"/>
                    <a:pt x="577285" y="323481"/>
                  </a:cubicBezTo>
                  <a:lnTo>
                    <a:pt x="349815" y="540119"/>
                  </a:lnTo>
                  <a:cubicBezTo>
                    <a:pt x="337223" y="552111"/>
                    <a:pt x="320501" y="558800"/>
                    <a:pt x="303113" y="558800"/>
                  </a:cubicBezTo>
                  <a:lnTo>
                    <a:pt x="27087" y="558800"/>
                  </a:lnTo>
                  <a:cubicBezTo>
                    <a:pt x="12127" y="558800"/>
                    <a:pt x="0" y="546673"/>
                    <a:pt x="0" y="531713"/>
                  </a:cubicBezTo>
                  <a:lnTo>
                    <a:pt x="0" y="276007"/>
                  </a:lnTo>
                  <a:cubicBezTo>
                    <a:pt x="0" y="258715"/>
                    <a:pt x="7113" y="242185"/>
                    <a:pt x="19669" y="230296"/>
                  </a:cubicBezTo>
                  <a:lnTo>
                    <a:pt x="243221" y="18624"/>
                  </a:lnTo>
                  <a:cubicBezTo>
                    <a:pt x="255851" y="6665"/>
                    <a:pt x="272583" y="0"/>
                    <a:pt x="289977" y="0"/>
                  </a:cubicBezTo>
                  <a:lnTo>
                    <a:pt x="569813" y="0"/>
                  </a:lnTo>
                  <a:cubicBezTo>
                    <a:pt x="584773" y="0"/>
                    <a:pt x="596900" y="12127"/>
                    <a:pt x="596900" y="27087"/>
                  </a:cubicBezTo>
                  <a:close/>
                </a:path>
              </a:pathLst>
            </a:custGeom>
            <a:solidFill>
              <a:srgbClr val="014AAB">
                <a:alpha val="5882"/>
              </a:srgbClr>
            </a:solidFill>
          </p:spPr>
        </p:sp>
        <p:sp>
          <p:nvSpPr>
            <p:cNvPr name="TextBox 7" id="7"/>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8" id="8"/>
          <p:cNvGrpSpPr/>
          <p:nvPr/>
        </p:nvGrpSpPr>
        <p:grpSpPr>
          <a:xfrm rot="-5400000">
            <a:off x="-2264889" y="963796"/>
            <a:ext cx="4019894" cy="3763305"/>
            <a:chOff x="0" y="0"/>
            <a:chExt cx="596900" cy="558800"/>
          </a:xfrm>
        </p:grpSpPr>
        <p:sp>
          <p:nvSpPr>
            <p:cNvPr name="Freeform 9" id="9"/>
            <p:cNvSpPr/>
            <p:nvPr/>
          </p:nvSpPr>
          <p:spPr>
            <a:xfrm flipH="false" flipV="false" rot="0">
              <a:off x="0" y="0"/>
              <a:ext cx="596900" cy="558800"/>
            </a:xfrm>
            <a:custGeom>
              <a:avLst/>
              <a:gdLst/>
              <a:ahLst/>
              <a:cxnLst/>
              <a:rect r="r" b="b" t="t" l="l"/>
              <a:pathLst>
                <a:path h="558800" w="596900">
                  <a:moveTo>
                    <a:pt x="596900" y="22629"/>
                  </a:moveTo>
                  <a:lnTo>
                    <a:pt x="596900" y="282171"/>
                  </a:lnTo>
                  <a:cubicBezTo>
                    <a:pt x="596900" y="296621"/>
                    <a:pt x="590977" y="310440"/>
                    <a:pt x="580513" y="320406"/>
                  </a:cubicBezTo>
                  <a:lnTo>
                    <a:pt x="346587" y="543194"/>
                  </a:lnTo>
                  <a:cubicBezTo>
                    <a:pt x="336067" y="553212"/>
                    <a:pt x="322097" y="558800"/>
                    <a:pt x="307571" y="558800"/>
                  </a:cubicBezTo>
                  <a:lnTo>
                    <a:pt x="22629" y="558800"/>
                  </a:lnTo>
                  <a:cubicBezTo>
                    <a:pt x="10132" y="558800"/>
                    <a:pt x="0" y="548668"/>
                    <a:pt x="0" y="536171"/>
                  </a:cubicBezTo>
                  <a:lnTo>
                    <a:pt x="0" y="271549"/>
                  </a:lnTo>
                  <a:cubicBezTo>
                    <a:pt x="0" y="257103"/>
                    <a:pt x="5942" y="243294"/>
                    <a:pt x="16432" y="233361"/>
                  </a:cubicBezTo>
                  <a:lnTo>
                    <a:pt x="246458" y="15559"/>
                  </a:lnTo>
                  <a:cubicBezTo>
                    <a:pt x="257010" y="5568"/>
                    <a:pt x="270988" y="0"/>
                    <a:pt x="285519" y="0"/>
                  </a:cubicBezTo>
                  <a:lnTo>
                    <a:pt x="574271" y="0"/>
                  </a:lnTo>
                  <a:cubicBezTo>
                    <a:pt x="586768" y="0"/>
                    <a:pt x="596900" y="10132"/>
                    <a:pt x="596900" y="22629"/>
                  </a:cubicBezTo>
                  <a:close/>
                </a:path>
              </a:pathLst>
            </a:custGeom>
            <a:solidFill>
              <a:srgbClr val="014AAB">
                <a:alpha val="5882"/>
              </a:srgbClr>
            </a:solidFill>
          </p:spPr>
        </p:sp>
        <p:sp>
          <p:nvSpPr>
            <p:cNvPr name="TextBox 10" id="10"/>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1" id="11"/>
          <p:cNvGrpSpPr/>
          <p:nvPr/>
        </p:nvGrpSpPr>
        <p:grpSpPr>
          <a:xfrm rot="-5400000">
            <a:off x="260802" y="5632991"/>
            <a:ext cx="11455664" cy="10724451"/>
            <a:chOff x="0" y="0"/>
            <a:chExt cx="596900" cy="558800"/>
          </a:xfrm>
        </p:grpSpPr>
        <p:sp>
          <p:nvSpPr>
            <p:cNvPr name="Freeform 12" id="12"/>
            <p:cNvSpPr/>
            <p:nvPr/>
          </p:nvSpPr>
          <p:spPr>
            <a:xfrm flipH="false" flipV="false" rot="0">
              <a:off x="0" y="0"/>
              <a:ext cx="596900" cy="558800"/>
            </a:xfrm>
            <a:custGeom>
              <a:avLst/>
              <a:gdLst/>
              <a:ahLst/>
              <a:cxnLst/>
              <a:rect r="r" b="b" t="t" l="l"/>
              <a:pathLst>
                <a:path h="558800" w="596900">
                  <a:moveTo>
                    <a:pt x="596900" y="35734"/>
                  </a:moveTo>
                  <a:lnTo>
                    <a:pt x="596900" y="269066"/>
                  </a:lnTo>
                  <a:cubicBezTo>
                    <a:pt x="596900" y="291885"/>
                    <a:pt x="587548" y="313707"/>
                    <a:pt x="571024" y="329444"/>
                  </a:cubicBezTo>
                  <a:lnTo>
                    <a:pt x="356076" y="534156"/>
                  </a:lnTo>
                  <a:cubicBezTo>
                    <a:pt x="339465" y="549976"/>
                    <a:pt x="317405" y="558800"/>
                    <a:pt x="294466" y="558800"/>
                  </a:cubicBezTo>
                  <a:lnTo>
                    <a:pt x="35734" y="558800"/>
                  </a:lnTo>
                  <a:cubicBezTo>
                    <a:pt x="26257" y="558800"/>
                    <a:pt x="17168" y="555035"/>
                    <a:pt x="10466" y="548334"/>
                  </a:cubicBezTo>
                  <a:cubicBezTo>
                    <a:pt x="3765" y="541632"/>
                    <a:pt x="0" y="532543"/>
                    <a:pt x="0" y="523066"/>
                  </a:cubicBezTo>
                  <a:lnTo>
                    <a:pt x="0" y="284654"/>
                  </a:lnTo>
                  <a:cubicBezTo>
                    <a:pt x="0" y="261842"/>
                    <a:pt x="9383" y="240035"/>
                    <a:pt x="25948" y="224351"/>
                  </a:cubicBezTo>
                  <a:lnTo>
                    <a:pt x="236942" y="24569"/>
                  </a:lnTo>
                  <a:cubicBezTo>
                    <a:pt x="253604" y="8792"/>
                    <a:pt x="275678" y="0"/>
                    <a:pt x="298624" y="0"/>
                  </a:cubicBezTo>
                  <a:lnTo>
                    <a:pt x="561166" y="0"/>
                  </a:lnTo>
                  <a:cubicBezTo>
                    <a:pt x="570643" y="0"/>
                    <a:pt x="579732" y="3765"/>
                    <a:pt x="586434" y="10466"/>
                  </a:cubicBezTo>
                  <a:cubicBezTo>
                    <a:pt x="593135" y="17168"/>
                    <a:pt x="596900" y="26257"/>
                    <a:pt x="596900" y="35734"/>
                  </a:cubicBezTo>
                  <a:close/>
                </a:path>
              </a:pathLst>
            </a:custGeom>
            <a:solidFill>
              <a:srgbClr val="014AAB"/>
            </a:solidFill>
          </p:spPr>
        </p:sp>
        <p:sp>
          <p:nvSpPr>
            <p:cNvPr name="TextBox 13" id="13"/>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4" id="14"/>
          <p:cNvGrpSpPr/>
          <p:nvPr/>
        </p:nvGrpSpPr>
        <p:grpSpPr>
          <a:xfrm rot="0">
            <a:off x="3409795" y="3529260"/>
            <a:ext cx="4541453" cy="1014107"/>
            <a:chOff x="0" y="0"/>
            <a:chExt cx="1196103" cy="267090"/>
          </a:xfrm>
        </p:grpSpPr>
        <p:sp>
          <p:nvSpPr>
            <p:cNvPr name="Freeform 15" id="15"/>
            <p:cNvSpPr/>
            <p:nvPr/>
          </p:nvSpPr>
          <p:spPr>
            <a:xfrm flipH="false" flipV="false" rot="0">
              <a:off x="0" y="0"/>
              <a:ext cx="1196103" cy="267090"/>
            </a:xfrm>
            <a:custGeom>
              <a:avLst/>
              <a:gdLst/>
              <a:ahLst/>
              <a:cxnLst/>
              <a:rect r="r" b="b" t="t" l="l"/>
              <a:pathLst>
                <a:path h="267090" w="1196103">
                  <a:moveTo>
                    <a:pt x="133545" y="0"/>
                  </a:moveTo>
                  <a:lnTo>
                    <a:pt x="1062558" y="0"/>
                  </a:lnTo>
                  <a:cubicBezTo>
                    <a:pt x="1097976" y="0"/>
                    <a:pt x="1131944" y="14070"/>
                    <a:pt x="1156988" y="39114"/>
                  </a:cubicBezTo>
                  <a:cubicBezTo>
                    <a:pt x="1182033" y="64159"/>
                    <a:pt x="1196103" y="98127"/>
                    <a:pt x="1196103" y="133545"/>
                  </a:cubicBezTo>
                  <a:lnTo>
                    <a:pt x="1196103" y="133545"/>
                  </a:lnTo>
                  <a:cubicBezTo>
                    <a:pt x="1196103" y="168963"/>
                    <a:pt x="1182033" y="202931"/>
                    <a:pt x="1156988" y="227976"/>
                  </a:cubicBezTo>
                  <a:cubicBezTo>
                    <a:pt x="1131944" y="253020"/>
                    <a:pt x="1097976" y="267090"/>
                    <a:pt x="1062558" y="267090"/>
                  </a:cubicBezTo>
                  <a:lnTo>
                    <a:pt x="133545" y="267090"/>
                  </a:lnTo>
                  <a:cubicBezTo>
                    <a:pt x="98127" y="267090"/>
                    <a:pt x="64159" y="253020"/>
                    <a:pt x="39114" y="227976"/>
                  </a:cubicBezTo>
                  <a:cubicBezTo>
                    <a:pt x="14070" y="202931"/>
                    <a:pt x="0" y="168963"/>
                    <a:pt x="0" y="133545"/>
                  </a:cubicBezTo>
                  <a:lnTo>
                    <a:pt x="0" y="133545"/>
                  </a:lnTo>
                  <a:cubicBezTo>
                    <a:pt x="0" y="98127"/>
                    <a:pt x="14070" y="64159"/>
                    <a:pt x="39114" y="39114"/>
                  </a:cubicBezTo>
                  <a:cubicBezTo>
                    <a:pt x="64159" y="14070"/>
                    <a:pt x="98127" y="0"/>
                    <a:pt x="133545" y="0"/>
                  </a:cubicBezTo>
                  <a:close/>
                </a:path>
              </a:pathLst>
            </a:custGeom>
            <a:solidFill>
              <a:srgbClr val="FFFFFF"/>
            </a:solidFill>
            <a:ln w="38100" cap="rnd">
              <a:solidFill>
                <a:srgbClr val="8DABD2"/>
              </a:solidFill>
              <a:prstDash val="solid"/>
              <a:round/>
            </a:ln>
          </p:spPr>
        </p:sp>
        <p:sp>
          <p:nvSpPr>
            <p:cNvPr name="TextBox 16" id="16"/>
            <p:cNvSpPr txBox="true"/>
            <p:nvPr/>
          </p:nvSpPr>
          <p:spPr>
            <a:xfrm>
              <a:off x="0" y="-57150"/>
              <a:ext cx="1196103" cy="324240"/>
            </a:xfrm>
            <a:prstGeom prst="rect">
              <a:avLst/>
            </a:prstGeom>
          </p:spPr>
          <p:txBody>
            <a:bodyPr anchor="ctr" rtlCol="false" tIns="50800" lIns="50800" bIns="50800" rIns="50800"/>
            <a:lstStyle/>
            <a:p>
              <a:pPr algn="ctr" marL="0" indent="0" lvl="0">
                <a:lnSpc>
                  <a:spcPts val="3220"/>
                </a:lnSpc>
              </a:pPr>
            </a:p>
          </p:txBody>
        </p:sp>
      </p:grpSp>
      <p:grpSp>
        <p:nvGrpSpPr>
          <p:cNvPr name="Group 17" id="17"/>
          <p:cNvGrpSpPr/>
          <p:nvPr/>
        </p:nvGrpSpPr>
        <p:grpSpPr>
          <a:xfrm rot="0">
            <a:off x="11042575" y="3529260"/>
            <a:ext cx="4541453" cy="1014107"/>
            <a:chOff x="0" y="0"/>
            <a:chExt cx="1196103" cy="267090"/>
          </a:xfrm>
        </p:grpSpPr>
        <p:sp>
          <p:nvSpPr>
            <p:cNvPr name="Freeform 18" id="18"/>
            <p:cNvSpPr/>
            <p:nvPr/>
          </p:nvSpPr>
          <p:spPr>
            <a:xfrm flipH="false" flipV="false" rot="0">
              <a:off x="0" y="0"/>
              <a:ext cx="1196103" cy="267090"/>
            </a:xfrm>
            <a:custGeom>
              <a:avLst/>
              <a:gdLst/>
              <a:ahLst/>
              <a:cxnLst/>
              <a:rect r="r" b="b" t="t" l="l"/>
              <a:pathLst>
                <a:path h="267090" w="1196103">
                  <a:moveTo>
                    <a:pt x="133545" y="0"/>
                  </a:moveTo>
                  <a:lnTo>
                    <a:pt x="1062558" y="0"/>
                  </a:lnTo>
                  <a:cubicBezTo>
                    <a:pt x="1097976" y="0"/>
                    <a:pt x="1131944" y="14070"/>
                    <a:pt x="1156988" y="39114"/>
                  </a:cubicBezTo>
                  <a:cubicBezTo>
                    <a:pt x="1182033" y="64159"/>
                    <a:pt x="1196103" y="98127"/>
                    <a:pt x="1196103" y="133545"/>
                  </a:cubicBezTo>
                  <a:lnTo>
                    <a:pt x="1196103" y="133545"/>
                  </a:lnTo>
                  <a:cubicBezTo>
                    <a:pt x="1196103" y="168963"/>
                    <a:pt x="1182033" y="202931"/>
                    <a:pt x="1156988" y="227976"/>
                  </a:cubicBezTo>
                  <a:cubicBezTo>
                    <a:pt x="1131944" y="253020"/>
                    <a:pt x="1097976" y="267090"/>
                    <a:pt x="1062558" y="267090"/>
                  </a:cubicBezTo>
                  <a:lnTo>
                    <a:pt x="133545" y="267090"/>
                  </a:lnTo>
                  <a:cubicBezTo>
                    <a:pt x="98127" y="267090"/>
                    <a:pt x="64159" y="253020"/>
                    <a:pt x="39114" y="227976"/>
                  </a:cubicBezTo>
                  <a:cubicBezTo>
                    <a:pt x="14070" y="202931"/>
                    <a:pt x="0" y="168963"/>
                    <a:pt x="0" y="133545"/>
                  </a:cubicBezTo>
                  <a:lnTo>
                    <a:pt x="0" y="133545"/>
                  </a:lnTo>
                  <a:cubicBezTo>
                    <a:pt x="0" y="98127"/>
                    <a:pt x="14070" y="64159"/>
                    <a:pt x="39114" y="39114"/>
                  </a:cubicBezTo>
                  <a:cubicBezTo>
                    <a:pt x="64159" y="14070"/>
                    <a:pt x="98127" y="0"/>
                    <a:pt x="133545" y="0"/>
                  </a:cubicBezTo>
                  <a:close/>
                </a:path>
              </a:pathLst>
            </a:custGeom>
            <a:solidFill>
              <a:srgbClr val="FFFFFF"/>
            </a:solidFill>
            <a:ln w="38100" cap="rnd">
              <a:solidFill>
                <a:srgbClr val="014AAB"/>
              </a:solidFill>
              <a:prstDash val="solid"/>
              <a:round/>
            </a:ln>
          </p:spPr>
        </p:sp>
        <p:sp>
          <p:nvSpPr>
            <p:cNvPr name="TextBox 19" id="19"/>
            <p:cNvSpPr txBox="true"/>
            <p:nvPr/>
          </p:nvSpPr>
          <p:spPr>
            <a:xfrm>
              <a:off x="0" y="-57150"/>
              <a:ext cx="1196103" cy="324240"/>
            </a:xfrm>
            <a:prstGeom prst="rect">
              <a:avLst/>
            </a:prstGeom>
          </p:spPr>
          <p:txBody>
            <a:bodyPr anchor="ctr" rtlCol="false" tIns="50800" lIns="50800" bIns="50800" rIns="50800"/>
            <a:lstStyle/>
            <a:p>
              <a:pPr algn="ctr" marL="0" indent="0" lvl="0">
                <a:lnSpc>
                  <a:spcPts val="3220"/>
                </a:lnSpc>
              </a:pPr>
            </a:p>
          </p:txBody>
        </p:sp>
      </p:grpSp>
      <p:grpSp>
        <p:nvGrpSpPr>
          <p:cNvPr name="Group 20" id="20"/>
          <p:cNvGrpSpPr/>
          <p:nvPr/>
        </p:nvGrpSpPr>
        <p:grpSpPr>
          <a:xfrm rot="0">
            <a:off x="2703972" y="3529260"/>
            <a:ext cx="1014107" cy="1014107"/>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ABD2"/>
            </a:solidFill>
          </p:spPr>
        </p:sp>
        <p:sp>
          <p:nvSpPr>
            <p:cNvPr name="TextBox 22" id="22"/>
            <p:cNvSpPr txBox="true"/>
            <p:nvPr/>
          </p:nvSpPr>
          <p:spPr>
            <a:xfrm>
              <a:off x="76200" y="19050"/>
              <a:ext cx="660400" cy="717550"/>
            </a:xfrm>
            <a:prstGeom prst="rect">
              <a:avLst/>
            </a:prstGeom>
          </p:spPr>
          <p:txBody>
            <a:bodyPr anchor="ctr" rtlCol="false" tIns="50800" lIns="50800" bIns="50800" rIns="50800"/>
            <a:lstStyle/>
            <a:p>
              <a:pPr algn="ctr" marL="0" indent="0" lvl="0">
                <a:lnSpc>
                  <a:spcPts val="3220"/>
                </a:lnSpc>
              </a:pPr>
            </a:p>
          </p:txBody>
        </p:sp>
      </p:grpSp>
      <p:grpSp>
        <p:nvGrpSpPr>
          <p:cNvPr name="Group 23" id="23"/>
          <p:cNvGrpSpPr/>
          <p:nvPr/>
        </p:nvGrpSpPr>
        <p:grpSpPr>
          <a:xfrm rot="0">
            <a:off x="10336752" y="3529260"/>
            <a:ext cx="1014107" cy="1014107"/>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4AAB"/>
            </a:solidFill>
          </p:spPr>
        </p:sp>
        <p:sp>
          <p:nvSpPr>
            <p:cNvPr name="TextBox 25" id="25"/>
            <p:cNvSpPr txBox="true"/>
            <p:nvPr/>
          </p:nvSpPr>
          <p:spPr>
            <a:xfrm>
              <a:off x="76200" y="19050"/>
              <a:ext cx="660400" cy="717550"/>
            </a:xfrm>
            <a:prstGeom prst="rect">
              <a:avLst/>
            </a:prstGeom>
          </p:spPr>
          <p:txBody>
            <a:bodyPr anchor="ctr" rtlCol="false" tIns="50800" lIns="50800" bIns="50800" rIns="50800"/>
            <a:lstStyle/>
            <a:p>
              <a:pPr algn="ctr" marL="0" indent="0" lvl="0">
                <a:lnSpc>
                  <a:spcPts val="3220"/>
                </a:lnSpc>
              </a:pPr>
            </a:p>
          </p:txBody>
        </p:sp>
      </p:grpSp>
      <p:grpSp>
        <p:nvGrpSpPr>
          <p:cNvPr name="Group 26" id="26"/>
          <p:cNvGrpSpPr/>
          <p:nvPr/>
        </p:nvGrpSpPr>
        <p:grpSpPr>
          <a:xfrm rot="0">
            <a:off x="2169636" y="4707338"/>
            <a:ext cx="12880056" cy="4550962"/>
            <a:chOff x="0" y="0"/>
            <a:chExt cx="3392278" cy="1198607"/>
          </a:xfrm>
        </p:grpSpPr>
        <p:sp>
          <p:nvSpPr>
            <p:cNvPr name="Freeform 27" id="27"/>
            <p:cNvSpPr/>
            <p:nvPr/>
          </p:nvSpPr>
          <p:spPr>
            <a:xfrm flipH="false" flipV="false" rot="0">
              <a:off x="0" y="0"/>
              <a:ext cx="3392278" cy="1198607"/>
            </a:xfrm>
            <a:custGeom>
              <a:avLst/>
              <a:gdLst/>
              <a:ahLst/>
              <a:cxnLst/>
              <a:rect r="r" b="b" t="t" l="l"/>
              <a:pathLst>
                <a:path h="1198607" w="3392278">
                  <a:moveTo>
                    <a:pt x="31857" y="0"/>
                  </a:moveTo>
                  <a:lnTo>
                    <a:pt x="3360421" y="0"/>
                  </a:lnTo>
                  <a:cubicBezTo>
                    <a:pt x="3368870" y="0"/>
                    <a:pt x="3376973" y="3356"/>
                    <a:pt x="3382947" y="9331"/>
                  </a:cubicBezTo>
                  <a:cubicBezTo>
                    <a:pt x="3388922" y="15305"/>
                    <a:pt x="3392278" y="23408"/>
                    <a:pt x="3392278" y="31857"/>
                  </a:cubicBezTo>
                  <a:lnTo>
                    <a:pt x="3392278" y="1166750"/>
                  </a:lnTo>
                  <a:cubicBezTo>
                    <a:pt x="3392278" y="1184344"/>
                    <a:pt x="3378015" y="1198607"/>
                    <a:pt x="3360421" y="1198607"/>
                  </a:cubicBezTo>
                  <a:lnTo>
                    <a:pt x="31857" y="1198607"/>
                  </a:lnTo>
                  <a:cubicBezTo>
                    <a:pt x="14263" y="1198607"/>
                    <a:pt x="0" y="1184344"/>
                    <a:pt x="0" y="1166750"/>
                  </a:cubicBezTo>
                  <a:lnTo>
                    <a:pt x="0" y="31857"/>
                  </a:lnTo>
                  <a:cubicBezTo>
                    <a:pt x="0" y="14263"/>
                    <a:pt x="14263" y="0"/>
                    <a:pt x="31857" y="0"/>
                  </a:cubicBezTo>
                  <a:close/>
                </a:path>
              </a:pathLst>
            </a:custGeom>
            <a:solidFill>
              <a:srgbClr val="FFFFFF"/>
            </a:solidFill>
          </p:spPr>
        </p:sp>
        <p:sp>
          <p:nvSpPr>
            <p:cNvPr name="TextBox 28" id="28"/>
            <p:cNvSpPr txBox="true"/>
            <p:nvPr/>
          </p:nvSpPr>
          <p:spPr>
            <a:xfrm>
              <a:off x="0" y="-57150"/>
              <a:ext cx="3392278" cy="1255757"/>
            </a:xfrm>
            <a:prstGeom prst="rect">
              <a:avLst/>
            </a:prstGeom>
          </p:spPr>
          <p:txBody>
            <a:bodyPr anchor="ctr" rtlCol="false" tIns="50800" lIns="50800" bIns="50800" rIns="50800"/>
            <a:lstStyle/>
            <a:p>
              <a:pPr algn="ctr" marL="0" indent="0" lvl="0">
                <a:lnSpc>
                  <a:spcPts val="3220"/>
                </a:lnSpc>
              </a:pPr>
            </a:p>
          </p:txBody>
        </p:sp>
      </p:grpSp>
      <p:sp>
        <p:nvSpPr>
          <p:cNvPr name="AutoShape 29" id="29"/>
          <p:cNvSpPr/>
          <p:nvPr/>
        </p:nvSpPr>
        <p:spPr>
          <a:xfrm flipV="true">
            <a:off x="7951248" y="3078134"/>
            <a:ext cx="12134633" cy="0"/>
          </a:xfrm>
          <a:prstGeom prst="line">
            <a:avLst/>
          </a:prstGeom>
          <a:ln cap="rnd" w="38100">
            <a:solidFill>
              <a:srgbClr val="014AAB"/>
            </a:solidFill>
            <a:prstDash val="solid"/>
            <a:headEnd type="none" len="sm" w="sm"/>
            <a:tailEnd type="none" len="sm" w="sm"/>
          </a:ln>
        </p:spPr>
      </p:sp>
      <p:grpSp>
        <p:nvGrpSpPr>
          <p:cNvPr name="Group 30" id="30"/>
          <p:cNvGrpSpPr/>
          <p:nvPr/>
        </p:nvGrpSpPr>
        <p:grpSpPr>
          <a:xfrm rot="0">
            <a:off x="14546107" y="9008976"/>
            <a:ext cx="2954069" cy="2765512"/>
            <a:chOff x="0" y="0"/>
            <a:chExt cx="596900" cy="558800"/>
          </a:xfrm>
        </p:grpSpPr>
        <p:sp>
          <p:nvSpPr>
            <p:cNvPr name="Freeform 31" id="31"/>
            <p:cNvSpPr/>
            <p:nvPr/>
          </p:nvSpPr>
          <p:spPr>
            <a:xfrm flipH="false" flipV="false" rot="0">
              <a:off x="0" y="0"/>
              <a:ext cx="596900" cy="558800"/>
            </a:xfrm>
            <a:custGeom>
              <a:avLst/>
              <a:gdLst/>
              <a:ahLst/>
              <a:cxnLst/>
              <a:rect r="r" b="b" t="t" l="l"/>
              <a:pathLst>
                <a:path h="558800" w="596900">
                  <a:moveTo>
                    <a:pt x="596900" y="30794"/>
                  </a:moveTo>
                  <a:lnTo>
                    <a:pt x="596900" y="274006"/>
                  </a:lnTo>
                  <a:cubicBezTo>
                    <a:pt x="596900" y="293670"/>
                    <a:pt x="588841" y="312476"/>
                    <a:pt x="574601" y="326037"/>
                  </a:cubicBezTo>
                  <a:lnTo>
                    <a:pt x="352499" y="537563"/>
                  </a:lnTo>
                  <a:cubicBezTo>
                    <a:pt x="338184" y="551196"/>
                    <a:pt x="319174" y="558800"/>
                    <a:pt x="299406" y="558800"/>
                  </a:cubicBezTo>
                  <a:lnTo>
                    <a:pt x="30794" y="558800"/>
                  </a:lnTo>
                  <a:cubicBezTo>
                    <a:pt x="13787" y="558800"/>
                    <a:pt x="0" y="545013"/>
                    <a:pt x="0" y="528006"/>
                  </a:cubicBezTo>
                  <a:lnTo>
                    <a:pt x="0" y="279714"/>
                  </a:lnTo>
                  <a:cubicBezTo>
                    <a:pt x="0" y="260056"/>
                    <a:pt x="8086" y="241263"/>
                    <a:pt x="22361" y="227748"/>
                  </a:cubicBezTo>
                  <a:lnTo>
                    <a:pt x="240529" y="21172"/>
                  </a:lnTo>
                  <a:cubicBezTo>
                    <a:pt x="254888" y="7577"/>
                    <a:pt x="273910" y="0"/>
                    <a:pt x="293684" y="0"/>
                  </a:cubicBezTo>
                  <a:lnTo>
                    <a:pt x="566106" y="0"/>
                  </a:lnTo>
                  <a:cubicBezTo>
                    <a:pt x="583113" y="0"/>
                    <a:pt x="596900" y="13787"/>
                    <a:pt x="596900" y="30794"/>
                  </a:cubicBezTo>
                  <a:close/>
                </a:path>
              </a:pathLst>
            </a:custGeom>
            <a:solidFill>
              <a:srgbClr val="8DABD2"/>
            </a:solidFill>
          </p:spPr>
        </p:sp>
        <p:sp>
          <p:nvSpPr>
            <p:cNvPr name="TextBox 32" id="32"/>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sp>
        <p:nvSpPr>
          <p:cNvPr name="Freeform 33" id="33"/>
          <p:cNvSpPr/>
          <p:nvPr/>
        </p:nvSpPr>
        <p:spPr>
          <a:xfrm flipH="false" flipV="false" rot="0">
            <a:off x="14372557" y="9685631"/>
            <a:ext cx="1211471" cy="200443"/>
          </a:xfrm>
          <a:custGeom>
            <a:avLst/>
            <a:gdLst/>
            <a:ahLst/>
            <a:cxnLst/>
            <a:rect r="r" b="b" t="t" l="l"/>
            <a:pathLst>
              <a:path h="200443" w="1211471">
                <a:moveTo>
                  <a:pt x="0" y="0"/>
                </a:moveTo>
                <a:lnTo>
                  <a:pt x="1211471" y="0"/>
                </a:lnTo>
                <a:lnTo>
                  <a:pt x="1211471" y="200444"/>
                </a:lnTo>
                <a:lnTo>
                  <a:pt x="0" y="2004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4" id="34"/>
          <p:cNvGrpSpPr/>
          <p:nvPr/>
        </p:nvGrpSpPr>
        <p:grpSpPr>
          <a:xfrm rot="-10800000">
            <a:off x="779460" y="-3002706"/>
            <a:ext cx="4863131" cy="4552719"/>
            <a:chOff x="0" y="0"/>
            <a:chExt cx="596900" cy="558800"/>
          </a:xfrm>
        </p:grpSpPr>
        <p:sp>
          <p:nvSpPr>
            <p:cNvPr name="Freeform 35" id="35"/>
            <p:cNvSpPr/>
            <p:nvPr/>
          </p:nvSpPr>
          <p:spPr>
            <a:xfrm flipH="false" flipV="false" rot="0">
              <a:off x="0" y="0"/>
              <a:ext cx="596900" cy="558800"/>
            </a:xfrm>
            <a:custGeom>
              <a:avLst/>
              <a:gdLst/>
              <a:ahLst/>
              <a:cxnLst/>
              <a:rect r="r" b="b" t="t" l="l"/>
              <a:pathLst>
                <a:path h="558800" w="596900">
                  <a:moveTo>
                    <a:pt x="596900" y="18706"/>
                  </a:moveTo>
                  <a:lnTo>
                    <a:pt x="596900" y="286094"/>
                  </a:lnTo>
                  <a:cubicBezTo>
                    <a:pt x="596900" y="298039"/>
                    <a:pt x="592004" y="309462"/>
                    <a:pt x="583355" y="317700"/>
                  </a:cubicBezTo>
                  <a:lnTo>
                    <a:pt x="343745" y="545900"/>
                  </a:lnTo>
                  <a:cubicBezTo>
                    <a:pt x="335050" y="554181"/>
                    <a:pt x="323502" y="558800"/>
                    <a:pt x="311494" y="558800"/>
                  </a:cubicBezTo>
                  <a:lnTo>
                    <a:pt x="18706" y="558800"/>
                  </a:lnTo>
                  <a:cubicBezTo>
                    <a:pt x="13745" y="558800"/>
                    <a:pt x="8987" y="556829"/>
                    <a:pt x="5479" y="553321"/>
                  </a:cubicBezTo>
                  <a:cubicBezTo>
                    <a:pt x="1971" y="549813"/>
                    <a:pt x="0" y="545055"/>
                    <a:pt x="0" y="540094"/>
                  </a:cubicBezTo>
                  <a:lnTo>
                    <a:pt x="0" y="267626"/>
                  </a:lnTo>
                  <a:cubicBezTo>
                    <a:pt x="0" y="255684"/>
                    <a:pt x="4912" y="244269"/>
                    <a:pt x="13583" y="236059"/>
                  </a:cubicBezTo>
                  <a:lnTo>
                    <a:pt x="249307" y="12861"/>
                  </a:lnTo>
                  <a:cubicBezTo>
                    <a:pt x="258029" y="4603"/>
                    <a:pt x="269584" y="0"/>
                    <a:pt x="281596" y="0"/>
                  </a:cubicBezTo>
                  <a:lnTo>
                    <a:pt x="578194" y="0"/>
                  </a:lnTo>
                  <a:cubicBezTo>
                    <a:pt x="583155" y="0"/>
                    <a:pt x="587913" y="1971"/>
                    <a:pt x="591421" y="5479"/>
                  </a:cubicBezTo>
                  <a:cubicBezTo>
                    <a:pt x="594929" y="8987"/>
                    <a:pt x="596900" y="13745"/>
                    <a:pt x="596900" y="18706"/>
                  </a:cubicBezTo>
                  <a:close/>
                </a:path>
              </a:pathLst>
            </a:custGeom>
            <a:ln w="85725" cap="sq">
              <a:solidFill>
                <a:srgbClr val="014AAB"/>
              </a:solidFill>
              <a:prstDash val="solid"/>
              <a:miter/>
            </a:ln>
          </p:spPr>
        </p:sp>
        <p:sp>
          <p:nvSpPr>
            <p:cNvPr name="TextBox 36" id="36"/>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37" id="37"/>
          <p:cNvGrpSpPr/>
          <p:nvPr/>
        </p:nvGrpSpPr>
        <p:grpSpPr>
          <a:xfrm rot="-10800000">
            <a:off x="1174301" y="-2633068"/>
            <a:ext cx="4073450" cy="3813443"/>
            <a:chOff x="0" y="0"/>
            <a:chExt cx="596900" cy="558800"/>
          </a:xfrm>
        </p:grpSpPr>
        <p:sp>
          <p:nvSpPr>
            <p:cNvPr name="Freeform 38" id="38"/>
            <p:cNvSpPr/>
            <p:nvPr/>
          </p:nvSpPr>
          <p:spPr>
            <a:xfrm flipH="false" flipV="false" rot="0">
              <a:off x="0" y="0"/>
              <a:ext cx="596900" cy="558800"/>
            </a:xfrm>
            <a:custGeom>
              <a:avLst/>
              <a:gdLst/>
              <a:ahLst/>
              <a:cxnLst/>
              <a:rect r="r" b="b" t="t" l="l"/>
              <a:pathLst>
                <a:path h="558800" w="596900">
                  <a:moveTo>
                    <a:pt x="596900" y="22332"/>
                  </a:moveTo>
                  <a:lnTo>
                    <a:pt x="596900" y="282468"/>
                  </a:lnTo>
                  <a:cubicBezTo>
                    <a:pt x="596900" y="296729"/>
                    <a:pt x="591055" y="310366"/>
                    <a:pt x="580729" y="320201"/>
                  </a:cubicBezTo>
                  <a:lnTo>
                    <a:pt x="346371" y="543399"/>
                  </a:lnTo>
                  <a:cubicBezTo>
                    <a:pt x="335990" y="553285"/>
                    <a:pt x="322204" y="558800"/>
                    <a:pt x="307868" y="558800"/>
                  </a:cubicBezTo>
                  <a:lnTo>
                    <a:pt x="22332" y="558800"/>
                  </a:lnTo>
                  <a:cubicBezTo>
                    <a:pt x="16409" y="558800"/>
                    <a:pt x="10729" y="556447"/>
                    <a:pt x="6541" y="552259"/>
                  </a:cubicBezTo>
                  <a:cubicBezTo>
                    <a:pt x="2353" y="548071"/>
                    <a:pt x="0" y="542391"/>
                    <a:pt x="0" y="536468"/>
                  </a:cubicBezTo>
                  <a:lnTo>
                    <a:pt x="0" y="271252"/>
                  </a:lnTo>
                  <a:cubicBezTo>
                    <a:pt x="0" y="256996"/>
                    <a:pt x="5864" y="243367"/>
                    <a:pt x="16216" y="233566"/>
                  </a:cubicBezTo>
                  <a:lnTo>
                    <a:pt x="246674" y="15354"/>
                  </a:lnTo>
                  <a:cubicBezTo>
                    <a:pt x="257087" y="5495"/>
                    <a:pt x="270882" y="0"/>
                    <a:pt x="285222" y="0"/>
                  </a:cubicBezTo>
                  <a:lnTo>
                    <a:pt x="574568" y="0"/>
                  </a:lnTo>
                  <a:cubicBezTo>
                    <a:pt x="580491" y="0"/>
                    <a:pt x="586171" y="2353"/>
                    <a:pt x="590359" y="6541"/>
                  </a:cubicBezTo>
                  <a:cubicBezTo>
                    <a:pt x="594547" y="10729"/>
                    <a:pt x="596900" y="16409"/>
                    <a:pt x="596900" y="22332"/>
                  </a:cubicBezTo>
                  <a:close/>
                </a:path>
              </a:pathLst>
            </a:custGeom>
            <a:solidFill>
              <a:srgbClr val="8DABD2"/>
            </a:solidFill>
          </p:spPr>
        </p:sp>
        <p:sp>
          <p:nvSpPr>
            <p:cNvPr name="TextBox 39" id="39"/>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40" id="40"/>
          <p:cNvGrpSpPr/>
          <p:nvPr/>
        </p:nvGrpSpPr>
        <p:grpSpPr>
          <a:xfrm rot="0">
            <a:off x="-1338322" y="845118"/>
            <a:ext cx="4235564" cy="935169"/>
            <a:chOff x="0" y="0"/>
            <a:chExt cx="1115539" cy="246300"/>
          </a:xfrm>
        </p:grpSpPr>
        <p:sp>
          <p:nvSpPr>
            <p:cNvPr name="Freeform 41" id="41"/>
            <p:cNvSpPr/>
            <p:nvPr/>
          </p:nvSpPr>
          <p:spPr>
            <a:xfrm flipH="false" flipV="false" rot="0">
              <a:off x="0" y="0"/>
              <a:ext cx="1115539" cy="246300"/>
            </a:xfrm>
            <a:custGeom>
              <a:avLst/>
              <a:gdLst/>
              <a:ahLst/>
              <a:cxnLst/>
              <a:rect r="r" b="b" t="t" l="l"/>
              <a:pathLst>
                <a:path h="246300" w="1115539">
                  <a:moveTo>
                    <a:pt x="63974" y="0"/>
                  </a:moveTo>
                  <a:lnTo>
                    <a:pt x="1051565" y="0"/>
                  </a:lnTo>
                  <a:cubicBezTo>
                    <a:pt x="1086897" y="0"/>
                    <a:pt x="1115539" y="28642"/>
                    <a:pt x="1115539" y="63974"/>
                  </a:cubicBezTo>
                  <a:lnTo>
                    <a:pt x="1115539" y="182325"/>
                  </a:lnTo>
                  <a:cubicBezTo>
                    <a:pt x="1115539" y="217657"/>
                    <a:pt x="1086897" y="246300"/>
                    <a:pt x="1051565" y="246300"/>
                  </a:cubicBezTo>
                  <a:lnTo>
                    <a:pt x="63974" y="246300"/>
                  </a:lnTo>
                  <a:cubicBezTo>
                    <a:pt x="28642" y="246300"/>
                    <a:pt x="0" y="217657"/>
                    <a:pt x="0" y="182325"/>
                  </a:cubicBezTo>
                  <a:lnTo>
                    <a:pt x="0" y="63974"/>
                  </a:lnTo>
                  <a:cubicBezTo>
                    <a:pt x="0" y="28642"/>
                    <a:pt x="28642" y="0"/>
                    <a:pt x="63974" y="0"/>
                  </a:cubicBezTo>
                  <a:close/>
                </a:path>
              </a:pathLst>
            </a:custGeom>
            <a:solidFill>
              <a:srgbClr val="FFFFFF"/>
            </a:solidFill>
          </p:spPr>
        </p:sp>
        <p:sp>
          <p:nvSpPr>
            <p:cNvPr name="TextBox 42" id="42"/>
            <p:cNvSpPr txBox="true"/>
            <p:nvPr/>
          </p:nvSpPr>
          <p:spPr>
            <a:xfrm>
              <a:off x="0" y="-57150"/>
              <a:ext cx="1115539" cy="303450"/>
            </a:xfrm>
            <a:prstGeom prst="rect">
              <a:avLst/>
            </a:prstGeom>
          </p:spPr>
          <p:txBody>
            <a:bodyPr anchor="ctr" rtlCol="false" tIns="50800" lIns="50800" bIns="50800" rIns="50800"/>
            <a:lstStyle/>
            <a:p>
              <a:pPr algn="ctr" marL="0" indent="0" lvl="0">
                <a:lnSpc>
                  <a:spcPts val="3220"/>
                </a:lnSpc>
              </a:pPr>
            </a:p>
          </p:txBody>
        </p:sp>
      </p:grpSp>
      <p:sp>
        <p:nvSpPr>
          <p:cNvPr name="Freeform 43" id="43"/>
          <p:cNvSpPr/>
          <p:nvPr/>
        </p:nvSpPr>
        <p:spPr>
          <a:xfrm flipH="false" flipV="false" rot="0">
            <a:off x="568565" y="1680065"/>
            <a:ext cx="1211471" cy="200443"/>
          </a:xfrm>
          <a:custGeom>
            <a:avLst/>
            <a:gdLst/>
            <a:ahLst/>
            <a:cxnLst/>
            <a:rect r="r" b="b" t="t" l="l"/>
            <a:pathLst>
              <a:path h="200443" w="1211471">
                <a:moveTo>
                  <a:pt x="0" y="0"/>
                </a:moveTo>
                <a:lnTo>
                  <a:pt x="1211471" y="0"/>
                </a:lnTo>
                <a:lnTo>
                  <a:pt x="1211471" y="200444"/>
                </a:lnTo>
                <a:lnTo>
                  <a:pt x="0" y="2004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4" id="44"/>
          <p:cNvSpPr/>
          <p:nvPr/>
        </p:nvSpPr>
        <p:spPr>
          <a:xfrm flipH="true" flipV="true" rot="0">
            <a:off x="402289" y="8450265"/>
            <a:ext cx="1248992" cy="1235367"/>
          </a:xfrm>
          <a:custGeom>
            <a:avLst/>
            <a:gdLst/>
            <a:ahLst/>
            <a:cxnLst/>
            <a:rect r="r" b="b" t="t" l="l"/>
            <a:pathLst>
              <a:path h="1235367" w="1248992">
                <a:moveTo>
                  <a:pt x="1248992" y="1235366"/>
                </a:moveTo>
                <a:lnTo>
                  <a:pt x="0" y="1235366"/>
                </a:lnTo>
                <a:lnTo>
                  <a:pt x="0" y="0"/>
                </a:lnTo>
                <a:lnTo>
                  <a:pt x="1248992" y="0"/>
                </a:lnTo>
                <a:lnTo>
                  <a:pt x="1248992" y="123536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45" id="45"/>
          <p:cNvSpPr/>
          <p:nvPr/>
        </p:nvSpPr>
        <p:spPr>
          <a:xfrm flipH="false" flipV="false" rot="0">
            <a:off x="16130060" y="845118"/>
            <a:ext cx="1370117" cy="1355170"/>
          </a:xfrm>
          <a:custGeom>
            <a:avLst/>
            <a:gdLst/>
            <a:ahLst/>
            <a:cxnLst/>
            <a:rect r="r" b="b" t="t" l="l"/>
            <a:pathLst>
              <a:path h="1355170" w="1370117">
                <a:moveTo>
                  <a:pt x="0" y="0"/>
                </a:moveTo>
                <a:lnTo>
                  <a:pt x="1370117" y="0"/>
                </a:lnTo>
                <a:lnTo>
                  <a:pt x="1370117" y="1355171"/>
                </a:lnTo>
                <a:lnTo>
                  <a:pt x="0" y="135517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46" id="46"/>
          <p:cNvSpPr/>
          <p:nvPr/>
        </p:nvSpPr>
        <p:spPr>
          <a:xfrm flipH="false" flipV="false" rot="0">
            <a:off x="2903334" y="3728758"/>
            <a:ext cx="615726" cy="615726"/>
          </a:xfrm>
          <a:custGeom>
            <a:avLst/>
            <a:gdLst/>
            <a:ahLst/>
            <a:cxnLst/>
            <a:rect r="r" b="b" t="t" l="l"/>
            <a:pathLst>
              <a:path h="615726" w="615726">
                <a:moveTo>
                  <a:pt x="0" y="0"/>
                </a:moveTo>
                <a:lnTo>
                  <a:pt x="615726" y="0"/>
                </a:lnTo>
                <a:lnTo>
                  <a:pt x="615726" y="615726"/>
                </a:lnTo>
                <a:lnTo>
                  <a:pt x="0" y="615726"/>
                </a:lnTo>
                <a:lnTo>
                  <a:pt x="0" y="0"/>
                </a:lnTo>
                <a:close/>
              </a:path>
            </a:pathLst>
          </a:custGeom>
          <a:blipFill>
            <a:blip r:embed="rId10"/>
            <a:stretch>
              <a:fillRect l="0" t="0" r="0" b="0"/>
            </a:stretch>
          </a:blipFill>
        </p:spPr>
      </p:sp>
      <p:sp>
        <p:nvSpPr>
          <p:cNvPr name="Freeform 47" id="47"/>
          <p:cNvSpPr/>
          <p:nvPr/>
        </p:nvSpPr>
        <p:spPr>
          <a:xfrm flipH="false" flipV="false" rot="0">
            <a:off x="10393317" y="3629389"/>
            <a:ext cx="904024" cy="801857"/>
          </a:xfrm>
          <a:custGeom>
            <a:avLst/>
            <a:gdLst/>
            <a:ahLst/>
            <a:cxnLst/>
            <a:rect r="r" b="b" t="t" l="l"/>
            <a:pathLst>
              <a:path h="801857" w="904024">
                <a:moveTo>
                  <a:pt x="0" y="0"/>
                </a:moveTo>
                <a:lnTo>
                  <a:pt x="904025" y="0"/>
                </a:lnTo>
                <a:lnTo>
                  <a:pt x="904025" y="801857"/>
                </a:lnTo>
                <a:lnTo>
                  <a:pt x="0" y="801857"/>
                </a:lnTo>
                <a:lnTo>
                  <a:pt x="0" y="0"/>
                </a:lnTo>
                <a:close/>
              </a:path>
            </a:pathLst>
          </a:custGeom>
          <a:blipFill>
            <a:blip r:embed="rId11"/>
            <a:stretch>
              <a:fillRect l="0" t="0" r="0" b="0"/>
            </a:stretch>
          </a:blipFill>
        </p:spPr>
      </p:sp>
      <p:sp>
        <p:nvSpPr>
          <p:cNvPr name="TextBox 48" id="48"/>
          <p:cNvSpPr txBox="true"/>
          <p:nvPr/>
        </p:nvSpPr>
        <p:spPr>
          <a:xfrm rot="0">
            <a:off x="3031672" y="1950267"/>
            <a:ext cx="12224655" cy="752103"/>
          </a:xfrm>
          <a:prstGeom prst="rect">
            <a:avLst/>
          </a:prstGeom>
        </p:spPr>
        <p:txBody>
          <a:bodyPr anchor="t" rtlCol="false" tIns="0" lIns="0" bIns="0" rIns="0">
            <a:spAutoFit/>
          </a:bodyPr>
          <a:lstStyle/>
          <a:p>
            <a:pPr algn="ctr" marL="0" indent="0" lvl="0">
              <a:lnSpc>
                <a:spcPts val="5610"/>
              </a:lnSpc>
            </a:pPr>
            <a:r>
              <a:rPr lang="en-US" b="true" sz="5610" spc="112">
                <a:solidFill>
                  <a:srgbClr val="011A3C"/>
                </a:solidFill>
                <a:latin typeface="Gotham Bold"/>
                <a:ea typeface="Gotham Bold"/>
                <a:cs typeface="Gotham Bold"/>
                <a:sym typeface="Gotham Bold"/>
              </a:rPr>
              <a:t>Componentes Técnicos (Parte 2)</a:t>
            </a:r>
          </a:p>
        </p:txBody>
      </p:sp>
      <p:sp>
        <p:nvSpPr>
          <p:cNvPr name="TextBox 49" id="49"/>
          <p:cNvSpPr txBox="true"/>
          <p:nvPr/>
        </p:nvSpPr>
        <p:spPr>
          <a:xfrm rot="0">
            <a:off x="3991615" y="3801382"/>
            <a:ext cx="3723907" cy="414539"/>
          </a:xfrm>
          <a:prstGeom prst="rect">
            <a:avLst/>
          </a:prstGeom>
        </p:spPr>
        <p:txBody>
          <a:bodyPr anchor="t" rtlCol="false" tIns="0" lIns="0" bIns="0" rIns="0">
            <a:spAutoFit/>
          </a:bodyPr>
          <a:lstStyle/>
          <a:p>
            <a:pPr algn="l" marL="0" indent="0" lvl="0">
              <a:lnSpc>
                <a:spcPts val="3401"/>
              </a:lnSpc>
            </a:pPr>
            <a:r>
              <a:rPr lang="en-US" b="true" sz="2429">
                <a:solidFill>
                  <a:srgbClr val="011A3C"/>
                </a:solidFill>
                <a:latin typeface="Nunito Semi-Bold"/>
                <a:ea typeface="Nunito Semi-Bold"/>
                <a:cs typeface="Nunito Semi-Bold"/>
                <a:sym typeface="Nunito Semi-Bold"/>
              </a:rPr>
              <a:t>Módulo Relé y Actuadores</a:t>
            </a:r>
          </a:p>
        </p:txBody>
      </p:sp>
      <p:sp>
        <p:nvSpPr>
          <p:cNvPr name="TextBox 50" id="50"/>
          <p:cNvSpPr txBox="true"/>
          <p:nvPr/>
        </p:nvSpPr>
        <p:spPr>
          <a:xfrm rot="0">
            <a:off x="11624395" y="3801382"/>
            <a:ext cx="3723907" cy="414539"/>
          </a:xfrm>
          <a:prstGeom prst="rect">
            <a:avLst/>
          </a:prstGeom>
        </p:spPr>
        <p:txBody>
          <a:bodyPr anchor="t" rtlCol="false" tIns="0" lIns="0" bIns="0" rIns="0">
            <a:spAutoFit/>
          </a:bodyPr>
          <a:lstStyle/>
          <a:p>
            <a:pPr algn="l" marL="0" indent="0" lvl="0">
              <a:lnSpc>
                <a:spcPts val="3401"/>
              </a:lnSpc>
            </a:pPr>
            <a:r>
              <a:rPr lang="en-US" b="true" sz="2429">
                <a:solidFill>
                  <a:srgbClr val="011A3C"/>
                </a:solidFill>
                <a:latin typeface="Nunito Semi-Bold"/>
                <a:ea typeface="Nunito Semi-Bold"/>
                <a:cs typeface="Nunito Semi-Bold"/>
                <a:sym typeface="Nunito Semi-Bold"/>
              </a:rPr>
              <a:t>Divisor de Tensión</a:t>
            </a:r>
          </a:p>
        </p:txBody>
      </p:sp>
      <p:sp>
        <p:nvSpPr>
          <p:cNvPr name="TextBox 51" id="51"/>
          <p:cNvSpPr txBox="true"/>
          <p:nvPr/>
        </p:nvSpPr>
        <p:spPr>
          <a:xfrm rot="0">
            <a:off x="7661505" y="894948"/>
            <a:ext cx="2964990" cy="558820"/>
          </a:xfrm>
          <a:prstGeom prst="rect">
            <a:avLst/>
          </a:prstGeom>
        </p:spPr>
        <p:txBody>
          <a:bodyPr anchor="t" rtlCol="false" tIns="0" lIns="0" bIns="0" rIns="0">
            <a:spAutoFit/>
          </a:bodyPr>
          <a:lstStyle/>
          <a:p>
            <a:pPr algn="ctr" marL="0" indent="0" lvl="0">
              <a:lnSpc>
                <a:spcPts val="2273"/>
              </a:lnSpc>
            </a:pPr>
            <a:r>
              <a:rPr lang="en-US" sz="1624">
                <a:solidFill>
                  <a:srgbClr val="011A3C"/>
                </a:solidFill>
                <a:latin typeface="Nunito"/>
                <a:ea typeface="Nunito"/>
                <a:cs typeface="Nunito"/>
                <a:sym typeface="Nunito"/>
              </a:rPr>
              <a:t>Sistema de Riego Automatizado — Arduino &amp; Bluetooth</a:t>
            </a:r>
          </a:p>
        </p:txBody>
      </p:sp>
      <p:sp>
        <p:nvSpPr>
          <p:cNvPr name="TextBox 52" id="52"/>
          <p:cNvSpPr txBox="true"/>
          <p:nvPr/>
        </p:nvSpPr>
        <p:spPr>
          <a:xfrm rot="0">
            <a:off x="2703972" y="4943418"/>
            <a:ext cx="5419181" cy="714375"/>
          </a:xfrm>
          <a:prstGeom prst="rect">
            <a:avLst/>
          </a:prstGeom>
        </p:spPr>
        <p:txBody>
          <a:bodyPr anchor="t" rtlCol="false" tIns="0" lIns="0" bIns="0" rIns="0">
            <a:spAutoFit/>
          </a:bodyPr>
          <a:lstStyle/>
          <a:p>
            <a:pPr algn="l" marL="0" indent="0" lvl="0">
              <a:lnSpc>
                <a:spcPts val="1949"/>
              </a:lnSpc>
            </a:pPr>
            <a:r>
              <a:rPr lang="en-US" sz="1624">
                <a:solidFill>
                  <a:srgbClr val="011A3C"/>
                </a:solidFill>
                <a:latin typeface="Nunito"/>
                <a:ea typeface="Nunito"/>
                <a:cs typeface="Nunito"/>
                <a:sym typeface="Nunito"/>
              </a:rPr>
              <a:t>Módulo relé 5V para control de la bomba DC, alimentada con batería 9V. Garantiza aislamiento galvánico entre el circuito de control (Arduino) y el circuito de potencia.</a:t>
            </a:r>
          </a:p>
        </p:txBody>
      </p:sp>
      <p:sp>
        <p:nvSpPr>
          <p:cNvPr name="TextBox 53" id="53"/>
          <p:cNvSpPr txBox="true"/>
          <p:nvPr/>
        </p:nvSpPr>
        <p:spPr>
          <a:xfrm rot="0">
            <a:off x="10336752" y="4943418"/>
            <a:ext cx="5419181" cy="714375"/>
          </a:xfrm>
          <a:prstGeom prst="rect">
            <a:avLst/>
          </a:prstGeom>
        </p:spPr>
        <p:txBody>
          <a:bodyPr anchor="t" rtlCol="false" tIns="0" lIns="0" bIns="0" rIns="0">
            <a:spAutoFit/>
          </a:bodyPr>
          <a:lstStyle/>
          <a:p>
            <a:pPr algn="l" marL="0" indent="0" lvl="0">
              <a:lnSpc>
                <a:spcPts val="1949"/>
              </a:lnSpc>
            </a:pPr>
            <a:r>
              <a:rPr lang="en-US" sz="1624">
                <a:solidFill>
                  <a:srgbClr val="011A3C"/>
                </a:solidFill>
                <a:latin typeface="Nunito"/>
                <a:ea typeface="Nunito"/>
                <a:cs typeface="Nunito"/>
                <a:sym typeface="Nunito"/>
              </a:rPr>
              <a:t>Divisor resistivo con R1=1kΩ y R2=2kΩ para adaptar la señal de 5V del Arduino a 3.3V en el pin RXD del módulo HC-05, evitando daños al receptor Bluetooth.</a:t>
            </a:r>
          </a:p>
        </p:txBody>
      </p:sp>
      <p:sp>
        <p:nvSpPr>
          <p:cNvPr name="TextBox 54" id="54"/>
          <p:cNvSpPr txBox="true"/>
          <p:nvPr/>
        </p:nvSpPr>
        <p:spPr>
          <a:xfrm rot="0">
            <a:off x="2703972" y="6270289"/>
            <a:ext cx="5419181" cy="476250"/>
          </a:xfrm>
          <a:prstGeom prst="rect">
            <a:avLst/>
          </a:prstGeom>
        </p:spPr>
        <p:txBody>
          <a:bodyPr anchor="t" rtlCol="false" tIns="0" lIns="0" bIns="0" rIns="0">
            <a:spAutoFit/>
          </a:bodyPr>
          <a:lstStyle/>
          <a:p>
            <a:pPr algn="l" marL="0" indent="0" lvl="0">
              <a:lnSpc>
                <a:spcPts val="1949"/>
              </a:lnSpc>
            </a:pPr>
            <a:r>
              <a:rPr lang="en-US" sz="1624">
                <a:solidFill>
                  <a:srgbClr val="011A3C"/>
                </a:solidFill>
                <a:latin typeface="Nunito"/>
                <a:ea typeface="Nunito"/>
                <a:cs typeface="Nunito"/>
                <a:sym typeface="Nunito"/>
              </a:rPr>
              <a:t>Bomba DC activada por relé con señal digital desde pin Arduino.</a:t>
            </a:r>
          </a:p>
        </p:txBody>
      </p:sp>
      <p:sp>
        <p:nvSpPr>
          <p:cNvPr name="TextBox 55" id="55"/>
          <p:cNvSpPr txBox="true"/>
          <p:nvPr/>
        </p:nvSpPr>
        <p:spPr>
          <a:xfrm rot="0">
            <a:off x="10336752" y="6270289"/>
            <a:ext cx="5419181" cy="238125"/>
          </a:xfrm>
          <a:prstGeom prst="rect">
            <a:avLst/>
          </a:prstGeom>
        </p:spPr>
        <p:txBody>
          <a:bodyPr anchor="t" rtlCol="false" tIns="0" lIns="0" bIns="0" rIns="0">
            <a:spAutoFit/>
          </a:bodyPr>
          <a:lstStyle/>
          <a:p>
            <a:pPr algn="l" marL="0" indent="0" lvl="0">
              <a:lnSpc>
                <a:spcPts val="1949"/>
              </a:lnSpc>
            </a:pPr>
            <a:r>
              <a:rPr lang="en-US" sz="1624">
                <a:solidFill>
                  <a:srgbClr val="011A3C"/>
                </a:solidFill>
                <a:latin typeface="Nunito"/>
                <a:ea typeface="Nunito"/>
                <a:cs typeface="Nunito"/>
                <a:sym typeface="Nunito"/>
              </a:rPr>
              <a:t>Vout = Vin × R2 / (R1 + R2) = 5V × 2kΩ / 3kΩ ≈ 3.33V</a:t>
            </a:r>
          </a:p>
        </p:txBody>
      </p:sp>
      <p:sp>
        <p:nvSpPr>
          <p:cNvPr name="TextBox 56" id="56"/>
          <p:cNvSpPr txBox="true"/>
          <p:nvPr/>
        </p:nvSpPr>
        <p:spPr>
          <a:xfrm rot="0">
            <a:off x="2703972" y="7148743"/>
            <a:ext cx="5419181" cy="476250"/>
          </a:xfrm>
          <a:prstGeom prst="rect">
            <a:avLst/>
          </a:prstGeom>
        </p:spPr>
        <p:txBody>
          <a:bodyPr anchor="t" rtlCol="false" tIns="0" lIns="0" bIns="0" rIns="0">
            <a:spAutoFit/>
          </a:bodyPr>
          <a:lstStyle/>
          <a:p>
            <a:pPr algn="l" marL="0" indent="0" lvl="0">
              <a:lnSpc>
                <a:spcPts val="1949"/>
              </a:lnSpc>
            </a:pPr>
            <a:r>
              <a:rPr lang="en-US" sz="1624">
                <a:solidFill>
                  <a:srgbClr val="011A3C"/>
                </a:solidFill>
                <a:latin typeface="Nunito"/>
                <a:ea typeface="Nunito"/>
                <a:cs typeface="Nunito"/>
                <a:sym typeface="Nunito"/>
              </a:rPr>
              <a:t>Aislamiento galvánico: separa físicamente el control lógico de la carga de potencia.</a:t>
            </a:r>
          </a:p>
        </p:txBody>
      </p:sp>
      <p:sp>
        <p:nvSpPr>
          <p:cNvPr name="TextBox 57" id="57"/>
          <p:cNvSpPr txBox="true"/>
          <p:nvPr/>
        </p:nvSpPr>
        <p:spPr>
          <a:xfrm rot="0">
            <a:off x="10336752" y="7148743"/>
            <a:ext cx="5419181" cy="476250"/>
          </a:xfrm>
          <a:prstGeom prst="rect">
            <a:avLst/>
          </a:prstGeom>
        </p:spPr>
        <p:txBody>
          <a:bodyPr anchor="t" rtlCol="false" tIns="0" lIns="0" bIns="0" rIns="0">
            <a:spAutoFit/>
          </a:bodyPr>
          <a:lstStyle/>
          <a:p>
            <a:pPr algn="l" marL="0" indent="0" lvl="0">
              <a:lnSpc>
                <a:spcPts val="1949"/>
              </a:lnSpc>
            </a:pPr>
            <a:r>
              <a:rPr lang="en-US" sz="1624">
                <a:solidFill>
                  <a:srgbClr val="011A3C"/>
                </a:solidFill>
                <a:latin typeface="Nunito"/>
                <a:ea typeface="Nunito"/>
                <a:cs typeface="Nunito"/>
                <a:sym typeface="Nunito"/>
              </a:rPr>
              <a:t>Protección RXD del HC-05 garantizada con tolerancia de ±0.1V en condiciones normales.</a:t>
            </a:r>
          </a:p>
        </p:txBody>
      </p:sp>
      <p:sp>
        <p:nvSpPr>
          <p:cNvPr name="TextBox 58" id="58"/>
          <p:cNvSpPr txBox="true"/>
          <p:nvPr/>
        </p:nvSpPr>
        <p:spPr>
          <a:xfrm rot="0">
            <a:off x="2703972" y="8024968"/>
            <a:ext cx="5419181" cy="476250"/>
          </a:xfrm>
          <a:prstGeom prst="rect">
            <a:avLst/>
          </a:prstGeom>
        </p:spPr>
        <p:txBody>
          <a:bodyPr anchor="t" rtlCol="false" tIns="0" lIns="0" bIns="0" rIns="0">
            <a:spAutoFit/>
          </a:bodyPr>
          <a:lstStyle/>
          <a:p>
            <a:pPr algn="l" marL="0" indent="0" lvl="0">
              <a:lnSpc>
                <a:spcPts val="1949"/>
              </a:lnSpc>
            </a:pPr>
            <a:r>
              <a:rPr lang="en-US" sz="1624">
                <a:solidFill>
                  <a:srgbClr val="011A3C"/>
                </a:solidFill>
                <a:latin typeface="Nunito"/>
                <a:ea typeface="Nunito"/>
                <a:cs typeface="Nunito"/>
                <a:sym typeface="Nunito"/>
              </a:rPr>
              <a:t>Batería 9V independiente asegura operación estable de la bomba sin afectar la lógica.</a:t>
            </a:r>
          </a:p>
        </p:txBody>
      </p:sp>
      <p:sp>
        <p:nvSpPr>
          <p:cNvPr name="TextBox 59" id="59"/>
          <p:cNvSpPr txBox="true"/>
          <p:nvPr/>
        </p:nvSpPr>
        <p:spPr>
          <a:xfrm rot="0">
            <a:off x="10336752" y="8024968"/>
            <a:ext cx="5419181" cy="476250"/>
          </a:xfrm>
          <a:prstGeom prst="rect">
            <a:avLst/>
          </a:prstGeom>
        </p:spPr>
        <p:txBody>
          <a:bodyPr anchor="t" rtlCol="false" tIns="0" lIns="0" bIns="0" rIns="0">
            <a:spAutoFit/>
          </a:bodyPr>
          <a:lstStyle/>
          <a:p>
            <a:pPr algn="l" marL="0" indent="0" lvl="0">
              <a:lnSpc>
                <a:spcPts val="1949"/>
              </a:lnSpc>
            </a:pPr>
            <a:r>
              <a:rPr lang="en-US" sz="1624">
                <a:solidFill>
                  <a:srgbClr val="011A3C"/>
                </a:solidFill>
                <a:latin typeface="Nunito"/>
                <a:ea typeface="Nunito"/>
                <a:cs typeface="Nunito"/>
                <a:sym typeface="Nunito"/>
              </a:rPr>
              <a:t>Esquema validado experimentalmente: señal estable medida en pin RXD durante pruebas.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14372557" y="-522625"/>
            <a:ext cx="5586552" cy="5229964"/>
            <a:chOff x="0" y="0"/>
            <a:chExt cx="596900" cy="558800"/>
          </a:xfrm>
        </p:grpSpPr>
        <p:sp>
          <p:nvSpPr>
            <p:cNvPr name="Freeform 3" id="3"/>
            <p:cNvSpPr/>
            <p:nvPr/>
          </p:nvSpPr>
          <p:spPr>
            <a:xfrm flipH="false" flipV="false" rot="0">
              <a:off x="0" y="0"/>
              <a:ext cx="596900" cy="558800"/>
            </a:xfrm>
            <a:custGeom>
              <a:avLst/>
              <a:gdLst/>
              <a:ahLst/>
              <a:cxnLst/>
              <a:rect r="r" b="b" t="t" l="l"/>
              <a:pathLst>
                <a:path h="558800" w="596900">
                  <a:moveTo>
                    <a:pt x="596900" y="16283"/>
                  </a:moveTo>
                  <a:lnTo>
                    <a:pt x="596900" y="288517"/>
                  </a:lnTo>
                  <a:cubicBezTo>
                    <a:pt x="596900" y="298915"/>
                    <a:pt x="592638" y="308859"/>
                    <a:pt x="585109" y="316030"/>
                  </a:cubicBezTo>
                  <a:lnTo>
                    <a:pt x="341991" y="547570"/>
                  </a:lnTo>
                  <a:cubicBezTo>
                    <a:pt x="334422" y="554779"/>
                    <a:pt x="324370" y="558800"/>
                    <a:pt x="313917" y="558800"/>
                  </a:cubicBezTo>
                  <a:lnTo>
                    <a:pt x="16283" y="558800"/>
                  </a:lnTo>
                  <a:cubicBezTo>
                    <a:pt x="7290" y="558800"/>
                    <a:pt x="0" y="551510"/>
                    <a:pt x="0" y="542517"/>
                  </a:cubicBezTo>
                  <a:lnTo>
                    <a:pt x="0" y="265203"/>
                  </a:lnTo>
                  <a:cubicBezTo>
                    <a:pt x="0" y="254809"/>
                    <a:pt x="4276" y="244871"/>
                    <a:pt x="11824" y="237724"/>
                  </a:cubicBezTo>
                  <a:lnTo>
                    <a:pt x="251066" y="11196"/>
                  </a:lnTo>
                  <a:cubicBezTo>
                    <a:pt x="258659" y="4007"/>
                    <a:pt x="268717" y="0"/>
                    <a:pt x="279173" y="0"/>
                  </a:cubicBezTo>
                  <a:lnTo>
                    <a:pt x="580617" y="0"/>
                  </a:lnTo>
                  <a:cubicBezTo>
                    <a:pt x="589610" y="0"/>
                    <a:pt x="596900" y="7290"/>
                    <a:pt x="596900" y="16283"/>
                  </a:cubicBezTo>
                  <a:close/>
                </a:path>
              </a:pathLst>
            </a:custGeom>
            <a:solidFill>
              <a:srgbClr val="014AAB">
                <a:alpha val="5882"/>
              </a:srgbClr>
            </a:solidFill>
          </p:spPr>
        </p:sp>
        <p:sp>
          <p:nvSpPr>
            <p:cNvPr name="TextBox 4" id="4"/>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5" id="5"/>
          <p:cNvGrpSpPr/>
          <p:nvPr/>
        </p:nvGrpSpPr>
        <p:grpSpPr>
          <a:xfrm rot="-10800000">
            <a:off x="16832257" y="4400004"/>
            <a:ext cx="3358368" cy="3144004"/>
            <a:chOff x="0" y="0"/>
            <a:chExt cx="596900" cy="558800"/>
          </a:xfrm>
        </p:grpSpPr>
        <p:sp>
          <p:nvSpPr>
            <p:cNvPr name="Freeform 6" id="6"/>
            <p:cNvSpPr/>
            <p:nvPr/>
          </p:nvSpPr>
          <p:spPr>
            <a:xfrm flipH="false" flipV="false" rot="0">
              <a:off x="0" y="0"/>
              <a:ext cx="596900" cy="558800"/>
            </a:xfrm>
            <a:custGeom>
              <a:avLst/>
              <a:gdLst/>
              <a:ahLst/>
              <a:cxnLst/>
              <a:rect r="r" b="b" t="t" l="l"/>
              <a:pathLst>
                <a:path h="558800" w="596900">
                  <a:moveTo>
                    <a:pt x="596900" y="27087"/>
                  </a:moveTo>
                  <a:lnTo>
                    <a:pt x="596900" y="277713"/>
                  </a:lnTo>
                  <a:cubicBezTo>
                    <a:pt x="596900" y="295010"/>
                    <a:pt x="589811" y="311552"/>
                    <a:pt x="577285" y="323481"/>
                  </a:cubicBezTo>
                  <a:lnTo>
                    <a:pt x="349815" y="540119"/>
                  </a:lnTo>
                  <a:cubicBezTo>
                    <a:pt x="337223" y="552111"/>
                    <a:pt x="320501" y="558800"/>
                    <a:pt x="303113" y="558800"/>
                  </a:cubicBezTo>
                  <a:lnTo>
                    <a:pt x="27087" y="558800"/>
                  </a:lnTo>
                  <a:cubicBezTo>
                    <a:pt x="12127" y="558800"/>
                    <a:pt x="0" y="546673"/>
                    <a:pt x="0" y="531713"/>
                  </a:cubicBezTo>
                  <a:lnTo>
                    <a:pt x="0" y="276007"/>
                  </a:lnTo>
                  <a:cubicBezTo>
                    <a:pt x="0" y="258715"/>
                    <a:pt x="7113" y="242185"/>
                    <a:pt x="19669" y="230296"/>
                  </a:cubicBezTo>
                  <a:lnTo>
                    <a:pt x="243221" y="18624"/>
                  </a:lnTo>
                  <a:cubicBezTo>
                    <a:pt x="255851" y="6665"/>
                    <a:pt x="272583" y="0"/>
                    <a:pt x="289977" y="0"/>
                  </a:cubicBezTo>
                  <a:lnTo>
                    <a:pt x="569813" y="0"/>
                  </a:lnTo>
                  <a:cubicBezTo>
                    <a:pt x="584773" y="0"/>
                    <a:pt x="596900" y="12127"/>
                    <a:pt x="596900" y="27087"/>
                  </a:cubicBezTo>
                  <a:close/>
                </a:path>
              </a:pathLst>
            </a:custGeom>
            <a:solidFill>
              <a:srgbClr val="014AAB">
                <a:alpha val="5882"/>
              </a:srgbClr>
            </a:solidFill>
          </p:spPr>
        </p:sp>
        <p:sp>
          <p:nvSpPr>
            <p:cNvPr name="TextBox 7" id="7"/>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8" id="8"/>
          <p:cNvGrpSpPr/>
          <p:nvPr/>
        </p:nvGrpSpPr>
        <p:grpSpPr>
          <a:xfrm rot="-5400000">
            <a:off x="-2264889" y="963796"/>
            <a:ext cx="4019894" cy="3763305"/>
            <a:chOff x="0" y="0"/>
            <a:chExt cx="596900" cy="558800"/>
          </a:xfrm>
        </p:grpSpPr>
        <p:sp>
          <p:nvSpPr>
            <p:cNvPr name="Freeform 9" id="9"/>
            <p:cNvSpPr/>
            <p:nvPr/>
          </p:nvSpPr>
          <p:spPr>
            <a:xfrm flipH="false" flipV="false" rot="0">
              <a:off x="0" y="0"/>
              <a:ext cx="596900" cy="558800"/>
            </a:xfrm>
            <a:custGeom>
              <a:avLst/>
              <a:gdLst/>
              <a:ahLst/>
              <a:cxnLst/>
              <a:rect r="r" b="b" t="t" l="l"/>
              <a:pathLst>
                <a:path h="558800" w="596900">
                  <a:moveTo>
                    <a:pt x="596900" y="22629"/>
                  </a:moveTo>
                  <a:lnTo>
                    <a:pt x="596900" y="282171"/>
                  </a:lnTo>
                  <a:cubicBezTo>
                    <a:pt x="596900" y="296621"/>
                    <a:pt x="590977" y="310440"/>
                    <a:pt x="580513" y="320406"/>
                  </a:cubicBezTo>
                  <a:lnTo>
                    <a:pt x="346587" y="543194"/>
                  </a:lnTo>
                  <a:cubicBezTo>
                    <a:pt x="336067" y="553212"/>
                    <a:pt x="322097" y="558800"/>
                    <a:pt x="307571" y="558800"/>
                  </a:cubicBezTo>
                  <a:lnTo>
                    <a:pt x="22629" y="558800"/>
                  </a:lnTo>
                  <a:cubicBezTo>
                    <a:pt x="10132" y="558800"/>
                    <a:pt x="0" y="548668"/>
                    <a:pt x="0" y="536171"/>
                  </a:cubicBezTo>
                  <a:lnTo>
                    <a:pt x="0" y="271549"/>
                  </a:lnTo>
                  <a:cubicBezTo>
                    <a:pt x="0" y="257103"/>
                    <a:pt x="5942" y="243294"/>
                    <a:pt x="16432" y="233361"/>
                  </a:cubicBezTo>
                  <a:lnTo>
                    <a:pt x="246458" y="15559"/>
                  </a:lnTo>
                  <a:cubicBezTo>
                    <a:pt x="257010" y="5568"/>
                    <a:pt x="270988" y="0"/>
                    <a:pt x="285519" y="0"/>
                  </a:cubicBezTo>
                  <a:lnTo>
                    <a:pt x="574271" y="0"/>
                  </a:lnTo>
                  <a:cubicBezTo>
                    <a:pt x="586768" y="0"/>
                    <a:pt x="596900" y="10132"/>
                    <a:pt x="596900" y="22629"/>
                  </a:cubicBezTo>
                  <a:close/>
                </a:path>
              </a:pathLst>
            </a:custGeom>
            <a:solidFill>
              <a:srgbClr val="014AAB">
                <a:alpha val="5882"/>
              </a:srgbClr>
            </a:solidFill>
          </p:spPr>
        </p:sp>
        <p:sp>
          <p:nvSpPr>
            <p:cNvPr name="TextBox 10" id="10"/>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1" id="11"/>
          <p:cNvGrpSpPr/>
          <p:nvPr/>
        </p:nvGrpSpPr>
        <p:grpSpPr>
          <a:xfrm rot="-5400000">
            <a:off x="260802" y="5632991"/>
            <a:ext cx="11455664" cy="10724451"/>
            <a:chOff x="0" y="0"/>
            <a:chExt cx="596900" cy="558800"/>
          </a:xfrm>
        </p:grpSpPr>
        <p:sp>
          <p:nvSpPr>
            <p:cNvPr name="Freeform 12" id="12"/>
            <p:cNvSpPr/>
            <p:nvPr/>
          </p:nvSpPr>
          <p:spPr>
            <a:xfrm flipH="false" flipV="false" rot="0">
              <a:off x="0" y="0"/>
              <a:ext cx="596900" cy="558800"/>
            </a:xfrm>
            <a:custGeom>
              <a:avLst/>
              <a:gdLst/>
              <a:ahLst/>
              <a:cxnLst/>
              <a:rect r="r" b="b" t="t" l="l"/>
              <a:pathLst>
                <a:path h="558800" w="596900">
                  <a:moveTo>
                    <a:pt x="596900" y="35734"/>
                  </a:moveTo>
                  <a:lnTo>
                    <a:pt x="596900" y="269066"/>
                  </a:lnTo>
                  <a:cubicBezTo>
                    <a:pt x="596900" y="291885"/>
                    <a:pt x="587548" y="313707"/>
                    <a:pt x="571024" y="329444"/>
                  </a:cubicBezTo>
                  <a:lnTo>
                    <a:pt x="356076" y="534156"/>
                  </a:lnTo>
                  <a:cubicBezTo>
                    <a:pt x="339465" y="549976"/>
                    <a:pt x="317405" y="558800"/>
                    <a:pt x="294466" y="558800"/>
                  </a:cubicBezTo>
                  <a:lnTo>
                    <a:pt x="35734" y="558800"/>
                  </a:lnTo>
                  <a:cubicBezTo>
                    <a:pt x="26257" y="558800"/>
                    <a:pt x="17168" y="555035"/>
                    <a:pt x="10466" y="548334"/>
                  </a:cubicBezTo>
                  <a:cubicBezTo>
                    <a:pt x="3765" y="541632"/>
                    <a:pt x="0" y="532543"/>
                    <a:pt x="0" y="523066"/>
                  </a:cubicBezTo>
                  <a:lnTo>
                    <a:pt x="0" y="284654"/>
                  </a:lnTo>
                  <a:cubicBezTo>
                    <a:pt x="0" y="261842"/>
                    <a:pt x="9383" y="240035"/>
                    <a:pt x="25948" y="224351"/>
                  </a:cubicBezTo>
                  <a:lnTo>
                    <a:pt x="236942" y="24569"/>
                  </a:lnTo>
                  <a:cubicBezTo>
                    <a:pt x="253604" y="8792"/>
                    <a:pt x="275678" y="0"/>
                    <a:pt x="298624" y="0"/>
                  </a:cubicBezTo>
                  <a:lnTo>
                    <a:pt x="561166" y="0"/>
                  </a:lnTo>
                  <a:cubicBezTo>
                    <a:pt x="570643" y="0"/>
                    <a:pt x="579732" y="3765"/>
                    <a:pt x="586434" y="10466"/>
                  </a:cubicBezTo>
                  <a:cubicBezTo>
                    <a:pt x="593135" y="17168"/>
                    <a:pt x="596900" y="26257"/>
                    <a:pt x="596900" y="35734"/>
                  </a:cubicBezTo>
                  <a:close/>
                </a:path>
              </a:pathLst>
            </a:custGeom>
            <a:solidFill>
              <a:srgbClr val="8DABD2"/>
            </a:solidFill>
          </p:spPr>
        </p:sp>
        <p:sp>
          <p:nvSpPr>
            <p:cNvPr name="TextBox 13" id="13"/>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4" id="14"/>
          <p:cNvGrpSpPr/>
          <p:nvPr/>
        </p:nvGrpSpPr>
        <p:grpSpPr>
          <a:xfrm rot="0">
            <a:off x="3409795" y="3529260"/>
            <a:ext cx="4541453" cy="1014107"/>
            <a:chOff x="0" y="0"/>
            <a:chExt cx="1196103" cy="267090"/>
          </a:xfrm>
        </p:grpSpPr>
        <p:sp>
          <p:nvSpPr>
            <p:cNvPr name="Freeform 15" id="15"/>
            <p:cNvSpPr/>
            <p:nvPr/>
          </p:nvSpPr>
          <p:spPr>
            <a:xfrm flipH="false" flipV="false" rot="0">
              <a:off x="0" y="0"/>
              <a:ext cx="1196103" cy="267090"/>
            </a:xfrm>
            <a:custGeom>
              <a:avLst/>
              <a:gdLst/>
              <a:ahLst/>
              <a:cxnLst/>
              <a:rect r="r" b="b" t="t" l="l"/>
              <a:pathLst>
                <a:path h="267090" w="1196103">
                  <a:moveTo>
                    <a:pt x="133545" y="0"/>
                  </a:moveTo>
                  <a:lnTo>
                    <a:pt x="1062558" y="0"/>
                  </a:lnTo>
                  <a:cubicBezTo>
                    <a:pt x="1097976" y="0"/>
                    <a:pt x="1131944" y="14070"/>
                    <a:pt x="1156988" y="39114"/>
                  </a:cubicBezTo>
                  <a:cubicBezTo>
                    <a:pt x="1182033" y="64159"/>
                    <a:pt x="1196103" y="98127"/>
                    <a:pt x="1196103" y="133545"/>
                  </a:cubicBezTo>
                  <a:lnTo>
                    <a:pt x="1196103" y="133545"/>
                  </a:lnTo>
                  <a:cubicBezTo>
                    <a:pt x="1196103" y="168963"/>
                    <a:pt x="1182033" y="202931"/>
                    <a:pt x="1156988" y="227976"/>
                  </a:cubicBezTo>
                  <a:cubicBezTo>
                    <a:pt x="1131944" y="253020"/>
                    <a:pt x="1097976" y="267090"/>
                    <a:pt x="1062558" y="267090"/>
                  </a:cubicBezTo>
                  <a:lnTo>
                    <a:pt x="133545" y="267090"/>
                  </a:lnTo>
                  <a:cubicBezTo>
                    <a:pt x="98127" y="267090"/>
                    <a:pt x="64159" y="253020"/>
                    <a:pt x="39114" y="227976"/>
                  </a:cubicBezTo>
                  <a:cubicBezTo>
                    <a:pt x="14070" y="202931"/>
                    <a:pt x="0" y="168963"/>
                    <a:pt x="0" y="133545"/>
                  </a:cubicBezTo>
                  <a:lnTo>
                    <a:pt x="0" y="133545"/>
                  </a:lnTo>
                  <a:cubicBezTo>
                    <a:pt x="0" y="98127"/>
                    <a:pt x="14070" y="64159"/>
                    <a:pt x="39114" y="39114"/>
                  </a:cubicBezTo>
                  <a:cubicBezTo>
                    <a:pt x="64159" y="14070"/>
                    <a:pt x="98127" y="0"/>
                    <a:pt x="133545" y="0"/>
                  </a:cubicBezTo>
                  <a:close/>
                </a:path>
              </a:pathLst>
            </a:custGeom>
            <a:solidFill>
              <a:srgbClr val="FFFFFF"/>
            </a:solidFill>
            <a:ln w="38100" cap="rnd">
              <a:solidFill>
                <a:srgbClr val="014AAB"/>
              </a:solidFill>
              <a:prstDash val="solid"/>
              <a:round/>
            </a:ln>
          </p:spPr>
        </p:sp>
        <p:sp>
          <p:nvSpPr>
            <p:cNvPr name="TextBox 16" id="16"/>
            <p:cNvSpPr txBox="true"/>
            <p:nvPr/>
          </p:nvSpPr>
          <p:spPr>
            <a:xfrm>
              <a:off x="0" y="-57150"/>
              <a:ext cx="1196103" cy="324240"/>
            </a:xfrm>
            <a:prstGeom prst="rect">
              <a:avLst/>
            </a:prstGeom>
          </p:spPr>
          <p:txBody>
            <a:bodyPr anchor="ctr" rtlCol="false" tIns="50800" lIns="50800" bIns="50800" rIns="50800"/>
            <a:lstStyle/>
            <a:p>
              <a:pPr algn="ctr" marL="0" indent="0" lvl="0">
                <a:lnSpc>
                  <a:spcPts val="3220"/>
                </a:lnSpc>
              </a:pPr>
            </a:p>
          </p:txBody>
        </p:sp>
      </p:grpSp>
      <p:grpSp>
        <p:nvGrpSpPr>
          <p:cNvPr name="Group 17" id="17"/>
          <p:cNvGrpSpPr/>
          <p:nvPr/>
        </p:nvGrpSpPr>
        <p:grpSpPr>
          <a:xfrm rot="0">
            <a:off x="11042575" y="3529260"/>
            <a:ext cx="4541453" cy="1014107"/>
            <a:chOff x="0" y="0"/>
            <a:chExt cx="1196103" cy="267090"/>
          </a:xfrm>
        </p:grpSpPr>
        <p:sp>
          <p:nvSpPr>
            <p:cNvPr name="Freeform 18" id="18"/>
            <p:cNvSpPr/>
            <p:nvPr/>
          </p:nvSpPr>
          <p:spPr>
            <a:xfrm flipH="false" flipV="false" rot="0">
              <a:off x="0" y="0"/>
              <a:ext cx="1196103" cy="267090"/>
            </a:xfrm>
            <a:custGeom>
              <a:avLst/>
              <a:gdLst/>
              <a:ahLst/>
              <a:cxnLst/>
              <a:rect r="r" b="b" t="t" l="l"/>
              <a:pathLst>
                <a:path h="267090" w="1196103">
                  <a:moveTo>
                    <a:pt x="133545" y="0"/>
                  </a:moveTo>
                  <a:lnTo>
                    <a:pt x="1062558" y="0"/>
                  </a:lnTo>
                  <a:cubicBezTo>
                    <a:pt x="1097976" y="0"/>
                    <a:pt x="1131944" y="14070"/>
                    <a:pt x="1156988" y="39114"/>
                  </a:cubicBezTo>
                  <a:cubicBezTo>
                    <a:pt x="1182033" y="64159"/>
                    <a:pt x="1196103" y="98127"/>
                    <a:pt x="1196103" y="133545"/>
                  </a:cubicBezTo>
                  <a:lnTo>
                    <a:pt x="1196103" y="133545"/>
                  </a:lnTo>
                  <a:cubicBezTo>
                    <a:pt x="1196103" y="168963"/>
                    <a:pt x="1182033" y="202931"/>
                    <a:pt x="1156988" y="227976"/>
                  </a:cubicBezTo>
                  <a:cubicBezTo>
                    <a:pt x="1131944" y="253020"/>
                    <a:pt x="1097976" y="267090"/>
                    <a:pt x="1062558" y="267090"/>
                  </a:cubicBezTo>
                  <a:lnTo>
                    <a:pt x="133545" y="267090"/>
                  </a:lnTo>
                  <a:cubicBezTo>
                    <a:pt x="98127" y="267090"/>
                    <a:pt x="64159" y="253020"/>
                    <a:pt x="39114" y="227976"/>
                  </a:cubicBezTo>
                  <a:cubicBezTo>
                    <a:pt x="14070" y="202931"/>
                    <a:pt x="0" y="168963"/>
                    <a:pt x="0" y="133545"/>
                  </a:cubicBezTo>
                  <a:lnTo>
                    <a:pt x="0" y="133545"/>
                  </a:lnTo>
                  <a:cubicBezTo>
                    <a:pt x="0" y="98127"/>
                    <a:pt x="14070" y="64159"/>
                    <a:pt x="39114" y="39114"/>
                  </a:cubicBezTo>
                  <a:cubicBezTo>
                    <a:pt x="64159" y="14070"/>
                    <a:pt x="98127" y="0"/>
                    <a:pt x="133545" y="0"/>
                  </a:cubicBezTo>
                  <a:close/>
                </a:path>
              </a:pathLst>
            </a:custGeom>
            <a:solidFill>
              <a:srgbClr val="FFFFFF"/>
            </a:solidFill>
            <a:ln w="38100" cap="rnd">
              <a:solidFill>
                <a:srgbClr val="8DABD2"/>
              </a:solidFill>
              <a:prstDash val="solid"/>
              <a:round/>
            </a:ln>
          </p:spPr>
        </p:sp>
        <p:sp>
          <p:nvSpPr>
            <p:cNvPr name="TextBox 19" id="19"/>
            <p:cNvSpPr txBox="true"/>
            <p:nvPr/>
          </p:nvSpPr>
          <p:spPr>
            <a:xfrm>
              <a:off x="0" y="-57150"/>
              <a:ext cx="1196103" cy="324240"/>
            </a:xfrm>
            <a:prstGeom prst="rect">
              <a:avLst/>
            </a:prstGeom>
          </p:spPr>
          <p:txBody>
            <a:bodyPr anchor="ctr" rtlCol="false" tIns="50800" lIns="50800" bIns="50800" rIns="50800"/>
            <a:lstStyle/>
            <a:p>
              <a:pPr algn="ctr" marL="0" indent="0" lvl="0">
                <a:lnSpc>
                  <a:spcPts val="3220"/>
                </a:lnSpc>
              </a:pPr>
            </a:p>
          </p:txBody>
        </p:sp>
      </p:grpSp>
      <p:grpSp>
        <p:nvGrpSpPr>
          <p:cNvPr name="Group 20" id="20"/>
          <p:cNvGrpSpPr/>
          <p:nvPr/>
        </p:nvGrpSpPr>
        <p:grpSpPr>
          <a:xfrm rot="0">
            <a:off x="2703972" y="3529260"/>
            <a:ext cx="1014107" cy="1014107"/>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4AAB"/>
            </a:solidFill>
          </p:spPr>
        </p:sp>
        <p:sp>
          <p:nvSpPr>
            <p:cNvPr name="TextBox 22" id="22"/>
            <p:cNvSpPr txBox="true"/>
            <p:nvPr/>
          </p:nvSpPr>
          <p:spPr>
            <a:xfrm>
              <a:off x="76200" y="19050"/>
              <a:ext cx="660400" cy="717550"/>
            </a:xfrm>
            <a:prstGeom prst="rect">
              <a:avLst/>
            </a:prstGeom>
          </p:spPr>
          <p:txBody>
            <a:bodyPr anchor="ctr" rtlCol="false" tIns="50800" lIns="50800" bIns="50800" rIns="50800"/>
            <a:lstStyle/>
            <a:p>
              <a:pPr algn="ctr" marL="0" indent="0" lvl="0">
                <a:lnSpc>
                  <a:spcPts val="3220"/>
                </a:lnSpc>
              </a:pPr>
            </a:p>
          </p:txBody>
        </p:sp>
      </p:grpSp>
      <p:grpSp>
        <p:nvGrpSpPr>
          <p:cNvPr name="Group 23" id="23"/>
          <p:cNvGrpSpPr/>
          <p:nvPr/>
        </p:nvGrpSpPr>
        <p:grpSpPr>
          <a:xfrm rot="0">
            <a:off x="10336752" y="3529260"/>
            <a:ext cx="1014107" cy="1014107"/>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ABD2"/>
            </a:solidFill>
          </p:spPr>
        </p:sp>
        <p:sp>
          <p:nvSpPr>
            <p:cNvPr name="TextBox 25" id="25"/>
            <p:cNvSpPr txBox="true"/>
            <p:nvPr/>
          </p:nvSpPr>
          <p:spPr>
            <a:xfrm>
              <a:off x="76200" y="19050"/>
              <a:ext cx="660400" cy="717550"/>
            </a:xfrm>
            <a:prstGeom prst="rect">
              <a:avLst/>
            </a:prstGeom>
          </p:spPr>
          <p:txBody>
            <a:bodyPr anchor="ctr" rtlCol="false" tIns="50800" lIns="50800" bIns="50800" rIns="50800"/>
            <a:lstStyle/>
            <a:p>
              <a:pPr algn="ctr" marL="0" indent="0" lvl="0">
                <a:lnSpc>
                  <a:spcPts val="3220"/>
                </a:lnSpc>
              </a:pPr>
            </a:p>
          </p:txBody>
        </p:sp>
      </p:grpSp>
      <p:grpSp>
        <p:nvGrpSpPr>
          <p:cNvPr name="Group 26" id="26"/>
          <p:cNvGrpSpPr/>
          <p:nvPr/>
        </p:nvGrpSpPr>
        <p:grpSpPr>
          <a:xfrm rot="0">
            <a:off x="2169636" y="4707338"/>
            <a:ext cx="12880056" cy="4550962"/>
            <a:chOff x="0" y="0"/>
            <a:chExt cx="3392278" cy="1198607"/>
          </a:xfrm>
        </p:grpSpPr>
        <p:sp>
          <p:nvSpPr>
            <p:cNvPr name="Freeform 27" id="27"/>
            <p:cNvSpPr/>
            <p:nvPr/>
          </p:nvSpPr>
          <p:spPr>
            <a:xfrm flipH="false" flipV="false" rot="0">
              <a:off x="0" y="0"/>
              <a:ext cx="3392278" cy="1198607"/>
            </a:xfrm>
            <a:custGeom>
              <a:avLst/>
              <a:gdLst/>
              <a:ahLst/>
              <a:cxnLst/>
              <a:rect r="r" b="b" t="t" l="l"/>
              <a:pathLst>
                <a:path h="1198607" w="3392278">
                  <a:moveTo>
                    <a:pt x="31857" y="0"/>
                  </a:moveTo>
                  <a:lnTo>
                    <a:pt x="3360421" y="0"/>
                  </a:lnTo>
                  <a:cubicBezTo>
                    <a:pt x="3368870" y="0"/>
                    <a:pt x="3376973" y="3356"/>
                    <a:pt x="3382947" y="9331"/>
                  </a:cubicBezTo>
                  <a:cubicBezTo>
                    <a:pt x="3388922" y="15305"/>
                    <a:pt x="3392278" y="23408"/>
                    <a:pt x="3392278" y="31857"/>
                  </a:cubicBezTo>
                  <a:lnTo>
                    <a:pt x="3392278" y="1166750"/>
                  </a:lnTo>
                  <a:cubicBezTo>
                    <a:pt x="3392278" y="1184344"/>
                    <a:pt x="3378015" y="1198607"/>
                    <a:pt x="3360421" y="1198607"/>
                  </a:cubicBezTo>
                  <a:lnTo>
                    <a:pt x="31857" y="1198607"/>
                  </a:lnTo>
                  <a:cubicBezTo>
                    <a:pt x="14263" y="1198607"/>
                    <a:pt x="0" y="1184344"/>
                    <a:pt x="0" y="1166750"/>
                  </a:cubicBezTo>
                  <a:lnTo>
                    <a:pt x="0" y="31857"/>
                  </a:lnTo>
                  <a:cubicBezTo>
                    <a:pt x="0" y="14263"/>
                    <a:pt x="14263" y="0"/>
                    <a:pt x="31857" y="0"/>
                  </a:cubicBezTo>
                  <a:close/>
                </a:path>
              </a:pathLst>
            </a:custGeom>
            <a:solidFill>
              <a:srgbClr val="FFFFFF"/>
            </a:solidFill>
          </p:spPr>
        </p:sp>
        <p:sp>
          <p:nvSpPr>
            <p:cNvPr name="TextBox 28" id="28"/>
            <p:cNvSpPr txBox="true"/>
            <p:nvPr/>
          </p:nvSpPr>
          <p:spPr>
            <a:xfrm>
              <a:off x="0" y="-57150"/>
              <a:ext cx="3392278" cy="1255757"/>
            </a:xfrm>
            <a:prstGeom prst="rect">
              <a:avLst/>
            </a:prstGeom>
          </p:spPr>
          <p:txBody>
            <a:bodyPr anchor="ctr" rtlCol="false" tIns="50800" lIns="50800" bIns="50800" rIns="50800"/>
            <a:lstStyle/>
            <a:p>
              <a:pPr algn="ctr" marL="0" indent="0" lvl="0">
                <a:lnSpc>
                  <a:spcPts val="3220"/>
                </a:lnSpc>
              </a:pPr>
            </a:p>
          </p:txBody>
        </p:sp>
      </p:grpSp>
      <p:sp>
        <p:nvSpPr>
          <p:cNvPr name="Freeform 29" id="29"/>
          <p:cNvSpPr/>
          <p:nvPr/>
        </p:nvSpPr>
        <p:spPr>
          <a:xfrm flipH="false" flipV="false" rot="0">
            <a:off x="2938088" y="3763105"/>
            <a:ext cx="546236" cy="546236"/>
          </a:xfrm>
          <a:custGeom>
            <a:avLst/>
            <a:gdLst/>
            <a:ahLst/>
            <a:cxnLst/>
            <a:rect r="r" b="b" t="t" l="l"/>
            <a:pathLst>
              <a:path h="546236" w="546236">
                <a:moveTo>
                  <a:pt x="0" y="0"/>
                </a:moveTo>
                <a:lnTo>
                  <a:pt x="546235" y="0"/>
                </a:lnTo>
                <a:lnTo>
                  <a:pt x="546235" y="546235"/>
                </a:lnTo>
                <a:lnTo>
                  <a:pt x="0" y="546235"/>
                </a:lnTo>
                <a:lnTo>
                  <a:pt x="0" y="0"/>
                </a:lnTo>
                <a:close/>
              </a:path>
            </a:pathLst>
          </a:custGeom>
          <a:blipFill>
            <a:blip r:embed="rId2"/>
            <a:stretch>
              <a:fillRect l="0" t="0" r="0" b="0"/>
            </a:stretch>
          </a:blipFill>
        </p:spPr>
      </p:sp>
      <p:sp>
        <p:nvSpPr>
          <p:cNvPr name="Freeform 30" id="30"/>
          <p:cNvSpPr/>
          <p:nvPr/>
        </p:nvSpPr>
        <p:spPr>
          <a:xfrm flipH="false" flipV="false" rot="0">
            <a:off x="10542959" y="3716515"/>
            <a:ext cx="624537" cy="628161"/>
          </a:xfrm>
          <a:custGeom>
            <a:avLst/>
            <a:gdLst/>
            <a:ahLst/>
            <a:cxnLst/>
            <a:rect r="r" b="b" t="t" l="l"/>
            <a:pathLst>
              <a:path h="628161" w="624537">
                <a:moveTo>
                  <a:pt x="0" y="0"/>
                </a:moveTo>
                <a:lnTo>
                  <a:pt x="624538" y="0"/>
                </a:lnTo>
                <a:lnTo>
                  <a:pt x="624538" y="628161"/>
                </a:lnTo>
                <a:lnTo>
                  <a:pt x="0" y="628161"/>
                </a:lnTo>
                <a:lnTo>
                  <a:pt x="0" y="0"/>
                </a:lnTo>
                <a:close/>
              </a:path>
            </a:pathLst>
          </a:custGeom>
          <a:blipFill>
            <a:blip r:embed="rId3"/>
            <a:stretch>
              <a:fillRect l="0" t="0" r="0" b="0"/>
            </a:stretch>
          </a:blipFill>
        </p:spPr>
      </p:sp>
      <p:sp>
        <p:nvSpPr>
          <p:cNvPr name="TextBox 31" id="31"/>
          <p:cNvSpPr txBox="true"/>
          <p:nvPr/>
        </p:nvSpPr>
        <p:spPr>
          <a:xfrm rot="0">
            <a:off x="3741893" y="1954531"/>
            <a:ext cx="10804215" cy="753100"/>
          </a:xfrm>
          <a:prstGeom prst="rect">
            <a:avLst/>
          </a:prstGeom>
        </p:spPr>
        <p:txBody>
          <a:bodyPr anchor="t" rtlCol="false" tIns="0" lIns="0" bIns="0" rIns="0">
            <a:spAutoFit/>
          </a:bodyPr>
          <a:lstStyle/>
          <a:p>
            <a:pPr algn="ctr" marL="0" indent="0" lvl="0">
              <a:lnSpc>
                <a:spcPts val="5649"/>
              </a:lnSpc>
            </a:pPr>
            <a:r>
              <a:rPr lang="en-US" b="true" sz="5649" spc="112">
                <a:solidFill>
                  <a:srgbClr val="011A3C"/>
                </a:solidFill>
                <a:latin typeface="Gotham Bold"/>
                <a:ea typeface="Gotham Bold"/>
                <a:cs typeface="Gotham Bold"/>
                <a:sym typeface="Gotham Bold"/>
              </a:rPr>
              <a:t>Innovaciones Clave (Parte 1)</a:t>
            </a:r>
          </a:p>
        </p:txBody>
      </p:sp>
      <p:sp>
        <p:nvSpPr>
          <p:cNvPr name="TextBox 32" id="32"/>
          <p:cNvSpPr txBox="true"/>
          <p:nvPr/>
        </p:nvSpPr>
        <p:spPr>
          <a:xfrm rot="0">
            <a:off x="3991615" y="3801382"/>
            <a:ext cx="3723907" cy="455343"/>
          </a:xfrm>
          <a:prstGeom prst="rect">
            <a:avLst/>
          </a:prstGeom>
        </p:spPr>
        <p:txBody>
          <a:bodyPr anchor="t" rtlCol="false" tIns="0" lIns="0" bIns="0" rIns="0">
            <a:spAutoFit/>
          </a:bodyPr>
          <a:lstStyle/>
          <a:p>
            <a:pPr algn="l" marL="0" indent="0" lvl="0">
              <a:lnSpc>
                <a:spcPts val="3777"/>
              </a:lnSpc>
            </a:pPr>
            <a:r>
              <a:rPr lang="en-US" b="true" sz="2698">
                <a:solidFill>
                  <a:srgbClr val="011A3C"/>
                </a:solidFill>
                <a:latin typeface="Nunito Semi-Bold"/>
                <a:ea typeface="Nunito Semi-Bold"/>
                <a:cs typeface="Nunito Semi-Bold"/>
                <a:sym typeface="Nunito Semi-Bold"/>
              </a:rPr>
              <a:t>Diseño de Protección</a:t>
            </a:r>
          </a:p>
        </p:txBody>
      </p:sp>
      <p:sp>
        <p:nvSpPr>
          <p:cNvPr name="TextBox 33" id="33"/>
          <p:cNvSpPr txBox="true"/>
          <p:nvPr/>
        </p:nvSpPr>
        <p:spPr>
          <a:xfrm rot="0">
            <a:off x="11624395" y="3801382"/>
            <a:ext cx="3723907" cy="455343"/>
          </a:xfrm>
          <a:prstGeom prst="rect">
            <a:avLst/>
          </a:prstGeom>
        </p:spPr>
        <p:txBody>
          <a:bodyPr anchor="t" rtlCol="false" tIns="0" lIns="0" bIns="0" rIns="0">
            <a:spAutoFit/>
          </a:bodyPr>
          <a:lstStyle/>
          <a:p>
            <a:pPr algn="l" marL="0" indent="0" lvl="0">
              <a:lnSpc>
                <a:spcPts val="3777"/>
              </a:lnSpc>
            </a:pPr>
            <a:r>
              <a:rPr lang="en-US" b="true" sz="2698">
                <a:solidFill>
                  <a:srgbClr val="011A3C"/>
                </a:solidFill>
                <a:latin typeface="Nunito Semi-Bold"/>
                <a:ea typeface="Nunito Semi-Bold"/>
                <a:cs typeface="Nunito Semi-Bold"/>
                <a:sym typeface="Nunito Semi-Bold"/>
              </a:rPr>
              <a:t>Edge Computing</a:t>
            </a:r>
          </a:p>
        </p:txBody>
      </p:sp>
      <p:sp>
        <p:nvSpPr>
          <p:cNvPr name="AutoShape 34" id="34"/>
          <p:cNvSpPr/>
          <p:nvPr/>
        </p:nvSpPr>
        <p:spPr>
          <a:xfrm flipV="true">
            <a:off x="7951248" y="3078134"/>
            <a:ext cx="12134633" cy="0"/>
          </a:xfrm>
          <a:prstGeom prst="line">
            <a:avLst/>
          </a:prstGeom>
          <a:ln cap="rnd" w="38100">
            <a:solidFill>
              <a:srgbClr val="014AAB"/>
            </a:solidFill>
            <a:prstDash val="solid"/>
            <a:headEnd type="none" len="sm" w="sm"/>
            <a:tailEnd type="none" len="sm" w="sm"/>
          </a:ln>
        </p:spPr>
      </p:sp>
      <p:sp>
        <p:nvSpPr>
          <p:cNvPr name="TextBox 35" id="35"/>
          <p:cNvSpPr txBox="true"/>
          <p:nvPr/>
        </p:nvSpPr>
        <p:spPr>
          <a:xfrm rot="0">
            <a:off x="2703972" y="4943418"/>
            <a:ext cx="5419181" cy="571500"/>
          </a:xfrm>
          <a:prstGeom prst="rect">
            <a:avLst/>
          </a:prstGeom>
        </p:spPr>
        <p:txBody>
          <a:bodyPr anchor="t" rtlCol="false" tIns="0" lIns="0" bIns="0" rIns="0">
            <a:spAutoFit/>
          </a:bodyPr>
          <a:lstStyle/>
          <a:p>
            <a:pPr algn="l" marL="0" indent="0" lvl="0">
              <a:lnSpc>
                <a:spcPts val="2295"/>
              </a:lnSpc>
            </a:pPr>
            <a:r>
              <a:rPr lang="en-US" sz="1913">
                <a:solidFill>
                  <a:srgbClr val="011A3C"/>
                </a:solidFill>
                <a:latin typeface="Nunito"/>
                <a:ea typeface="Nunito"/>
                <a:cs typeface="Nunito"/>
                <a:sym typeface="Nunito"/>
              </a:rPr>
              <a:t>Avances técnicos en el diseño eléctrico y de protección del sistema de riego automatizado.</a:t>
            </a:r>
          </a:p>
        </p:txBody>
      </p:sp>
      <p:sp>
        <p:nvSpPr>
          <p:cNvPr name="TextBox 36" id="36"/>
          <p:cNvSpPr txBox="true"/>
          <p:nvPr/>
        </p:nvSpPr>
        <p:spPr>
          <a:xfrm rot="0">
            <a:off x="10336752" y="4943418"/>
            <a:ext cx="5419181" cy="571500"/>
          </a:xfrm>
          <a:prstGeom prst="rect">
            <a:avLst/>
          </a:prstGeom>
        </p:spPr>
        <p:txBody>
          <a:bodyPr anchor="t" rtlCol="false" tIns="0" lIns="0" bIns="0" rIns="0">
            <a:spAutoFit/>
          </a:bodyPr>
          <a:lstStyle/>
          <a:p>
            <a:pPr algn="l" marL="0" indent="0" lvl="0">
              <a:lnSpc>
                <a:spcPts val="2295"/>
              </a:lnSpc>
            </a:pPr>
            <a:r>
              <a:rPr lang="en-US" sz="1913">
                <a:solidFill>
                  <a:srgbClr val="011A3C"/>
                </a:solidFill>
                <a:latin typeface="Nunito"/>
                <a:ea typeface="Nunito"/>
                <a:cs typeface="Nunito"/>
                <a:sym typeface="Nunito"/>
              </a:rPr>
              <a:t>Procesamiento local en el microcontrolador para decisiones autónomas en tiempo real.</a:t>
            </a:r>
          </a:p>
        </p:txBody>
      </p:sp>
      <p:sp>
        <p:nvSpPr>
          <p:cNvPr name="TextBox 37" id="37"/>
          <p:cNvSpPr txBox="true"/>
          <p:nvPr/>
        </p:nvSpPr>
        <p:spPr>
          <a:xfrm rot="0">
            <a:off x="2703972" y="6270289"/>
            <a:ext cx="5419181" cy="571500"/>
          </a:xfrm>
          <a:prstGeom prst="rect">
            <a:avLst/>
          </a:prstGeom>
        </p:spPr>
        <p:txBody>
          <a:bodyPr anchor="t" rtlCol="false" tIns="0" lIns="0" bIns="0" rIns="0">
            <a:spAutoFit/>
          </a:bodyPr>
          <a:lstStyle/>
          <a:p>
            <a:pPr algn="l" marL="0" indent="0" lvl="0">
              <a:lnSpc>
                <a:spcPts val="2295"/>
              </a:lnSpc>
            </a:pPr>
            <a:r>
              <a:rPr lang="en-US" sz="1913">
                <a:solidFill>
                  <a:srgbClr val="011A3C"/>
                </a:solidFill>
                <a:latin typeface="Nunito"/>
                <a:ea typeface="Nunito"/>
                <a:cs typeface="Nunito"/>
                <a:sym typeface="Nunito"/>
              </a:rPr>
              <a:t>Divisor de tensión (1kΩ y 2kΩ): adapta señal de 5V a 3.3V en pin RXD del HC-05 (Vout = 3.33V).</a:t>
            </a:r>
          </a:p>
        </p:txBody>
      </p:sp>
      <p:sp>
        <p:nvSpPr>
          <p:cNvPr name="TextBox 38" id="38"/>
          <p:cNvSpPr txBox="true"/>
          <p:nvPr/>
        </p:nvSpPr>
        <p:spPr>
          <a:xfrm rot="0">
            <a:off x="10336752" y="6270289"/>
            <a:ext cx="5419181" cy="571500"/>
          </a:xfrm>
          <a:prstGeom prst="rect">
            <a:avLst/>
          </a:prstGeom>
        </p:spPr>
        <p:txBody>
          <a:bodyPr anchor="t" rtlCol="false" tIns="0" lIns="0" bIns="0" rIns="0">
            <a:spAutoFit/>
          </a:bodyPr>
          <a:lstStyle/>
          <a:p>
            <a:pPr algn="l" marL="0" indent="0" lvl="0">
              <a:lnSpc>
                <a:spcPts val="2295"/>
              </a:lnSpc>
            </a:pPr>
            <a:r>
              <a:rPr lang="en-US" sz="1913">
                <a:solidFill>
                  <a:srgbClr val="011A3C"/>
                </a:solidFill>
                <a:latin typeface="Nunito"/>
                <a:ea typeface="Nunito"/>
                <a:cs typeface="Nunito"/>
                <a:sym typeface="Nunito"/>
              </a:rPr>
              <a:t>ATmega328P ejecuta lógica de control sin depender de servidor externo ni nube.</a:t>
            </a:r>
          </a:p>
        </p:txBody>
      </p:sp>
      <p:sp>
        <p:nvSpPr>
          <p:cNvPr name="TextBox 39" id="39"/>
          <p:cNvSpPr txBox="true"/>
          <p:nvPr/>
        </p:nvSpPr>
        <p:spPr>
          <a:xfrm rot="0">
            <a:off x="2703972" y="7148743"/>
            <a:ext cx="5419181" cy="571500"/>
          </a:xfrm>
          <a:prstGeom prst="rect">
            <a:avLst/>
          </a:prstGeom>
        </p:spPr>
        <p:txBody>
          <a:bodyPr anchor="t" rtlCol="false" tIns="0" lIns="0" bIns="0" rIns="0">
            <a:spAutoFit/>
          </a:bodyPr>
          <a:lstStyle/>
          <a:p>
            <a:pPr algn="l" marL="0" indent="0" lvl="0">
              <a:lnSpc>
                <a:spcPts val="2295"/>
              </a:lnSpc>
            </a:pPr>
            <a:r>
              <a:rPr lang="en-US" sz="1913">
                <a:solidFill>
                  <a:srgbClr val="011A3C"/>
                </a:solidFill>
                <a:latin typeface="Nunito"/>
                <a:ea typeface="Nunito"/>
                <a:cs typeface="Nunito"/>
                <a:sym typeface="Nunito"/>
              </a:rPr>
              <a:t>Aislamiento galvánico mediante módulo relé 5V: separa circuito de control del circuito de potencia.</a:t>
            </a:r>
          </a:p>
        </p:txBody>
      </p:sp>
      <p:sp>
        <p:nvSpPr>
          <p:cNvPr name="TextBox 40" id="40"/>
          <p:cNvSpPr txBox="true"/>
          <p:nvPr/>
        </p:nvSpPr>
        <p:spPr>
          <a:xfrm rot="0">
            <a:off x="10336752" y="7148743"/>
            <a:ext cx="5419181" cy="571500"/>
          </a:xfrm>
          <a:prstGeom prst="rect">
            <a:avLst/>
          </a:prstGeom>
        </p:spPr>
        <p:txBody>
          <a:bodyPr anchor="t" rtlCol="false" tIns="0" lIns="0" bIns="0" rIns="0">
            <a:spAutoFit/>
          </a:bodyPr>
          <a:lstStyle/>
          <a:p>
            <a:pPr algn="l" marL="0" indent="0" lvl="0">
              <a:lnSpc>
                <a:spcPts val="2295"/>
              </a:lnSpc>
            </a:pPr>
            <a:r>
              <a:rPr lang="en-US" sz="1913">
                <a:solidFill>
                  <a:srgbClr val="011A3C"/>
                </a:solidFill>
                <a:latin typeface="Nunito"/>
                <a:ea typeface="Nunito"/>
                <a:cs typeface="Nunito"/>
                <a:sym typeface="Nunito"/>
              </a:rPr>
              <a:t>Latencia de respuesta mínima: decisiones tomadas localmente en microsegundos.</a:t>
            </a:r>
          </a:p>
        </p:txBody>
      </p:sp>
      <p:sp>
        <p:nvSpPr>
          <p:cNvPr name="TextBox 41" id="41"/>
          <p:cNvSpPr txBox="true"/>
          <p:nvPr/>
        </p:nvSpPr>
        <p:spPr>
          <a:xfrm rot="0">
            <a:off x="2703972" y="8024968"/>
            <a:ext cx="5419181" cy="571500"/>
          </a:xfrm>
          <a:prstGeom prst="rect">
            <a:avLst/>
          </a:prstGeom>
        </p:spPr>
        <p:txBody>
          <a:bodyPr anchor="t" rtlCol="false" tIns="0" lIns="0" bIns="0" rIns="0">
            <a:spAutoFit/>
          </a:bodyPr>
          <a:lstStyle/>
          <a:p>
            <a:pPr algn="l" marL="0" indent="0" lvl="0">
              <a:lnSpc>
                <a:spcPts val="2295"/>
              </a:lnSpc>
            </a:pPr>
            <a:r>
              <a:rPr lang="en-US" sz="1913">
                <a:solidFill>
                  <a:srgbClr val="011A3C"/>
                </a:solidFill>
                <a:latin typeface="Nunito"/>
                <a:ea typeface="Nunito"/>
                <a:cs typeface="Nunito"/>
                <a:sym typeface="Nunito"/>
              </a:rPr>
              <a:t>Protección del HC-05 garantiza comunicación Bluetooth estable y confiable a largo plazo.</a:t>
            </a:r>
          </a:p>
        </p:txBody>
      </p:sp>
      <p:sp>
        <p:nvSpPr>
          <p:cNvPr name="TextBox 42" id="42"/>
          <p:cNvSpPr txBox="true"/>
          <p:nvPr/>
        </p:nvSpPr>
        <p:spPr>
          <a:xfrm rot="0">
            <a:off x="10336752" y="8024968"/>
            <a:ext cx="5419181" cy="571500"/>
          </a:xfrm>
          <a:prstGeom prst="rect">
            <a:avLst/>
          </a:prstGeom>
        </p:spPr>
        <p:txBody>
          <a:bodyPr anchor="t" rtlCol="false" tIns="0" lIns="0" bIns="0" rIns="0">
            <a:spAutoFit/>
          </a:bodyPr>
          <a:lstStyle/>
          <a:p>
            <a:pPr algn="l" marL="0" indent="0" lvl="0">
              <a:lnSpc>
                <a:spcPts val="2295"/>
              </a:lnSpc>
            </a:pPr>
            <a:r>
              <a:rPr lang="en-US" sz="1913">
                <a:solidFill>
                  <a:srgbClr val="011A3C"/>
                </a:solidFill>
                <a:latin typeface="Nunito"/>
                <a:ea typeface="Nunito"/>
                <a:cs typeface="Nunito"/>
                <a:sym typeface="Nunito"/>
              </a:rPr>
              <a:t>Base escalable: arquitectura lista para integración con IoT y protocolos MQTT en futuras versiones.</a:t>
            </a:r>
          </a:p>
        </p:txBody>
      </p:sp>
      <p:grpSp>
        <p:nvGrpSpPr>
          <p:cNvPr name="Group 43" id="43"/>
          <p:cNvGrpSpPr/>
          <p:nvPr/>
        </p:nvGrpSpPr>
        <p:grpSpPr>
          <a:xfrm rot="0">
            <a:off x="14546107" y="9008976"/>
            <a:ext cx="2954069" cy="2765512"/>
            <a:chOff x="0" y="0"/>
            <a:chExt cx="596900" cy="558800"/>
          </a:xfrm>
        </p:grpSpPr>
        <p:sp>
          <p:nvSpPr>
            <p:cNvPr name="Freeform 44" id="44"/>
            <p:cNvSpPr/>
            <p:nvPr/>
          </p:nvSpPr>
          <p:spPr>
            <a:xfrm flipH="false" flipV="false" rot="0">
              <a:off x="0" y="0"/>
              <a:ext cx="596900" cy="558800"/>
            </a:xfrm>
            <a:custGeom>
              <a:avLst/>
              <a:gdLst/>
              <a:ahLst/>
              <a:cxnLst/>
              <a:rect r="r" b="b" t="t" l="l"/>
              <a:pathLst>
                <a:path h="558800" w="596900">
                  <a:moveTo>
                    <a:pt x="596900" y="30794"/>
                  </a:moveTo>
                  <a:lnTo>
                    <a:pt x="596900" y="274006"/>
                  </a:lnTo>
                  <a:cubicBezTo>
                    <a:pt x="596900" y="293670"/>
                    <a:pt x="588841" y="312476"/>
                    <a:pt x="574601" y="326037"/>
                  </a:cubicBezTo>
                  <a:lnTo>
                    <a:pt x="352499" y="537563"/>
                  </a:lnTo>
                  <a:cubicBezTo>
                    <a:pt x="338184" y="551196"/>
                    <a:pt x="319174" y="558800"/>
                    <a:pt x="299406" y="558800"/>
                  </a:cubicBezTo>
                  <a:lnTo>
                    <a:pt x="30794" y="558800"/>
                  </a:lnTo>
                  <a:cubicBezTo>
                    <a:pt x="13787" y="558800"/>
                    <a:pt x="0" y="545013"/>
                    <a:pt x="0" y="528006"/>
                  </a:cubicBezTo>
                  <a:lnTo>
                    <a:pt x="0" y="279714"/>
                  </a:lnTo>
                  <a:cubicBezTo>
                    <a:pt x="0" y="260056"/>
                    <a:pt x="8086" y="241263"/>
                    <a:pt x="22361" y="227748"/>
                  </a:cubicBezTo>
                  <a:lnTo>
                    <a:pt x="240529" y="21172"/>
                  </a:lnTo>
                  <a:cubicBezTo>
                    <a:pt x="254888" y="7577"/>
                    <a:pt x="273910" y="0"/>
                    <a:pt x="293684" y="0"/>
                  </a:cubicBezTo>
                  <a:lnTo>
                    <a:pt x="566106" y="0"/>
                  </a:lnTo>
                  <a:cubicBezTo>
                    <a:pt x="583113" y="0"/>
                    <a:pt x="596900" y="13787"/>
                    <a:pt x="596900" y="30794"/>
                  </a:cubicBezTo>
                  <a:close/>
                </a:path>
              </a:pathLst>
            </a:custGeom>
            <a:solidFill>
              <a:srgbClr val="014AAB"/>
            </a:solidFill>
          </p:spPr>
        </p:sp>
        <p:sp>
          <p:nvSpPr>
            <p:cNvPr name="TextBox 45" id="45"/>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sp>
        <p:nvSpPr>
          <p:cNvPr name="Freeform 46" id="46"/>
          <p:cNvSpPr/>
          <p:nvPr/>
        </p:nvSpPr>
        <p:spPr>
          <a:xfrm flipH="false" flipV="false" rot="0">
            <a:off x="14372557" y="9685631"/>
            <a:ext cx="1211471" cy="200443"/>
          </a:xfrm>
          <a:custGeom>
            <a:avLst/>
            <a:gdLst/>
            <a:ahLst/>
            <a:cxnLst/>
            <a:rect r="r" b="b" t="t" l="l"/>
            <a:pathLst>
              <a:path h="200443" w="1211471">
                <a:moveTo>
                  <a:pt x="0" y="0"/>
                </a:moveTo>
                <a:lnTo>
                  <a:pt x="1211471" y="0"/>
                </a:lnTo>
                <a:lnTo>
                  <a:pt x="1211471" y="200444"/>
                </a:lnTo>
                <a:lnTo>
                  <a:pt x="0" y="2004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7" id="47"/>
          <p:cNvGrpSpPr/>
          <p:nvPr/>
        </p:nvGrpSpPr>
        <p:grpSpPr>
          <a:xfrm rot="-10800000">
            <a:off x="779460" y="-3002706"/>
            <a:ext cx="4863131" cy="4552719"/>
            <a:chOff x="0" y="0"/>
            <a:chExt cx="596900" cy="558800"/>
          </a:xfrm>
        </p:grpSpPr>
        <p:sp>
          <p:nvSpPr>
            <p:cNvPr name="Freeform 48" id="48"/>
            <p:cNvSpPr/>
            <p:nvPr/>
          </p:nvSpPr>
          <p:spPr>
            <a:xfrm flipH="false" flipV="false" rot="0">
              <a:off x="0" y="0"/>
              <a:ext cx="596900" cy="558800"/>
            </a:xfrm>
            <a:custGeom>
              <a:avLst/>
              <a:gdLst/>
              <a:ahLst/>
              <a:cxnLst/>
              <a:rect r="r" b="b" t="t" l="l"/>
              <a:pathLst>
                <a:path h="558800" w="596900">
                  <a:moveTo>
                    <a:pt x="596900" y="18706"/>
                  </a:moveTo>
                  <a:lnTo>
                    <a:pt x="596900" y="286094"/>
                  </a:lnTo>
                  <a:cubicBezTo>
                    <a:pt x="596900" y="298039"/>
                    <a:pt x="592004" y="309462"/>
                    <a:pt x="583355" y="317700"/>
                  </a:cubicBezTo>
                  <a:lnTo>
                    <a:pt x="343745" y="545900"/>
                  </a:lnTo>
                  <a:cubicBezTo>
                    <a:pt x="335050" y="554181"/>
                    <a:pt x="323502" y="558800"/>
                    <a:pt x="311494" y="558800"/>
                  </a:cubicBezTo>
                  <a:lnTo>
                    <a:pt x="18706" y="558800"/>
                  </a:lnTo>
                  <a:cubicBezTo>
                    <a:pt x="13745" y="558800"/>
                    <a:pt x="8987" y="556829"/>
                    <a:pt x="5479" y="553321"/>
                  </a:cubicBezTo>
                  <a:cubicBezTo>
                    <a:pt x="1971" y="549813"/>
                    <a:pt x="0" y="545055"/>
                    <a:pt x="0" y="540094"/>
                  </a:cubicBezTo>
                  <a:lnTo>
                    <a:pt x="0" y="267626"/>
                  </a:lnTo>
                  <a:cubicBezTo>
                    <a:pt x="0" y="255684"/>
                    <a:pt x="4912" y="244269"/>
                    <a:pt x="13583" y="236059"/>
                  </a:cubicBezTo>
                  <a:lnTo>
                    <a:pt x="249307" y="12861"/>
                  </a:lnTo>
                  <a:cubicBezTo>
                    <a:pt x="258029" y="4603"/>
                    <a:pt x="269584" y="0"/>
                    <a:pt x="281596" y="0"/>
                  </a:cubicBezTo>
                  <a:lnTo>
                    <a:pt x="578194" y="0"/>
                  </a:lnTo>
                  <a:cubicBezTo>
                    <a:pt x="583155" y="0"/>
                    <a:pt x="587913" y="1971"/>
                    <a:pt x="591421" y="5479"/>
                  </a:cubicBezTo>
                  <a:cubicBezTo>
                    <a:pt x="594929" y="8987"/>
                    <a:pt x="596900" y="13745"/>
                    <a:pt x="596900" y="18706"/>
                  </a:cubicBezTo>
                  <a:close/>
                </a:path>
              </a:pathLst>
            </a:custGeom>
            <a:ln w="85725" cap="sq">
              <a:solidFill>
                <a:srgbClr val="8DABD2"/>
              </a:solidFill>
              <a:prstDash val="solid"/>
              <a:miter/>
            </a:ln>
          </p:spPr>
        </p:sp>
        <p:sp>
          <p:nvSpPr>
            <p:cNvPr name="TextBox 49" id="49"/>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50" id="50"/>
          <p:cNvGrpSpPr/>
          <p:nvPr/>
        </p:nvGrpSpPr>
        <p:grpSpPr>
          <a:xfrm rot="-10800000">
            <a:off x="1174301" y="-2633068"/>
            <a:ext cx="4073450" cy="3813443"/>
            <a:chOff x="0" y="0"/>
            <a:chExt cx="596900" cy="558800"/>
          </a:xfrm>
        </p:grpSpPr>
        <p:sp>
          <p:nvSpPr>
            <p:cNvPr name="Freeform 51" id="51"/>
            <p:cNvSpPr/>
            <p:nvPr/>
          </p:nvSpPr>
          <p:spPr>
            <a:xfrm flipH="false" flipV="false" rot="0">
              <a:off x="0" y="0"/>
              <a:ext cx="596900" cy="558800"/>
            </a:xfrm>
            <a:custGeom>
              <a:avLst/>
              <a:gdLst/>
              <a:ahLst/>
              <a:cxnLst/>
              <a:rect r="r" b="b" t="t" l="l"/>
              <a:pathLst>
                <a:path h="558800" w="596900">
                  <a:moveTo>
                    <a:pt x="596900" y="22332"/>
                  </a:moveTo>
                  <a:lnTo>
                    <a:pt x="596900" y="282468"/>
                  </a:lnTo>
                  <a:cubicBezTo>
                    <a:pt x="596900" y="296729"/>
                    <a:pt x="591055" y="310366"/>
                    <a:pt x="580729" y="320201"/>
                  </a:cubicBezTo>
                  <a:lnTo>
                    <a:pt x="346371" y="543399"/>
                  </a:lnTo>
                  <a:cubicBezTo>
                    <a:pt x="335990" y="553285"/>
                    <a:pt x="322204" y="558800"/>
                    <a:pt x="307868" y="558800"/>
                  </a:cubicBezTo>
                  <a:lnTo>
                    <a:pt x="22332" y="558800"/>
                  </a:lnTo>
                  <a:cubicBezTo>
                    <a:pt x="16409" y="558800"/>
                    <a:pt x="10729" y="556447"/>
                    <a:pt x="6541" y="552259"/>
                  </a:cubicBezTo>
                  <a:cubicBezTo>
                    <a:pt x="2353" y="548071"/>
                    <a:pt x="0" y="542391"/>
                    <a:pt x="0" y="536468"/>
                  </a:cubicBezTo>
                  <a:lnTo>
                    <a:pt x="0" y="271252"/>
                  </a:lnTo>
                  <a:cubicBezTo>
                    <a:pt x="0" y="256996"/>
                    <a:pt x="5864" y="243367"/>
                    <a:pt x="16216" y="233566"/>
                  </a:cubicBezTo>
                  <a:lnTo>
                    <a:pt x="246674" y="15354"/>
                  </a:lnTo>
                  <a:cubicBezTo>
                    <a:pt x="257087" y="5495"/>
                    <a:pt x="270882" y="0"/>
                    <a:pt x="285222" y="0"/>
                  </a:cubicBezTo>
                  <a:lnTo>
                    <a:pt x="574568" y="0"/>
                  </a:lnTo>
                  <a:cubicBezTo>
                    <a:pt x="580491" y="0"/>
                    <a:pt x="586171" y="2353"/>
                    <a:pt x="590359" y="6541"/>
                  </a:cubicBezTo>
                  <a:cubicBezTo>
                    <a:pt x="594547" y="10729"/>
                    <a:pt x="596900" y="16409"/>
                    <a:pt x="596900" y="22332"/>
                  </a:cubicBezTo>
                  <a:close/>
                </a:path>
              </a:pathLst>
            </a:custGeom>
            <a:solidFill>
              <a:srgbClr val="014AAB"/>
            </a:solidFill>
          </p:spPr>
        </p:sp>
        <p:sp>
          <p:nvSpPr>
            <p:cNvPr name="TextBox 52" id="52"/>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53" id="53"/>
          <p:cNvGrpSpPr/>
          <p:nvPr/>
        </p:nvGrpSpPr>
        <p:grpSpPr>
          <a:xfrm rot="0">
            <a:off x="-1338322" y="845118"/>
            <a:ext cx="4235564" cy="935169"/>
            <a:chOff x="0" y="0"/>
            <a:chExt cx="1115539" cy="246300"/>
          </a:xfrm>
        </p:grpSpPr>
        <p:sp>
          <p:nvSpPr>
            <p:cNvPr name="Freeform 54" id="54"/>
            <p:cNvSpPr/>
            <p:nvPr/>
          </p:nvSpPr>
          <p:spPr>
            <a:xfrm flipH="false" flipV="false" rot="0">
              <a:off x="0" y="0"/>
              <a:ext cx="1115539" cy="246300"/>
            </a:xfrm>
            <a:custGeom>
              <a:avLst/>
              <a:gdLst/>
              <a:ahLst/>
              <a:cxnLst/>
              <a:rect r="r" b="b" t="t" l="l"/>
              <a:pathLst>
                <a:path h="246300" w="1115539">
                  <a:moveTo>
                    <a:pt x="63974" y="0"/>
                  </a:moveTo>
                  <a:lnTo>
                    <a:pt x="1051565" y="0"/>
                  </a:lnTo>
                  <a:cubicBezTo>
                    <a:pt x="1086897" y="0"/>
                    <a:pt x="1115539" y="28642"/>
                    <a:pt x="1115539" y="63974"/>
                  </a:cubicBezTo>
                  <a:lnTo>
                    <a:pt x="1115539" y="182325"/>
                  </a:lnTo>
                  <a:cubicBezTo>
                    <a:pt x="1115539" y="217657"/>
                    <a:pt x="1086897" y="246300"/>
                    <a:pt x="1051565" y="246300"/>
                  </a:cubicBezTo>
                  <a:lnTo>
                    <a:pt x="63974" y="246300"/>
                  </a:lnTo>
                  <a:cubicBezTo>
                    <a:pt x="28642" y="246300"/>
                    <a:pt x="0" y="217657"/>
                    <a:pt x="0" y="182325"/>
                  </a:cubicBezTo>
                  <a:lnTo>
                    <a:pt x="0" y="63974"/>
                  </a:lnTo>
                  <a:cubicBezTo>
                    <a:pt x="0" y="28642"/>
                    <a:pt x="28642" y="0"/>
                    <a:pt x="63974" y="0"/>
                  </a:cubicBezTo>
                  <a:close/>
                </a:path>
              </a:pathLst>
            </a:custGeom>
            <a:solidFill>
              <a:srgbClr val="FFFFFF"/>
            </a:solidFill>
          </p:spPr>
        </p:sp>
        <p:sp>
          <p:nvSpPr>
            <p:cNvPr name="TextBox 55" id="55"/>
            <p:cNvSpPr txBox="true"/>
            <p:nvPr/>
          </p:nvSpPr>
          <p:spPr>
            <a:xfrm>
              <a:off x="0" y="-57150"/>
              <a:ext cx="1115539" cy="303450"/>
            </a:xfrm>
            <a:prstGeom prst="rect">
              <a:avLst/>
            </a:prstGeom>
          </p:spPr>
          <p:txBody>
            <a:bodyPr anchor="ctr" rtlCol="false" tIns="50800" lIns="50800" bIns="50800" rIns="50800"/>
            <a:lstStyle/>
            <a:p>
              <a:pPr algn="ctr" marL="0" indent="0" lvl="0">
                <a:lnSpc>
                  <a:spcPts val="3220"/>
                </a:lnSpc>
              </a:pPr>
            </a:p>
          </p:txBody>
        </p:sp>
      </p:grpSp>
      <p:sp>
        <p:nvSpPr>
          <p:cNvPr name="Freeform 56" id="56"/>
          <p:cNvSpPr/>
          <p:nvPr/>
        </p:nvSpPr>
        <p:spPr>
          <a:xfrm flipH="false" flipV="false" rot="0">
            <a:off x="568565" y="1680065"/>
            <a:ext cx="1211471" cy="200443"/>
          </a:xfrm>
          <a:custGeom>
            <a:avLst/>
            <a:gdLst/>
            <a:ahLst/>
            <a:cxnLst/>
            <a:rect r="r" b="b" t="t" l="l"/>
            <a:pathLst>
              <a:path h="200443" w="1211471">
                <a:moveTo>
                  <a:pt x="0" y="0"/>
                </a:moveTo>
                <a:lnTo>
                  <a:pt x="1211471" y="0"/>
                </a:lnTo>
                <a:lnTo>
                  <a:pt x="1211471" y="200444"/>
                </a:lnTo>
                <a:lnTo>
                  <a:pt x="0" y="2004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7" id="57"/>
          <p:cNvSpPr/>
          <p:nvPr/>
        </p:nvSpPr>
        <p:spPr>
          <a:xfrm flipH="true" flipV="true" rot="0">
            <a:off x="402289" y="8450265"/>
            <a:ext cx="1248992" cy="1235367"/>
          </a:xfrm>
          <a:custGeom>
            <a:avLst/>
            <a:gdLst/>
            <a:ahLst/>
            <a:cxnLst/>
            <a:rect r="r" b="b" t="t" l="l"/>
            <a:pathLst>
              <a:path h="1235367" w="1248992">
                <a:moveTo>
                  <a:pt x="1248992" y="1235366"/>
                </a:moveTo>
                <a:lnTo>
                  <a:pt x="0" y="1235366"/>
                </a:lnTo>
                <a:lnTo>
                  <a:pt x="0" y="0"/>
                </a:lnTo>
                <a:lnTo>
                  <a:pt x="1248992" y="0"/>
                </a:lnTo>
                <a:lnTo>
                  <a:pt x="1248992" y="1235366"/>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58" id="58"/>
          <p:cNvSpPr/>
          <p:nvPr/>
        </p:nvSpPr>
        <p:spPr>
          <a:xfrm flipH="false" flipV="false" rot="0">
            <a:off x="16130060" y="845118"/>
            <a:ext cx="1370117" cy="1355170"/>
          </a:xfrm>
          <a:custGeom>
            <a:avLst/>
            <a:gdLst/>
            <a:ahLst/>
            <a:cxnLst/>
            <a:rect r="r" b="b" t="t" l="l"/>
            <a:pathLst>
              <a:path h="1355170" w="1370117">
                <a:moveTo>
                  <a:pt x="0" y="0"/>
                </a:moveTo>
                <a:lnTo>
                  <a:pt x="1370117" y="0"/>
                </a:lnTo>
                <a:lnTo>
                  <a:pt x="1370117" y="1355171"/>
                </a:lnTo>
                <a:lnTo>
                  <a:pt x="0" y="135517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801911" y="-787414"/>
            <a:ext cx="6005760" cy="5622414"/>
            <a:chOff x="0" y="0"/>
            <a:chExt cx="596900" cy="558800"/>
          </a:xfrm>
        </p:grpSpPr>
        <p:sp>
          <p:nvSpPr>
            <p:cNvPr name="Freeform 3" id="3"/>
            <p:cNvSpPr/>
            <p:nvPr/>
          </p:nvSpPr>
          <p:spPr>
            <a:xfrm flipH="false" flipV="false" rot="0">
              <a:off x="0" y="0"/>
              <a:ext cx="596900" cy="558800"/>
            </a:xfrm>
            <a:custGeom>
              <a:avLst/>
              <a:gdLst/>
              <a:ahLst/>
              <a:cxnLst/>
              <a:rect r="r" b="b" t="t" l="l"/>
              <a:pathLst>
                <a:path h="558800" w="596900">
                  <a:moveTo>
                    <a:pt x="596900" y="15147"/>
                  </a:moveTo>
                  <a:lnTo>
                    <a:pt x="596900" y="289653"/>
                  </a:lnTo>
                  <a:cubicBezTo>
                    <a:pt x="596900" y="299326"/>
                    <a:pt x="592936" y="308575"/>
                    <a:pt x="585932" y="315246"/>
                  </a:cubicBezTo>
                  <a:lnTo>
                    <a:pt x="341168" y="548354"/>
                  </a:lnTo>
                  <a:cubicBezTo>
                    <a:pt x="334127" y="555060"/>
                    <a:pt x="324777" y="558800"/>
                    <a:pt x="315053" y="558800"/>
                  </a:cubicBezTo>
                  <a:lnTo>
                    <a:pt x="15147" y="558800"/>
                  </a:lnTo>
                  <a:cubicBezTo>
                    <a:pt x="6781" y="558800"/>
                    <a:pt x="0" y="552019"/>
                    <a:pt x="0" y="543653"/>
                  </a:cubicBezTo>
                  <a:lnTo>
                    <a:pt x="0" y="264067"/>
                  </a:lnTo>
                  <a:cubicBezTo>
                    <a:pt x="0" y="254397"/>
                    <a:pt x="3977" y="245154"/>
                    <a:pt x="10999" y="238506"/>
                  </a:cubicBezTo>
                  <a:lnTo>
                    <a:pt x="251891" y="10414"/>
                  </a:lnTo>
                  <a:cubicBezTo>
                    <a:pt x="258954" y="3727"/>
                    <a:pt x="268311" y="0"/>
                    <a:pt x="278037" y="0"/>
                  </a:cubicBezTo>
                  <a:lnTo>
                    <a:pt x="581753" y="0"/>
                  </a:lnTo>
                  <a:cubicBezTo>
                    <a:pt x="590119" y="0"/>
                    <a:pt x="596900" y="6781"/>
                    <a:pt x="596900" y="15147"/>
                  </a:cubicBezTo>
                  <a:close/>
                </a:path>
              </a:pathLst>
            </a:custGeom>
            <a:solidFill>
              <a:srgbClr val="014AAB">
                <a:alpha val="5882"/>
              </a:srgbClr>
            </a:solidFill>
          </p:spPr>
        </p:sp>
        <p:sp>
          <p:nvSpPr>
            <p:cNvPr name="TextBox 4" id="4"/>
            <p:cNvSpPr txBox="true"/>
            <p:nvPr/>
          </p:nvSpPr>
          <p:spPr>
            <a:xfrm>
              <a:off x="101600" y="76200"/>
              <a:ext cx="393700" cy="350520"/>
            </a:xfrm>
            <a:prstGeom prst="rect">
              <a:avLst/>
            </a:prstGeom>
          </p:spPr>
          <p:txBody>
            <a:bodyPr anchor="ctr" rtlCol="false" tIns="50800" lIns="50800" bIns="50800" rIns="50800"/>
            <a:lstStyle/>
            <a:p>
              <a:pPr algn="l" marL="0" indent="0" lvl="0">
                <a:lnSpc>
                  <a:spcPts val="3220"/>
                </a:lnSpc>
              </a:pPr>
            </a:p>
          </p:txBody>
        </p:sp>
      </p:grpSp>
      <p:grpSp>
        <p:nvGrpSpPr>
          <p:cNvPr name="Group 5" id="5"/>
          <p:cNvGrpSpPr/>
          <p:nvPr/>
        </p:nvGrpSpPr>
        <p:grpSpPr>
          <a:xfrm rot="-5400000">
            <a:off x="-875342" y="3892899"/>
            <a:ext cx="1750683" cy="1638937"/>
            <a:chOff x="0" y="0"/>
            <a:chExt cx="596900" cy="558800"/>
          </a:xfrm>
        </p:grpSpPr>
        <p:sp>
          <p:nvSpPr>
            <p:cNvPr name="Freeform 6" id="6"/>
            <p:cNvSpPr/>
            <p:nvPr/>
          </p:nvSpPr>
          <p:spPr>
            <a:xfrm flipH="false" flipV="false" rot="0">
              <a:off x="0" y="0"/>
              <a:ext cx="596900" cy="558800"/>
            </a:xfrm>
            <a:custGeom>
              <a:avLst/>
              <a:gdLst/>
              <a:ahLst/>
              <a:cxnLst/>
              <a:rect r="r" b="b" t="t" l="l"/>
              <a:pathLst>
                <a:path h="558800" w="596900">
                  <a:moveTo>
                    <a:pt x="596900" y="51961"/>
                  </a:moveTo>
                  <a:lnTo>
                    <a:pt x="596900" y="252839"/>
                  </a:lnTo>
                  <a:cubicBezTo>
                    <a:pt x="596900" y="286020"/>
                    <a:pt x="583301" y="317752"/>
                    <a:pt x="559273" y="340635"/>
                  </a:cubicBezTo>
                  <a:lnTo>
                    <a:pt x="367827" y="522965"/>
                  </a:lnTo>
                  <a:cubicBezTo>
                    <a:pt x="343673" y="545969"/>
                    <a:pt x="311595" y="558800"/>
                    <a:pt x="278239" y="558800"/>
                  </a:cubicBezTo>
                  <a:lnTo>
                    <a:pt x="51961" y="558800"/>
                  </a:lnTo>
                  <a:cubicBezTo>
                    <a:pt x="23264" y="558800"/>
                    <a:pt x="0" y="535536"/>
                    <a:pt x="0" y="506839"/>
                  </a:cubicBezTo>
                  <a:lnTo>
                    <a:pt x="0" y="300881"/>
                  </a:lnTo>
                  <a:cubicBezTo>
                    <a:pt x="0" y="267711"/>
                    <a:pt x="13645" y="236001"/>
                    <a:pt x="37731" y="213194"/>
                  </a:cubicBezTo>
                  <a:lnTo>
                    <a:pt x="225159" y="35726"/>
                  </a:lnTo>
                  <a:cubicBezTo>
                    <a:pt x="249387" y="12785"/>
                    <a:pt x="281485" y="0"/>
                    <a:pt x="314851" y="0"/>
                  </a:cubicBezTo>
                  <a:lnTo>
                    <a:pt x="544939" y="0"/>
                  </a:lnTo>
                  <a:cubicBezTo>
                    <a:pt x="573636" y="0"/>
                    <a:pt x="596900" y="23264"/>
                    <a:pt x="596900" y="51961"/>
                  </a:cubicBezTo>
                  <a:close/>
                </a:path>
              </a:pathLst>
            </a:custGeom>
            <a:solidFill>
              <a:srgbClr val="014AAB">
                <a:alpha val="5882"/>
              </a:srgbClr>
            </a:solidFill>
          </p:spPr>
        </p:sp>
        <p:sp>
          <p:nvSpPr>
            <p:cNvPr name="TextBox 7" id="7"/>
            <p:cNvSpPr txBox="true"/>
            <p:nvPr/>
          </p:nvSpPr>
          <p:spPr>
            <a:xfrm>
              <a:off x="101600" y="76200"/>
              <a:ext cx="393700" cy="350520"/>
            </a:xfrm>
            <a:prstGeom prst="rect">
              <a:avLst/>
            </a:prstGeom>
          </p:spPr>
          <p:txBody>
            <a:bodyPr anchor="ctr" rtlCol="false" tIns="50800" lIns="50800" bIns="50800" rIns="50800"/>
            <a:lstStyle/>
            <a:p>
              <a:pPr algn="l" marL="0" indent="0" lvl="0">
                <a:lnSpc>
                  <a:spcPts val="3220"/>
                </a:lnSpc>
              </a:pPr>
            </a:p>
          </p:txBody>
        </p:sp>
      </p:grpSp>
      <p:sp>
        <p:nvSpPr>
          <p:cNvPr name="AutoShape 8" id="8"/>
          <p:cNvSpPr/>
          <p:nvPr/>
        </p:nvSpPr>
        <p:spPr>
          <a:xfrm flipV="true">
            <a:off x="-2427509" y="4202699"/>
            <a:ext cx="7232336" cy="0"/>
          </a:xfrm>
          <a:prstGeom prst="line">
            <a:avLst/>
          </a:prstGeom>
          <a:ln cap="rnd" w="38100">
            <a:solidFill>
              <a:srgbClr val="8DABD2"/>
            </a:solidFill>
            <a:prstDash val="solid"/>
            <a:headEnd type="none" len="sm" w="sm"/>
            <a:tailEnd type="none" len="sm" w="sm"/>
          </a:ln>
        </p:spPr>
      </p:sp>
      <p:grpSp>
        <p:nvGrpSpPr>
          <p:cNvPr name="Group 9" id="9"/>
          <p:cNvGrpSpPr/>
          <p:nvPr/>
        </p:nvGrpSpPr>
        <p:grpSpPr>
          <a:xfrm rot="5400000">
            <a:off x="10005635" y="6369713"/>
            <a:ext cx="5129706" cy="4802278"/>
            <a:chOff x="0" y="0"/>
            <a:chExt cx="596900" cy="558800"/>
          </a:xfrm>
        </p:grpSpPr>
        <p:sp>
          <p:nvSpPr>
            <p:cNvPr name="Freeform 10" id="10"/>
            <p:cNvSpPr/>
            <p:nvPr/>
          </p:nvSpPr>
          <p:spPr>
            <a:xfrm flipH="false" flipV="false" rot="0">
              <a:off x="0" y="0"/>
              <a:ext cx="596900" cy="558800"/>
            </a:xfrm>
            <a:custGeom>
              <a:avLst/>
              <a:gdLst/>
              <a:ahLst/>
              <a:cxnLst/>
              <a:rect r="r" b="b" t="t" l="l"/>
              <a:pathLst>
                <a:path h="558800" w="596900">
                  <a:moveTo>
                    <a:pt x="596900" y="17733"/>
                  </a:moveTo>
                  <a:lnTo>
                    <a:pt x="596900" y="287067"/>
                  </a:lnTo>
                  <a:cubicBezTo>
                    <a:pt x="596900" y="298391"/>
                    <a:pt x="592259" y="309220"/>
                    <a:pt x="584058" y="317030"/>
                  </a:cubicBezTo>
                  <a:lnTo>
                    <a:pt x="343041" y="546570"/>
                  </a:lnTo>
                  <a:cubicBezTo>
                    <a:pt x="334798" y="554421"/>
                    <a:pt x="323850" y="558800"/>
                    <a:pt x="312467" y="558800"/>
                  </a:cubicBezTo>
                  <a:lnTo>
                    <a:pt x="17733" y="558800"/>
                  </a:lnTo>
                  <a:cubicBezTo>
                    <a:pt x="13030" y="558800"/>
                    <a:pt x="8520" y="556932"/>
                    <a:pt x="5194" y="553606"/>
                  </a:cubicBezTo>
                  <a:cubicBezTo>
                    <a:pt x="1868" y="550280"/>
                    <a:pt x="0" y="545770"/>
                    <a:pt x="0" y="541067"/>
                  </a:cubicBezTo>
                  <a:lnTo>
                    <a:pt x="0" y="266653"/>
                  </a:lnTo>
                  <a:cubicBezTo>
                    <a:pt x="0" y="255333"/>
                    <a:pt x="4657" y="244511"/>
                    <a:pt x="12877" y="236727"/>
                  </a:cubicBezTo>
                  <a:lnTo>
                    <a:pt x="250013" y="12193"/>
                  </a:lnTo>
                  <a:cubicBezTo>
                    <a:pt x="258282" y="4363"/>
                    <a:pt x="269236" y="0"/>
                    <a:pt x="280623" y="0"/>
                  </a:cubicBezTo>
                  <a:lnTo>
                    <a:pt x="579167" y="0"/>
                  </a:lnTo>
                  <a:cubicBezTo>
                    <a:pt x="583870" y="0"/>
                    <a:pt x="588380" y="1868"/>
                    <a:pt x="591706" y="5194"/>
                  </a:cubicBezTo>
                  <a:cubicBezTo>
                    <a:pt x="595032" y="8520"/>
                    <a:pt x="596900" y="13030"/>
                    <a:pt x="596900" y="17733"/>
                  </a:cubicBezTo>
                  <a:close/>
                </a:path>
              </a:pathLst>
            </a:custGeom>
            <a:ln w="190500" cap="sq">
              <a:solidFill>
                <a:srgbClr val="8DABD2"/>
              </a:solidFill>
              <a:prstDash val="solid"/>
              <a:miter/>
            </a:ln>
          </p:spPr>
        </p:sp>
        <p:sp>
          <p:nvSpPr>
            <p:cNvPr name="TextBox 11" id="11"/>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2" id="12"/>
          <p:cNvGrpSpPr/>
          <p:nvPr/>
        </p:nvGrpSpPr>
        <p:grpSpPr>
          <a:xfrm rot="-5400000">
            <a:off x="9304440" y="1157886"/>
            <a:ext cx="11455664" cy="10724451"/>
            <a:chOff x="0" y="0"/>
            <a:chExt cx="596900" cy="558800"/>
          </a:xfrm>
        </p:grpSpPr>
        <p:sp>
          <p:nvSpPr>
            <p:cNvPr name="Freeform 13" id="13"/>
            <p:cNvSpPr/>
            <p:nvPr/>
          </p:nvSpPr>
          <p:spPr>
            <a:xfrm flipH="false" flipV="false" rot="0">
              <a:off x="0" y="0"/>
              <a:ext cx="596900" cy="558800"/>
            </a:xfrm>
            <a:custGeom>
              <a:avLst/>
              <a:gdLst/>
              <a:ahLst/>
              <a:cxnLst/>
              <a:rect r="r" b="b" t="t" l="l"/>
              <a:pathLst>
                <a:path h="558800" w="596900">
                  <a:moveTo>
                    <a:pt x="596900" y="35734"/>
                  </a:moveTo>
                  <a:lnTo>
                    <a:pt x="596900" y="269066"/>
                  </a:lnTo>
                  <a:cubicBezTo>
                    <a:pt x="596900" y="291885"/>
                    <a:pt x="587548" y="313707"/>
                    <a:pt x="571024" y="329444"/>
                  </a:cubicBezTo>
                  <a:lnTo>
                    <a:pt x="356076" y="534156"/>
                  </a:lnTo>
                  <a:cubicBezTo>
                    <a:pt x="339465" y="549976"/>
                    <a:pt x="317405" y="558800"/>
                    <a:pt x="294466" y="558800"/>
                  </a:cubicBezTo>
                  <a:lnTo>
                    <a:pt x="35734" y="558800"/>
                  </a:lnTo>
                  <a:cubicBezTo>
                    <a:pt x="26257" y="558800"/>
                    <a:pt x="17168" y="555035"/>
                    <a:pt x="10466" y="548334"/>
                  </a:cubicBezTo>
                  <a:cubicBezTo>
                    <a:pt x="3765" y="541632"/>
                    <a:pt x="0" y="532543"/>
                    <a:pt x="0" y="523066"/>
                  </a:cubicBezTo>
                  <a:lnTo>
                    <a:pt x="0" y="284654"/>
                  </a:lnTo>
                  <a:cubicBezTo>
                    <a:pt x="0" y="261842"/>
                    <a:pt x="9383" y="240035"/>
                    <a:pt x="25948" y="224351"/>
                  </a:cubicBezTo>
                  <a:lnTo>
                    <a:pt x="236942" y="24569"/>
                  </a:lnTo>
                  <a:cubicBezTo>
                    <a:pt x="253604" y="8792"/>
                    <a:pt x="275678" y="0"/>
                    <a:pt x="298624" y="0"/>
                  </a:cubicBezTo>
                  <a:lnTo>
                    <a:pt x="561166" y="0"/>
                  </a:lnTo>
                  <a:cubicBezTo>
                    <a:pt x="570643" y="0"/>
                    <a:pt x="579732" y="3765"/>
                    <a:pt x="586434" y="10466"/>
                  </a:cubicBezTo>
                  <a:cubicBezTo>
                    <a:pt x="593135" y="17168"/>
                    <a:pt x="596900" y="26257"/>
                    <a:pt x="596900" y="35734"/>
                  </a:cubicBezTo>
                  <a:close/>
                </a:path>
              </a:pathLst>
            </a:custGeom>
            <a:solidFill>
              <a:srgbClr val="014AAB"/>
            </a:solidFill>
          </p:spPr>
        </p:sp>
        <p:sp>
          <p:nvSpPr>
            <p:cNvPr name="TextBox 14" id="14"/>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5" id="15"/>
          <p:cNvGrpSpPr/>
          <p:nvPr/>
        </p:nvGrpSpPr>
        <p:grpSpPr>
          <a:xfrm rot="0">
            <a:off x="10169349" y="1886002"/>
            <a:ext cx="5981727" cy="6734474"/>
            <a:chOff x="0" y="0"/>
            <a:chExt cx="1575434" cy="1773689"/>
          </a:xfrm>
        </p:grpSpPr>
        <p:sp>
          <p:nvSpPr>
            <p:cNvPr name="Freeform 16" id="16"/>
            <p:cNvSpPr/>
            <p:nvPr/>
          </p:nvSpPr>
          <p:spPr>
            <a:xfrm flipH="false" flipV="false" rot="0">
              <a:off x="0" y="0"/>
              <a:ext cx="1575434" cy="1773689"/>
            </a:xfrm>
            <a:custGeom>
              <a:avLst/>
              <a:gdLst/>
              <a:ahLst/>
              <a:cxnLst/>
              <a:rect r="r" b="b" t="t" l="l"/>
              <a:pathLst>
                <a:path h="1773689" w="1575434">
                  <a:moveTo>
                    <a:pt x="38828" y="0"/>
                  </a:moveTo>
                  <a:lnTo>
                    <a:pt x="1536606" y="0"/>
                  </a:lnTo>
                  <a:cubicBezTo>
                    <a:pt x="1546904" y="0"/>
                    <a:pt x="1556780" y="4091"/>
                    <a:pt x="1564062" y="11372"/>
                  </a:cubicBezTo>
                  <a:cubicBezTo>
                    <a:pt x="1571344" y="18654"/>
                    <a:pt x="1575434" y="28530"/>
                    <a:pt x="1575434" y="38828"/>
                  </a:cubicBezTo>
                  <a:lnTo>
                    <a:pt x="1575434" y="1734861"/>
                  </a:lnTo>
                  <a:cubicBezTo>
                    <a:pt x="1575434" y="1756305"/>
                    <a:pt x="1558050" y="1773689"/>
                    <a:pt x="1536606" y="1773689"/>
                  </a:cubicBezTo>
                  <a:lnTo>
                    <a:pt x="38828" y="1773689"/>
                  </a:lnTo>
                  <a:cubicBezTo>
                    <a:pt x="17384" y="1773689"/>
                    <a:pt x="0" y="1756305"/>
                    <a:pt x="0" y="1734861"/>
                  </a:cubicBezTo>
                  <a:lnTo>
                    <a:pt x="0" y="38828"/>
                  </a:lnTo>
                  <a:cubicBezTo>
                    <a:pt x="0" y="17384"/>
                    <a:pt x="17384" y="0"/>
                    <a:pt x="38828" y="0"/>
                  </a:cubicBezTo>
                  <a:close/>
                </a:path>
              </a:pathLst>
            </a:custGeom>
            <a:solidFill>
              <a:srgbClr val="FFFFFF"/>
            </a:solidFill>
          </p:spPr>
        </p:sp>
        <p:sp>
          <p:nvSpPr>
            <p:cNvPr name="TextBox 17" id="17"/>
            <p:cNvSpPr txBox="true"/>
            <p:nvPr/>
          </p:nvSpPr>
          <p:spPr>
            <a:xfrm>
              <a:off x="0" y="-57150"/>
              <a:ext cx="1575434" cy="1830839"/>
            </a:xfrm>
            <a:prstGeom prst="rect">
              <a:avLst/>
            </a:prstGeom>
          </p:spPr>
          <p:txBody>
            <a:bodyPr anchor="ctr" rtlCol="false" tIns="50800" lIns="50800" bIns="50800" rIns="50800"/>
            <a:lstStyle/>
            <a:p>
              <a:pPr algn="ctr" marL="0" indent="0" lvl="0">
                <a:lnSpc>
                  <a:spcPts val="3220"/>
                </a:lnSpc>
              </a:pPr>
            </a:p>
          </p:txBody>
        </p:sp>
      </p:grpSp>
      <p:sp>
        <p:nvSpPr>
          <p:cNvPr name="TextBox 18" id="18"/>
          <p:cNvSpPr txBox="true"/>
          <p:nvPr/>
        </p:nvSpPr>
        <p:spPr>
          <a:xfrm rot="0">
            <a:off x="1202761" y="1893956"/>
            <a:ext cx="8115300" cy="1942966"/>
          </a:xfrm>
          <a:prstGeom prst="rect">
            <a:avLst/>
          </a:prstGeom>
        </p:spPr>
        <p:txBody>
          <a:bodyPr anchor="t" rtlCol="false" tIns="0" lIns="0" bIns="0" rIns="0">
            <a:spAutoFit/>
          </a:bodyPr>
          <a:lstStyle/>
          <a:p>
            <a:pPr algn="l" marL="0" indent="0" lvl="0">
              <a:lnSpc>
                <a:spcPts val="7494"/>
              </a:lnSpc>
            </a:pPr>
            <a:r>
              <a:rPr lang="en-US" b="true" sz="7494" spc="149">
                <a:solidFill>
                  <a:srgbClr val="011A3C"/>
                </a:solidFill>
                <a:latin typeface="Gotham Bold"/>
                <a:ea typeface="Gotham Bold"/>
                <a:cs typeface="Gotham Bold"/>
                <a:sym typeface="Gotham Bold"/>
              </a:rPr>
              <a:t>Innovaciones</a:t>
            </a:r>
          </a:p>
          <a:p>
            <a:pPr algn="l" marL="0" indent="0" lvl="0">
              <a:lnSpc>
                <a:spcPts val="7494"/>
              </a:lnSpc>
            </a:pPr>
            <a:r>
              <a:rPr lang="en-US" b="true" sz="7494" spc="149">
                <a:solidFill>
                  <a:srgbClr val="011A3C"/>
                </a:solidFill>
                <a:latin typeface="Gotham Bold"/>
                <a:ea typeface="Gotham Bold"/>
                <a:cs typeface="Gotham Bold"/>
                <a:sym typeface="Gotham Bold"/>
              </a:rPr>
              <a:t>Clave (Parte 2)</a:t>
            </a:r>
          </a:p>
        </p:txBody>
      </p:sp>
      <p:sp>
        <p:nvSpPr>
          <p:cNvPr name="Freeform 19" id="19"/>
          <p:cNvSpPr/>
          <p:nvPr/>
        </p:nvSpPr>
        <p:spPr>
          <a:xfrm flipH="false" flipV="false" rot="0">
            <a:off x="16064016" y="792280"/>
            <a:ext cx="1670629" cy="1652404"/>
          </a:xfrm>
          <a:custGeom>
            <a:avLst/>
            <a:gdLst/>
            <a:ahLst/>
            <a:cxnLst/>
            <a:rect r="r" b="b" t="t" l="l"/>
            <a:pathLst>
              <a:path h="1652404" w="1670629">
                <a:moveTo>
                  <a:pt x="0" y="0"/>
                </a:moveTo>
                <a:lnTo>
                  <a:pt x="1670629" y="0"/>
                </a:lnTo>
                <a:lnTo>
                  <a:pt x="1670629" y="1652404"/>
                </a:lnTo>
                <a:lnTo>
                  <a:pt x="0" y="16524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0" id="20"/>
          <p:cNvGrpSpPr/>
          <p:nvPr/>
        </p:nvGrpSpPr>
        <p:grpSpPr>
          <a:xfrm rot="0">
            <a:off x="1215085" y="6250839"/>
            <a:ext cx="4139340" cy="924316"/>
            <a:chOff x="0" y="0"/>
            <a:chExt cx="1090197" cy="243441"/>
          </a:xfrm>
        </p:grpSpPr>
        <p:sp>
          <p:nvSpPr>
            <p:cNvPr name="Freeform 21" id="21"/>
            <p:cNvSpPr/>
            <p:nvPr/>
          </p:nvSpPr>
          <p:spPr>
            <a:xfrm flipH="false" flipV="false" rot="0">
              <a:off x="0" y="0"/>
              <a:ext cx="1090197" cy="243441"/>
            </a:xfrm>
            <a:custGeom>
              <a:avLst/>
              <a:gdLst/>
              <a:ahLst/>
              <a:cxnLst/>
              <a:rect r="r" b="b" t="t" l="l"/>
              <a:pathLst>
                <a:path h="243441" w="1090197">
                  <a:moveTo>
                    <a:pt x="121721" y="0"/>
                  </a:moveTo>
                  <a:lnTo>
                    <a:pt x="968476" y="0"/>
                  </a:lnTo>
                  <a:cubicBezTo>
                    <a:pt x="1000758" y="0"/>
                    <a:pt x="1031718" y="12824"/>
                    <a:pt x="1054546" y="35651"/>
                  </a:cubicBezTo>
                  <a:cubicBezTo>
                    <a:pt x="1077373" y="58478"/>
                    <a:pt x="1090197" y="89438"/>
                    <a:pt x="1090197" y="121721"/>
                  </a:cubicBezTo>
                  <a:lnTo>
                    <a:pt x="1090197" y="121721"/>
                  </a:lnTo>
                  <a:cubicBezTo>
                    <a:pt x="1090197" y="188945"/>
                    <a:pt x="1035700" y="243441"/>
                    <a:pt x="968476" y="243441"/>
                  </a:cubicBezTo>
                  <a:lnTo>
                    <a:pt x="121721" y="243441"/>
                  </a:lnTo>
                  <a:cubicBezTo>
                    <a:pt x="89438" y="243441"/>
                    <a:pt x="58478" y="230617"/>
                    <a:pt x="35651" y="207790"/>
                  </a:cubicBezTo>
                  <a:cubicBezTo>
                    <a:pt x="12824" y="184963"/>
                    <a:pt x="0" y="154003"/>
                    <a:pt x="0" y="121721"/>
                  </a:cubicBezTo>
                  <a:lnTo>
                    <a:pt x="0" y="121721"/>
                  </a:lnTo>
                  <a:cubicBezTo>
                    <a:pt x="0" y="89438"/>
                    <a:pt x="12824" y="58478"/>
                    <a:pt x="35651" y="35651"/>
                  </a:cubicBezTo>
                  <a:cubicBezTo>
                    <a:pt x="58478" y="12824"/>
                    <a:pt x="89438" y="0"/>
                    <a:pt x="121721" y="0"/>
                  </a:cubicBezTo>
                  <a:close/>
                </a:path>
              </a:pathLst>
            </a:custGeom>
            <a:solidFill>
              <a:srgbClr val="014AAB"/>
            </a:solidFill>
            <a:ln cap="rnd">
              <a:noFill/>
              <a:prstDash val="solid"/>
              <a:round/>
            </a:ln>
          </p:spPr>
        </p:sp>
        <p:sp>
          <p:nvSpPr>
            <p:cNvPr name="TextBox 22" id="22"/>
            <p:cNvSpPr txBox="true"/>
            <p:nvPr/>
          </p:nvSpPr>
          <p:spPr>
            <a:xfrm>
              <a:off x="0" y="-57150"/>
              <a:ext cx="1090197" cy="300591"/>
            </a:xfrm>
            <a:prstGeom prst="rect">
              <a:avLst/>
            </a:prstGeom>
          </p:spPr>
          <p:txBody>
            <a:bodyPr anchor="ctr" rtlCol="false" tIns="50800" lIns="50800" bIns="50800" rIns="50800"/>
            <a:lstStyle/>
            <a:p>
              <a:pPr algn="ctr" marL="0" indent="0" lvl="0">
                <a:lnSpc>
                  <a:spcPts val="3220"/>
                </a:lnSpc>
              </a:pPr>
            </a:p>
          </p:txBody>
        </p:sp>
      </p:grpSp>
      <p:grpSp>
        <p:nvGrpSpPr>
          <p:cNvPr name="Group 23" id="23"/>
          <p:cNvGrpSpPr/>
          <p:nvPr/>
        </p:nvGrpSpPr>
        <p:grpSpPr>
          <a:xfrm rot="0">
            <a:off x="9431105" y="2357718"/>
            <a:ext cx="4731056" cy="1014107"/>
            <a:chOff x="0" y="0"/>
            <a:chExt cx="1246040" cy="267090"/>
          </a:xfrm>
        </p:grpSpPr>
        <p:sp>
          <p:nvSpPr>
            <p:cNvPr name="Freeform 24" id="24"/>
            <p:cNvSpPr/>
            <p:nvPr/>
          </p:nvSpPr>
          <p:spPr>
            <a:xfrm flipH="false" flipV="false" rot="0">
              <a:off x="0" y="0"/>
              <a:ext cx="1246040" cy="267090"/>
            </a:xfrm>
            <a:custGeom>
              <a:avLst/>
              <a:gdLst/>
              <a:ahLst/>
              <a:cxnLst/>
              <a:rect r="r" b="b" t="t" l="l"/>
              <a:pathLst>
                <a:path h="267090" w="1246040">
                  <a:moveTo>
                    <a:pt x="133545" y="0"/>
                  </a:moveTo>
                  <a:lnTo>
                    <a:pt x="1112494" y="0"/>
                  </a:lnTo>
                  <a:cubicBezTo>
                    <a:pt x="1186249" y="0"/>
                    <a:pt x="1246040" y="59790"/>
                    <a:pt x="1246040" y="133545"/>
                  </a:cubicBezTo>
                  <a:lnTo>
                    <a:pt x="1246040" y="133545"/>
                  </a:lnTo>
                  <a:cubicBezTo>
                    <a:pt x="1246040" y="168963"/>
                    <a:pt x="1231970" y="202931"/>
                    <a:pt x="1206925" y="227976"/>
                  </a:cubicBezTo>
                  <a:cubicBezTo>
                    <a:pt x="1181881" y="253020"/>
                    <a:pt x="1147913" y="267090"/>
                    <a:pt x="1112494" y="267090"/>
                  </a:cubicBezTo>
                  <a:lnTo>
                    <a:pt x="133545" y="267090"/>
                  </a:lnTo>
                  <a:cubicBezTo>
                    <a:pt x="98127" y="267090"/>
                    <a:pt x="64159" y="253020"/>
                    <a:pt x="39114" y="227976"/>
                  </a:cubicBezTo>
                  <a:cubicBezTo>
                    <a:pt x="14070" y="202931"/>
                    <a:pt x="0" y="168963"/>
                    <a:pt x="0" y="133545"/>
                  </a:cubicBezTo>
                  <a:lnTo>
                    <a:pt x="0" y="133545"/>
                  </a:lnTo>
                  <a:cubicBezTo>
                    <a:pt x="0" y="98127"/>
                    <a:pt x="14070" y="64159"/>
                    <a:pt x="39114" y="39114"/>
                  </a:cubicBezTo>
                  <a:cubicBezTo>
                    <a:pt x="64159" y="14070"/>
                    <a:pt x="98127" y="0"/>
                    <a:pt x="133545" y="0"/>
                  </a:cubicBezTo>
                  <a:close/>
                </a:path>
              </a:pathLst>
            </a:custGeom>
            <a:solidFill>
              <a:srgbClr val="FFFFFF"/>
            </a:solidFill>
            <a:ln w="38100" cap="rnd">
              <a:solidFill>
                <a:srgbClr val="8DABD2"/>
              </a:solidFill>
              <a:prstDash val="solid"/>
              <a:round/>
            </a:ln>
          </p:spPr>
        </p:sp>
        <p:sp>
          <p:nvSpPr>
            <p:cNvPr name="TextBox 25" id="25"/>
            <p:cNvSpPr txBox="true"/>
            <p:nvPr/>
          </p:nvSpPr>
          <p:spPr>
            <a:xfrm>
              <a:off x="0" y="-57150"/>
              <a:ext cx="1246040" cy="324240"/>
            </a:xfrm>
            <a:prstGeom prst="rect">
              <a:avLst/>
            </a:prstGeom>
          </p:spPr>
          <p:txBody>
            <a:bodyPr anchor="ctr" rtlCol="false" tIns="50800" lIns="50800" bIns="50800" rIns="50800"/>
            <a:lstStyle/>
            <a:p>
              <a:pPr algn="ctr" marL="0" indent="0" lvl="0">
                <a:lnSpc>
                  <a:spcPts val="3220"/>
                </a:lnSpc>
              </a:pPr>
            </a:p>
          </p:txBody>
        </p:sp>
      </p:grpSp>
      <p:grpSp>
        <p:nvGrpSpPr>
          <p:cNvPr name="Group 26" id="26"/>
          <p:cNvGrpSpPr/>
          <p:nvPr/>
        </p:nvGrpSpPr>
        <p:grpSpPr>
          <a:xfrm rot="0">
            <a:off x="8721658" y="2259882"/>
            <a:ext cx="1209779" cy="1209779"/>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ABD2"/>
            </a:solidFill>
          </p:spPr>
        </p:sp>
        <p:sp>
          <p:nvSpPr>
            <p:cNvPr name="TextBox 28" id="28"/>
            <p:cNvSpPr txBox="true"/>
            <p:nvPr/>
          </p:nvSpPr>
          <p:spPr>
            <a:xfrm>
              <a:off x="76200" y="19050"/>
              <a:ext cx="660400" cy="717550"/>
            </a:xfrm>
            <a:prstGeom prst="rect">
              <a:avLst/>
            </a:prstGeom>
          </p:spPr>
          <p:txBody>
            <a:bodyPr anchor="ctr" rtlCol="false" tIns="50800" lIns="50800" bIns="50800" rIns="50800"/>
            <a:lstStyle/>
            <a:p>
              <a:pPr algn="ctr" marL="0" indent="0" lvl="0">
                <a:lnSpc>
                  <a:spcPts val="3220"/>
                </a:lnSpc>
              </a:pPr>
            </a:p>
          </p:txBody>
        </p:sp>
      </p:grpSp>
      <p:sp>
        <p:nvSpPr>
          <p:cNvPr name="Freeform 29" id="29"/>
          <p:cNvSpPr/>
          <p:nvPr/>
        </p:nvSpPr>
        <p:spPr>
          <a:xfrm flipH="false" flipV="false" rot="0">
            <a:off x="15545340" y="9258300"/>
            <a:ext cx="1211471" cy="200443"/>
          </a:xfrm>
          <a:custGeom>
            <a:avLst/>
            <a:gdLst/>
            <a:ahLst/>
            <a:cxnLst/>
            <a:rect r="r" b="b" t="t" l="l"/>
            <a:pathLst>
              <a:path h="200443" w="1211471">
                <a:moveTo>
                  <a:pt x="0" y="0"/>
                </a:moveTo>
                <a:lnTo>
                  <a:pt x="1211472" y="0"/>
                </a:lnTo>
                <a:lnTo>
                  <a:pt x="1211472" y="200443"/>
                </a:lnTo>
                <a:lnTo>
                  <a:pt x="0" y="20044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0" id="30"/>
          <p:cNvSpPr/>
          <p:nvPr/>
        </p:nvSpPr>
        <p:spPr>
          <a:xfrm flipH="false" flipV="false" rot="0">
            <a:off x="9031694" y="2558792"/>
            <a:ext cx="589707" cy="611960"/>
          </a:xfrm>
          <a:custGeom>
            <a:avLst/>
            <a:gdLst/>
            <a:ahLst/>
            <a:cxnLst/>
            <a:rect r="r" b="b" t="t" l="l"/>
            <a:pathLst>
              <a:path h="611960" w="589707">
                <a:moveTo>
                  <a:pt x="0" y="0"/>
                </a:moveTo>
                <a:lnTo>
                  <a:pt x="589707" y="0"/>
                </a:lnTo>
                <a:lnTo>
                  <a:pt x="589707" y="611960"/>
                </a:lnTo>
                <a:lnTo>
                  <a:pt x="0" y="6119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31" id="31"/>
          <p:cNvSpPr txBox="true"/>
          <p:nvPr/>
        </p:nvSpPr>
        <p:spPr>
          <a:xfrm rot="0">
            <a:off x="1202761" y="6478065"/>
            <a:ext cx="4151665" cy="455343"/>
          </a:xfrm>
          <a:prstGeom prst="rect">
            <a:avLst/>
          </a:prstGeom>
        </p:spPr>
        <p:txBody>
          <a:bodyPr anchor="t" rtlCol="false" tIns="0" lIns="0" bIns="0" rIns="0">
            <a:spAutoFit/>
          </a:bodyPr>
          <a:lstStyle/>
          <a:p>
            <a:pPr algn="ctr" marL="0" indent="0" lvl="0">
              <a:lnSpc>
                <a:spcPts val="3777"/>
              </a:lnSpc>
            </a:pPr>
            <a:r>
              <a:rPr lang="en-US" b="true" sz="2698">
                <a:solidFill>
                  <a:srgbClr val="FFFFFF"/>
                </a:solidFill>
                <a:latin typeface="Nunito Semi-Bold"/>
                <a:ea typeface="Nunito Semi-Bold"/>
                <a:cs typeface="Nunito Semi-Bold"/>
                <a:sym typeface="Nunito Semi-Bold"/>
              </a:rPr>
              <a:t>Software y Comunicación</a:t>
            </a:r>
          </a:p>
        </p:txBody>
      </p:sp>
      <p:sp>
        <p:nvSpPr>
          <p:cNvPr name="TextBox 32" id="32"/>
          <p:cNvSpPr txBox="true"/>
          <p:nvPr/>
        </p:nvSpPr>
        <p:spPr>
          <a:xfrm rot="0">
            <a:off x="10063655" y="2629840"/>
            <a:ext cx="3723907" cy="455343"/>
          </a:xfrm>
          <a:prstGeom prst="rect">
            <a:avLst/>
          </a:prstGeom>
        </p:spPr>
        <p:txBody>
          <a:bodyPr anchor="t" rtlCol="false" tIns="0" lIns="0" bIns="0" rIns="0">
            <a:spAutoFit/>
          </a:bodyPr>
          <a:lstStyle/>
          <a:p>
            <a:pPr algn="l" marL="0" indent="0" lvl="0">
              <a:lnSpc>
                <a:spcPts val="3777"/>
              </a:lnSpc>
            </a:pPr>
            <a:r>
              <a:rPr lang="en-US" b="true" sz="2698">
                <a:solidFill>
                  <a:srgbClr val="011A3C"/>
                </a:solidFill>
                <a:latin typeface="Nunito Semi-Bold"/>
                <a:ea typeface="Nunito Semi-Bold"/>
                <a:cs typeface="Nunito Semi-Bold"/>
                <a:sym typeface="Nunito Semi-Bold"/>
              </a:rPr>
              <a:t>Detalles Técnicos</a:t>
            </a:r>
          </a:p>
        </p:txBody>
      </p:sp>
      <p:sp>
        <p:nvSpPr>
          <p:cNvPr name="TextBox 33" id="33"/>
          <p:cNvSpPr txBox="true"/>
          <p:nvPr/>
        </p:nvSpPr>
        <p:spPr>
          <a:xfrm rot="0">
            <a:off x="1202761" y="4636965"/>
            <a:ext cx="7328203" cy="523167"/>
          </a:xfrm>
          <a:prstGeom prst="rect">
            <a:avLst/>
          </a:prstGeom>
        </p:spPr>
        <p:txBody>
          <a:bodyPr anchor="t" rtlCol="false" tIns="0" lIns="0" bIns="0" rIns="0">
            <a:spAutoFit/>
          </a:bodyPr>
          <a:lstStyle/>
          <a:p>
            <a:pPr algn="l" marL="0" indent="0" lvl="0">
              <a:lnSpc>
                <a:spcPts val="2139"/>
              </a:lnSpc>
            </a:pPr>
            <a:r>
              <a:rPr lang="en-US" sz="1527">
                <a:solidFill>
                  <a:srgbClr val="011A3C"/>
                </a:solidFill>
                <a:latin typeface="Nunito"/>
                <a:ea typeface="Nunito"/>
                <a:cs typeface="Nunito"/>
                <a:sym typeface="Nunito"/>
              </a:rPr>
              <a:t>Aspectos de software y comunicación del sistema de riego automatizado multivariable con Arduino y Bluetooth.</a:t>
            </a:r>
          </a:p>
        </p:txBody>
      </p:sp>
      <p:sp>
        <p:nvSpPr>
          <p:cNvPr name="TextBox 34" id="34"/>
          <p:cNvSpPr txBox="true"/>
          <p:nvPr/>
        </p:nvSpPr>
        <p:spPr>
          <a:xfrm rot="0">
            <a:off x="1215085" y="7518054"/>
            <a:ext cx="7723773" cy="228600"/>
          </a:xfrm>
          <a:prstGeom prst="rect">
            <a:avLst/>
          </a:prstGeom>
        </p:spPr>
        <p:txBody>
          <a:bodyPr anchor="t" rtlCol="false" tIns="0" lIns="0" bIns="0" rIns="0">
            <a:spAutoFit/>
          </a:bodyPr>
          <a:lstStyle/>
          <a:p>
            <a:pPr algn="l" marL="0" indent="0" lvl="0">
              <a:lnSpc>
                <a:spcPts val="1833"/>
              </a:lnSpc>
            </a:pPr>
            <a:r>
              <a:rPr lang="en-US" sz="1527">
                <a:solidFill>
                  <a:srgbClr val="011A3C"/>
                </a:solidFill>
                <a:latin typeface="Nunito"/>
                <a:ea typeface="Nunito"/>
                <a:cs typeface="Nunito"/>
                <a:sym typeface="Nunito"/>
              </a:rPr>
              <a:t>App Android con arquitectura MVVM (Kotlin + Jetpack Compose).</a:t>
            </a:r>
          </a:p>
        </p:txBody>
      </p:sp>
      <p:sp>
        <p:nvSpPr>
          <p:cNvPr name="TextBox 35" id="35"/>
          <p:cNvSpPr txBox="true"/>
          <p:nvPr/>
        </p:nvSpPr>
        <p:spPr>
          <a:xfrm rot="0">
            <a:off x="1215085" y="8079992"/>
            <a:ext cx="7723773" cy="228600"/>
          </a:xfrm>
          <a:prstGeom prst="rect">
            <a:avLst/>
          </a:prstGeom>
        </p:spPr>
        <p:txBody>
          <a:bodyPr anchor="t" rtlCol="false" tIns="0" lIns="0" bIns="0" rIns="0">
            <a:spAutoFit/>
          </a:bodyPr>
          <a:lstStyle/>
          <a:p>
            <a:pPr algn="l" marL="0" indent="0" lvl="0">
              <a:lnSpc>
                <a:spcPts val="1833"/>
              </a:lnSpc>
            </a:pPr>
            <a:r>
              <a:rPr lang="en-US" sz="1527">
                <a:solidFill>
                  <a:srgbClr val="011A3C"/>
                </a:solidFill>
                <a:latin typeface="Nunito"/>
                <a:ea typeface="Nunito"/>
                <a:cs typeface="Nunito"/>
                <a:sym typeface="Nunito"/>
              </a:rPr>
              <a:t>Comunicación Bluetooth bidireccional con telemetría CSV cada 2 segundos.</a:t>
            </a:r>
          </a:p>
        </p:txBody>
      </p:sp>
      <p:sp>
        <p:nvSpPr>
          <p:cNvPr name="TextBox 36" id="36"/>
          <p:cNvSpPr txBox="true"/>
          <p:nvPr/>
        </p:nvSpPr>
        <p:spPr>
          <a:xfrm rot="0">
            <a:off x="1215085" y="8641930"/>
            <a:ext cx="7723773" cy="228600"/>
          </a:xfrm>
          <a:prstGeom prst="rect">
            <a:avLst/>
          </a:prstGeom>
        </p:spPr>
        <p:txBody>
          <a:bodyPr anchor="t" rtlCol="false" tIns="0" lIns="0" bIns="0" rIns="0">
            <a:spAutoFit/>
          </a:bodyPr>
          <a:lstStyle/>
          <a:p>
            <a:pPr algn="l" marL="0" indent="0" lvl="0">
              <a:lnSpc>
                <a:spcPts val="1833"/>
              </a:lnSpc>
            </a:pPr>
            <a:r>
              <a:rPr lang="en-US" sz="1527">
                <a:solidFill>
                  <a:srgbClr val="011A3C"/>
                </a:solidFill>
                <a:latin typeface="Nunito"/>
                <a:ea typeface="Nunito"/>
                <a:cs typeface="Nunito"/>
                <a:sym typeface="Nunito"/>
              </a:rPr>
              <a:t>Mapeo inteligente ADC 0–1023 a 0–100% de humedad de suelo.</a:t>
            </a:r>
          </a:p>
        </p:txBody>
      </p:sp>
      <p:sp>
        <p:nvSpPr>
          <p:cNvPr name="TextBox 37" id="37"/>
          <p:cNvSpPr txBox="true"/>
          <p:nvPr/>
        </p:nvSpPr>
        <p:spPr>
          <a:xfrm rot="0">
            <a:off x="10868338" y="3772049"/>
            <a:ext cx="4583749" cy="685800"/>
          </a:xfrm>
          <a:prstGeom prst="rect">
            <a:avLst/>
          </a:prstGeom>
        </p:spPr>
        <p:txBody>
          <a:bodyPr anchor="t" rtlCol="false" tIns="0" lIns="0" bIns="0" rIns="0">
            <a:spAutoFit/>
          </a:bodyPr>
          <a:lstStyle/>
          <a:p>
            <a:pPr algn="l" marL="0" indent="0" lvl="0">
              <a:lnSpc>
                <a:spcPts val="1833"/>
              </a:lnSpc>
            </a:pPr>
            <a:r>
              <a:rPr lang="en-US" sz="1527">
                <a:solidFill>
                  <a:srgbClr val="011A3C"/>
                </a:solidFill>
                <a:latin typeface="Nunito"/>
                <a:ea typeface="Nunito"/>
                <a:cs typeface="Nunito"/>
                <a:sym typeface="Nunito"/>
              </a:rPr>
              <a:t>El firmware implementa polling asíncrono mediante BT.available(), permitiendo recibir comandos UART sin bloquear el ciclo principal de control del sistema.</a:t>
            </a:r>
          </a:p>
        </p:txBody>
      </p:sp>
      <p:sp>
        <p:nvSpPr>
          <p:cNvPr name="TextBox 38" id="38"/>
          <p:cNvSpPr txBox="true"/>
          <p:nvPr/>
        </p:nvSpPr>
        <p:spPr>
          <a:xfrm rot="0">
            <a:off x="10868338" y="5520273"/>
            <a:ext cx="4583749" cy="685800"/>
          </a:xfrm>
          <a:prstGeom prst="rect">
            <a:avLst/>
          </a:prstGeom>
        </p:spPr>
        <p:txBody>
          <a:bodyPr anchor="t" rtlCol="false" tIns="0" lIns="0" bIns="0" rIns="0">
            <a:spAutoFit/>
          </a:bodyPr>
          <a:lstStyle/>
          <a:p>
            <a:pPr algn="l" marL="0" indent="0" lvl="0">
              <a:lnSpc>
                <a:spcPts val="1833"/>
              </a:lnSpc>
            </a:pPr>
            <a:r>
              <a:rPr lang="en-US" sz="1527">
                <a:solidFill>
                  <a:srgbClr val="011A3C"/>
                </a:solidFill>
                <a:latin typeface="Nunito"/>
                <a:ea typeface="Nunito"/>
                <a:cs typeface="Nunito"/>
                <a:sym typeface="Nunito"/>
              </a:rPr>
              <a:t>StateFlows en la app PachaTech garantizan actualizaciones reactivas en tiempo real de los datos de sensores.</a:t>
            </a:r>
          </a:p>
        </p:txBody>
      </p:sp>
      <p:sp>
        <p:nvSpPr>
          <p:cNvPr name="TextBox 39" id="39"/>
          <p:cNvSpPr txBox="true"/>
          <p:nvPr/>
        </p:nvSpPr>
        <p:spPr>
          <a:xfrm rot="0">
            <a:off x="10868338" y="6398727"/>
            <a:ext cx="4583749" cy="457200"/>
          </a:xfrm>
          <a:prstGeom prst="rect">
            <a:avLst/>
          </a:prstGeom>
        </p:spPr>
        <p:txBody>
          <a:bodyPr anchor="t" rtlCol="false" tIns="0" lIns="0" bIns="0" rIns="0">
            <a:spAutoFit/>
          </a:bodyPr>
          <a:lstStyle/>
          <a:p>
            <a:pPr algn="l" marL="0" indent="0" lvl="0">
              <a:lnSpc>
                <a:spcPts val="1833"/>
              </a:lnSpc>
            </a:pPr>
            <a:r>
              <a:rPr lang="en-US" sz="1527">
                <a:solidFill>
                  <a:srgbClr val="011A3C"/>
                </a:solidFill>
                <a:latin typeface="Nunito"/>
                <a:ea typeface="Nunito"/>
                <a:cs typeface="Nunito"/>
                <a:sym typeface="Nunito"/>
              </a:rPr>
              <a:t>Telemetría CSV enviada cada 2s: humedad suelo, temperatura, humedad ambiental y estado del relé.</a:t>
            </a:r>
          </a:p>
        </p:txBody>
      </p:sp>
      <p:sp>
        <p:nvSpPr>
          <p:cNvPr name="TextBox 40" id="40"/>
          <p:cNvSpPr txBox="true"/>
          <p:nvPr/>
        </p:nvSpPr>
        <p:spPr>
          <a:xfrm rot="0">
            <a:off x="10868338" y="7274953"/>
            <a:ext cx="4583749" cy="457200"/>
          </a:xfrm>
          <a:prstGeom prst="rect">
            <a:avLst/>
          </a:prstGeom>
        </p:spPr>
        <p:txBody>
          <a:bodyPr anchor="t" rtlCol="false" tIns="0" lIns="0" bIns="0" rIns="0">
            <a:spAutoFit/>
          </a:bodyPr>
          <a:lstStyle/>
          <a:p>
            <a:pPr algn="l" marL="0" indent="0" lvl="0">
              <a:lnSpc>
                <a:spcPts val="1833"/>
              </a:lnSpc>
            </a:pPr>
            <a:r>
              <a:rPr lang="en-US" sz="1527">
                <a:solidFill>
                  <a:srgbClr val="011A3C"/>
                </a:solidFill>
                <a:latin typeface="Nunito"/>
                <a:ea typeface="Nunito"/>
                <a:cs typeface="Nunito"/>
                <a:sym typeface="Nunito"/>
              </a:rPr>
              <a:t>Arquitectura MVVM desacopla lógica de negocio de la interfaz, facilitando escalabilidad futura.</a:t>
            </a:r>
          </a:p>
        </p:txBody>
      </p:sp>
      <p:grpSp>
        <p:nvGrpSpPr>
          <p:cNvPr name="Group 41" id="41"/>
          <p:cNvGrpSpPr/>
          <p:nvPr/>
        </p:nvGrpSpPr>
        <p:grpSpPr>
          <a:xfrm rot="0">
            <a:off x="8000488" y="-1161592"/>
            <a:ext cx="2287024" cy="2141044"/>
            <a:chOff x="0" y="0"/>
            <a:chExt cx="596900" cy="558800"/>
          </a:xfrm>
        </p:grpSpPr>
        <p:sp>
          <p:nvSpPr>
            <p:cNvPr name="Freeform 42" id="42"/>
            <p:cNvSpPr/>
            <p:nvPr/>
          </p:nvSpPr>
          <p:spPr>
            <a:xfrm flipH="false" flipV="false" rot="0">
              <a:off x="0" y="0"/>
              <a:ext cx="596900" cy="558800"/>
            </a:xfrm>
            <a:custGeom>
              <a:avLst/>
              <a:gdLst/>
              <a:ahLst/>
              <a:cxnLst/>
              <a:rect r="r" b="b" t="t" l="l"/>
              <a:pathLst>
                <a:path h="558800" w="596900">
                  <a:moveTo>
                    <a:pt x="596900" y="39776"/>
                  </a:moveTo>
                  <a:lnTo>
                    <a:pt x="596900" y="265024"/>
                  </a:lnTo>
                  <a:cubicBezTo>
                    <a:pt x="596900" y="290424"/>
                    <a:pt x="586490" y="314714"/>
                    <a:pt x="568097" y="332231"/>
                  </a:cubicBezTo>
                  <a:lnTo>
                    <a:pt x="359003" y="531369"/>
                  </a:lnTo>
                  <a:cubicBezTo>
                    <a:pt x="340513" y="548978"/>
                    <a:pt x="315958" y="558800"/>
                    <a:pt x="290424" y="558800"/>
                  </a:cubicBezTo>
                  <a:lnTo>
                    <a:pt x="39776" y="558800"/>
                  </a:lnTo>
                  <a:cubicBezTo>
                    <a:pt x="29226" y="558800"/>
                    <a:pt x="19109" y="554609"/>
                    <a:pt x="11650" y="547150"/>
                  </a:cubicBezTo>
                  <a:cubicBezTo>
                    <a:pt x="4191" y="539691"/>
                    <a:pt x="0" y="529574"/>
                    <a:pt x="0" y="519024"/>
                  </a:cubicBezTo>
                  <a:lnTo>
                    <a:pt x="0" y="288696"/>
                  </a:lnTo>
                  <a:cubicBezTo>
                    <a:pt x="0" y="263304"/>
                    <a:pt x="10445" y="239030"/>
                    <a:pt x="28882" y="221572"/>
                  </a:cubicBezTo>
                  <a:lnTo>
                    <a:pt x="234008" y="27348"/>
                  </a:lnTo>
                  <a:cubicBezTo>
                    <a:pt x="252554" y="9787"/>
                    <a:pt x="277124" y="0"/>
                    <a:pt x="302666" y="0"/>
                  </a:cubicBezTo>
                  <a:lnTo>
                    <a:pt x="557124" y="0"/>
                  </a:lnTo>
                  <a:cubicBezTo>
                    <a:pt x="567674" y="0"/>
                    <a:pt x="577791" y="4191"/>
                    <a:pt x="585250" y="11650"/>
                  </a:cubicBezTo>
                  <a:cubicBezTo>
                    <a:pt x="592709" y="19109"/>
                    <a:pt x="596900" y="29226"/>
                    <a:pt x="596900" y="39776"/>
                  </a:cubicBezTo>
                  <a:close/>
                </a:path>
              </a:pathLst>
            </a:custGeom>
            <a:solidFill>
              <a:srgbClr val="8DABD2"/>
            </a:solidFill>
          </p:spPr>
        </p:sp>
        <p:sp>
          <p:nvSpPr>
            <p:cNvPr name="TextBox 43" id="43"/>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sp>
        <p:nvSpPr>
          <p:cNvPr name="Freeform 44" id="44"/>
          <p:cNvSpPr/>
          <p:nvPr/>
        </p:nvSpPr>
        <p:spPr>
          <a:xfrm flipH="false" flipV="false" rot="0">
            <a:off x="7394752" y="341699"/>
            <a:ext cx="1211471" cy="200443"/>
          </a:xfrm>
          <a:custGeom>
            <a:avLst/>
            <a:gdLst/>
            <a:ahLst/>
            <a:cxnLst/>
            <a:rect r="r" b="b" t="t" l="l"/>
            <a:pathLst>
              <a:path h="200443" w="1211471">
                <a:moveTo>
                  <a:pt x="0" y="0"/>
                </a:moveTo>
                <a:lnTo>
                  <a:pt x="1211472" y="0"/>
                </a:lnTo>
                <a:lnTo>
                  <a:pt x="1211472" y="200443"/>
                </a:lnTo>
                <a:lnTo>
                  <a:pt x="0" y="20044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45" id="45"/>
          <p:cNvSpPr/>
          <p:nvPr/>
        </p:nvSpPr>
        <p:spPr>
          <a:xfrm flipH="true" flipV="true" rot="0">
            <a:off x="404204" y="8740838"/>
            <a:ext cx="1145306" cy="1132812"/>
          </a:xfrm>
          <a:custGeom>
            <a:avLst/>
            <a:gdLst/>
            <a:ahLst/>
            <a:cxnLst/>
            <a:rect r="r" b="b" t="t" l="l"/>
            <a:pathLst>
              <a:path h="1132812" w="1145306">
                <a:moveTo>
                  <a:pt x="1145306" y="1132812"/>
                </a:moveTo>
                <a:lnTo>
                  <a:pt x="0" y="1132812"/>
                </a:lnTo>
                <a:lnTo>
                  <a:pt x="0" y="0"/>
                </a:lnTo>
                <a:lnTo>
                  <a:pt x="1145306" y="0"/>
                </a:lnTo>
                <a:lnTo>
                  <a:pt x="1145306" y="1132812"/>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1862055" y="1509616"/>
            <a:ext cx="5444460" cy="5096942"/>
            <a:chOff x="0" y="0"/>
            <a:chExt cx="596900" cy="558800"/>
          </a:xfrm>
        </p:grpSpPr>
        <p:sp>
          <p:nvSpPr>
            <p:cNvPr name="Freeform 3" id="3"/>
            <p:cNvSpPr/>
            <p:nvPr/>
          </p:nvSpPr>
          <p:spPr>
            <a:xfrm flipH="false" flipV="false" rot="0">
              <a:off x="0" y="0"/>
              <a:ext cx="596900" cy="558800"/>
            </a:xfrm>
            <a:custGeom>
              <a:avLst/>
              <a:gdLst/>
              <a:ahLst/>
              <a:cxnLst/>
              <a:rect r="r" b="b" t="t" l="l"/>
              <a:pathLst>
                <a:path h="558800" w="596900">
                  <a:moveTo>
                    <a:pt x="596900" y="16708"/>
                  </a:moveTo>
                  <a:lnTo>
                    <a:pt x="596900" y="288092"/>
                  </a:lnTo>
                  <a:cubicBezTo>
                    <a:pt x="596900" y="298761"/>
                    <a:pt x="592527" y="308965"/>
                    <a:pt x="584801" y="316323"/>
                  </a:cubicBezTo>
                  <a:lnTo>
                    <a:pt x="342299" y="547277"/>
                  </a:lnTo>
                  <a:cubicBezTo>
                    <a:pt x="334532" y="554674"/>
                    <a:pt x="324217" y="558800"/>
                    <a:pt x="313492" y="558800"/>
                  </a:cubicBezTo>
                  <a:lnTo>
                    <a:pt x="16708" y="558800"/>
                  </a:lnTo>
                  <a:cubicBezTo>
                    <a:pt x="7481" y="558800"/>
                    <a:pt x="0" y="551319"/>
                    <a:pt x="0" y="542092"/>
                  </a:cubicBezTo>
                  <a:lnTo>
                    <a:pt x="0" y="265628"/>
                  </a:lnTo>
                  <a:cubicBezTo>
                    <a:pt x="0" y="254962"/>
                    <a:pt x="4387" y="244766"/>
                    <a:pt x="12132" y="237432"/>
                  </a:cubicBezTo>
                  <a:lnTo>
                    <a:pt x="250758" y="11488"/>
                  </a:lnTo>
                  <a:cubicBezTo>
                    <a:pt x="258548" y="4111"/>
                    <a:pt x="268869" y="0"/>
                    <a:pt x="279598" y="0"/>
                  </a:cubicBezTo>
                  <a:lnTo>
                    <a:pt x="580192" y="0"/>
                  </a:lnTo>
                  <a:cubicBezTo>
                    <a:pt x="589419" y="0"/>
                    <a:pt x="596900" y="7481"/>
                    <a:pt x="596900" y="16708"/>
                  </a:cubicBezTo>
                  <a:close/>
                </a:path>
              </a:pathLst>
            </a:custGeom>
            <a:solidFill>
              <a:srgbClr val="014AAB">
                <a:alpha val="5882"/>
              </a:srgbClr>
            </a:solidFill>
          </p:spPr>
        </p:sp>
        <p:sp>
          <p:nvSpPr>
            <p:cNvPr name="TextBox 4" id="4"/>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5" id="5"/>
          <p:cNvGrpSpPr/>
          <p:nvPr/>
        </p:nvGrpSpPr>
        <p:grpSpPr>
          <a:xfrm rot="-10800000">
            <a:off x="11672748" y="-2698351"/>
            <a:ext cx="4732342" cy="4430278"/>
            <a:chOff x="0" y="0"/>
            <a:chExt cx="596900" cy="558800"/>
          </a:xfrm>
        </p:grpSpPr>
        <p:sp>
          <p:nvSpPr>
            <p:cNvPr name="Freeform 6" id="6"/>
            <p:cNvSpPr/>
            <p:nvPr/>
          </p:nvSpPr>
          <p:spPr>
            <a:xfrm flipH="false" flipV="false" rot="0">
              <a:off x="0" y="0"/>
              <a:ext cx="596900" cy="558800"/>
            </a:xfrm>
            <a:custGeom>
              <a:avLst/>
              <a:gdLst/>
              <a:ahLst/>
              <a:cxnLst/>
              <a:rect r="r" b="b" t="t" l="l"/>
              <a:pathLst>
                <a:path h="558800" w="596900">
                  <a:moveTo>
                    <a:pt x="596900" y="19223"/>
                  </a:moveTo>
                  <a:lnTo>
                    <a:pt x="596900" y="285577"/>
                  </a:lnTo>
                  <a:cubicBezTo>
                    <a:pt x="596900" y="297853"/>
                    <a:pt x="591869" y="309591"/>
                    <a:pt x="582980" y="318057"/>
                  </a:cubicBezTo>
                  <a:lnTo>
                    <a:pt x="344120" y="545543"/>
                  </a:lnTo>
                  <a:cubicBezTo>
                    <a:pt x="335184" y="554053"/>
                    <a:pt x="323317" y="558800"/>
                    <a:pt x="310977" y="558800"/>
                  </a:cubicBezTo>
                  <a:lnTo>
                    <a:pt x="19223" y="558800"/>
                  </a:lnTo>
                  <a:cubicBezTo>
                    <a:pt x="14124" y="558800"/>
                    <a:pt x="9235" y="556775"/>
                    <a:pt x="5630" y="553170"/>
                  </a:cubicBezTo>
                  <a:cubicBezTo>
                    <a:pt x="2025" y="549565"/>
                    <a:pt x="0" y="544676"/>
                    <a:pt x="0" y="539577"/>
                  </a:cubicBezTo>
                  <a:lnTo>
                    <a:pt x="0" y="268143"/>
                  </a:lnTo>
                  <a:cubicBezTo>
                    <a:pt x="0" y="255871"/>
                    <a:pt x="5048" y="244141"/>
                    <a:pt x="13958" y="235704"/>
                  </a:cubicBezTo>
                  <a:lnTo>
                    <a:pt x="248932" y="13216"/>
                  </a:lnTo>
                  <a:cubicBezTo>
                    <a:pt x="257895" y="4730"/>
                    <a:pt x="269769" y="0"/>
                    <a:pt x="282113" y="0"/>
                  </a:cubicBezTo>
                  <a:lnTo>
                    <a:pt x="577677" y="0"/>
                  </a:lnTo>
                  <a:cubicBezTo>
                    <a:pt x="582776" y="0"/>
                    <a:pt x="587665" y="2025"/>
                    <a:pt x="591270" y="5630"/>
                  </a:cubicBezTo>
                  <a:cubicBezTo>
                    <a:pt x="594875" y="9235"/>
                    <a:pt x="596900" y="14124"/>
                    <a:pt x="596900" y="19223"/>
                  </a:cubicBezTo>
                  <a:close/>
                </a:path>
              </a:pathLst>
            </a:custGeom>
            <a:solidFill>
              <a:srgbClr val="014AAB">
                <a:alpha val="5882"/>
              </a:srgbClr>
            </a:solidFill>
          </p:spPr>
        </p:sp>
        <p:sp>
          <p:nvSpPr>
            <p:cNvPr name="TextBox 7" id="7"/>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sp>
        <p:nvSpPr>
          <p:cNvPr name="TextBox 8" id="8"/>
          <p:cNvSpPr txBox="true"/>
          <p:nvPr/>
        </p:nvSpPr>
        <p:spPr>
          <a:xfrm rot="0">
            <a:off x="8108850" y="1337533"/>
            <a:ext cx="8787529" cy="919983"/>
          </a:xfrm>
          <a:prstGeom prst="rect">
            <a:avLst/>
          </a:prstGeom>
        </p:spPr>
        <p:txBody>
          <a:bodyPr anchor="t" rtlCol="false" tIns="0" lIns="0" bIns="0" rIns="0">
            <a:spAutoFit/>
          </a:bodyPr>
          <a:lstStyle/>
          <a:p>
            <a:pPr algn="r" marL="0" indent="0" lvl="0">
              <a:lnSpc>
                <a:spcPts val="3594"/>
              </a:lnSpc>
            </a:pPr>
            <a:r>
              <a:rPr lang="en-US" b="true" sz="3594" spc="71">
                <a:solidFill>
                  <a:srgbClr val="011A3C"/>
                </a:solidFill>
                <a:latin typeface="Gotham Bold"/>
                <a:ea typeface="Gotham Bold"/>
                <a:cs typeface="Gotham Bold"/>
                <a:sym typeface="Gotham Bold"/>
              </a:rPr>
              <a:t>Procedimiento y </a:t>
            </a:r>
            <a:r>
              <a:rPr lang="en-US" b="true" sz="3594" spc="71">
                <a:solidFill>
                  <a:srgbClr val="011A3C"/>
                </a:solidFill>
                <a:latin typeface="Gotham Bold"/>
                <a:ea typeface="Gotham Bold"/>
                <a:cs typeface="Gotham Bold"/>
                <a:sym typeface="Gotham Bold"/>
              </a:rPr>
              <a:t>Arquitectura de Hardware</a:t>
            </a:r>
          </a:p>
        </p:txBody>
      </p:sp>
      <p:grpSp>
        <p:nvGrpSpPr>
          <p:cNvPr name="Group 9" id="9"/>
          <p:cNvGrpSpPr/>
          <p:nvPr/>
        </p:nvGrpSpPr>
        <p:grpSpPr>
          <a:xfrm rot="0">
            <a:off x="-6216200" y="-2410927"/>
            <a:ext cx="11327674" cy="10604631"/>
            <a:chOff x="0" y="0"/>
            <a:chExt cx="596900" cy="558800"/>
          </a:xfrm>
        </p:grpSpPr>
        <p:sp>
          <p:nvSpPr>
            <p:cNvPr name="Freeform 10" id="10"/>
            <p:cNvSpPr/>
            <p:nvPr/>
          </p:nvSpPr>
          <p:spPr>
            <a:xfrm flipH="false" flipV="false" rot="0">
              <a:off x="0" y="0"/>
              <a:ext cx="596900" cy="558800"/>
            </a:xfrm>
            <a:custGeom>
              <a:avLst/>
              <a:gdLst/>
              <a:ahLst/>
              <a:cxnLst/>
              <a:rect r="r" b="b" t="t" l="l"/>
              <a:pathLst>
                <a:path h="558800" w="596900">
                  <a:moveTo>
                    <a:pt x="596900" y="8031"/>
                  </a:moveTo>
                  <a:lnTo>
                    <a:pt x="596900" y="296769"/>
                  </a:lnTo>
                  <a:cubicBezTo>
                    <a:pt x="596900" y="301898"/>
                    <a:pt x="594798" y="306802"/>
                    <a:pt x="591085" y="310338"/>
                  </a:cubicBezTo>
                  <a:lnTo>
                    <a:pt x="336015" y="553262"/>
                  </a:lnTo>
                  <a:cubicBezTo>
                    <a:pt x="332282" y="556817"/>
                    <a:pt x="327325" y="558800"/>
                    <a:pt x="322169" y="558800"/>
                  </a:cubicBezTo>
                  <a:lnTo>
                    <a:pt x="8031" y="558800"/>
                  </a:lnTo>
                  <a:cubicBezTo>
                    <a:pt x="3595" y="558800"/>
                    <a:pt x="0" y="555205"/>
                    <a:pt x="0" y="550769"/>
                  </a:cubicBezTo>
                  <a:lnTo>
                    <a:pt x="0" y="256951"/>
                  </a:lnTo>
                  <a:cubicBezTo>
                    <a:pt x="0" y="251824"/>
                    <a:pt x="2109" y="246923"/>
                    <a:pt x="5831" y="243399"/>
                  </a:cubicBezTo>
                  <a:lnTo>
                    <a:pt x="257059" y="5521"/>
                  </a:lnTo>
                  <a:cubicBezTo>
                    <a:pt x="260803" y="1976"/>
                    <a:pt x="265764" y="0"/>
                    <a:pt x="270921" y="0"/>
                  </a:cubicBezTo>
                  <a:lnTo>
                    <a:pt x="588869" y="0"/>
                  </a:lnTo>
                  <a:cubicBezTo>
                    <a:pt x="593305" y="0"/>
                    <a:pt x="596900" y="3595"/>
                    <a:pt x="596900" y="8031"/>
                  </a:cubicBezTo>
                  <a:close/>
                </a:path>
              </a:pathLst>
            </a:custGeom>
            <a:ln w="190500" cap="sq">
              <a:solidFill>
                <a:srgbClr val="8DABD2"/>
              </a:solidFill>
              <a:prstDash val="solid"/>
              <a:miter/>
            </a:ln>
          </p:spPr>
        </p:sp>
        <p:sp>
          <p:nvSpPr>
            <p:cNvPr name="TextBox 11" id="11"/>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2" id="12"/>
          <p:cNvGrpSpPr/>
          <p:nvPr/>
        </p:nvGrpSpPr>
        <p:grpSpPr>
          <a:xfrm rot="0">
            <a:off x="-5980679" y="-1456064"/>
            <a:ext cx="10261570" cy="9529518"/>
            <a:chOff x="0" y="0"/>
            <a:chExt cx="596900" cy="554318"/>
          </a:xfrm>
        </p:grpSpPr>
        <p:sp>
          <p:nvSpPr>
            <p:cNvPr name="Freeform 13" id="13"/>
            <p:cNvSpPr/>
            <p:nvPr/>
          </p:nvSpPr>
          <p:spPr>
            <a:xfrm flipH="false" flipV="false" rot="0">
              <a:off x="0" y="0"/>
              <a:ext cx="596900" cy="554318"/>
            </a:xfrm>
            <a:custGeom>
              <a:avLst/>
              <a:gdLst/>
              <a:ahLst/>
              <a:cxnLst/>
              <a:rect r="r" b="b" t="t" l="l"/>
              <a:pathLst>
                <a:path h="554318" w="596900">
                  <a:moveTo>
                    <a:pt x="596900" y="8865"/>
                  </a:moveTo>
                  <a:lnTo>
                    <a:pt x="596900" y="293490"/>
                  </a:lnTo>
                  <a:cubicBezTo>
                    <a:pt x="596900" y="299149"/>
                    <a:pt x="594569" y="304557"/>
                    <a:pt x="590456" y="308443"/>
                  </a:cubicBezTo>
                  <a:lnTo>
                    <a:pt x="336644" y="548230"/>
                  </a:lnTo>
                  <a:cubicBezTo>
                    <a:pt x="332506" y="552140"/>
                    <a:pt x="327028" y="554318"/>
                    <a:pt x="321335" y="554318"/>
                  </a:cubicBezTo>
                  <a:lnTo>
                    <a:pt x="8865" y="554318"/>
                  </a:lnTo>
                  <a:cubicBezTo>
                    <a:pt x="3969" y="554318"/>
                    <a:pt x="0" y="550349"/>
                    <a:pt x="0" y="545453"/>
                  </a:cubicBezTo>
                  <a:lnTo>
                    <a:pt x="0" y="255788"/>
                  </a:lnTo>
                  <a:cubicBezTo>
                    <a:pt x="0" y="250132"/>
                    <a:pt x="2339" y="244727"/>
                    <a:pt x="6462" y="240854"/>
                  </a:cubicBezTo>
                  <a:lnTo>
                    <a:pt x="256428" y="6069"/>
                  </a:lnTo>
                  <a:cubicBezTo>
                    <a:pt x="260579" y="2170"/>
                    <a:pt x="266060" y="0"/>
                    <a:pt x="271755" y="0"/>
                  </a:cubicBezTo>
                  <a:lnTo>
                    <a:pt x="588035" y="0"/>
                  </a:lnTo>
                  <a:cubicBezTo>
                    <a:pt x="592931" y="0"/>
                    <a:pt x="596900" y="3969"/>
                    <a:pt x="596900" y="8865"/>
                  </a:cubicBezTo>
                  <a:close/>
                </a:path>
              </a:pathLst>
            </a:custGeom>
            <a:solidFill>
              <a:srgbClr val="014AAB"/>
            </a:solidFill>
          </p:spPr>
        </p:sp>
        <p:sp>
          <p:nvSpPr>
            <p:cNvPr name="TextBox 14" id="14"/>
            <p:cNvSpPr txBox="true"/>
            <p:nvPr/>
          </p:nvSpPr>
          <p:spPr>
            <a:xfrm>
              <a:off x="101600" y="75130"/>
              <a:ext cx="393700" cy="348167"/>
            </a:xfrm>
            <a:prstGeom prst="rect">
              <a:avLst/>
            </a:prstGeom>
          </p:spPr>
          <p:txBody>
            <a:bodyPr anchor="ctr" rtlCol="false" tIns="50800" lIns="50800" bIns="50800" rIns="50800"/>
            <a:lstStyle/>
            <a:p>
              <a:pPr algn="ctr" marL="0" indent="0" lvl="0">
                <a:lnSpc>
                  <a:spcPts val="3220"/>
                </a:lnSpc>
              </a:pPr>
            </a:p>
          </p:txBody>
        </p:sp>
      </p:grpSp>
      <p:grpSp>
        <p:nvGrpSpPr>
          <p:cNvPr name="Group 15" id="15"/>
          <p:cNvGrpSpPr/>
          <p:nvPr/>
        </p:nvGrpSpPr>
        <p:grpSpPr>
          <a:xfrm rot="0">
            <a:off x="5909666" y="3876441"/>
            <a:ext cx="1576269" cy="1475656"/>
            <a:chOff x="0" y="0"/>
            <a:chExt cx="596900" cy="558800"/>
          </a:xfrm>
        </p:grpSpPr>
        <p:sp>
          <p:nvSpPr>
            <p:cNvPr name="Freeform 16" id="16"/>
            <p:cNvSpPr/>
            <p:nvPr/>
          </p:nvSpPr>
          <p:spPr>
            <a:xfrm flipH="false" flipV="false" rot="0">
              <a:off x="0" y="0"/>
              <a:ext cx="596900" cy="558800"/>
            </a:xfrm>
            <a:custGeom>
              <a:avLst/>
              <a:gdLst/>
              <a:ahLst/>
              <a:cxnLst/>
              <a:rect r="r" b="b" t="t" l="l"/>
              <a:pathLst>
                <a:path h="558800" w="596900">
                  <a:moveTo>
                    <a:pt x="596900" y="57711"/>
                  </a:moveTo>
                  <a:lnTo>
                    <a:pt x="596900" y="247089"/>
                  </a:lnTo>
                  <a:cubicBezTo>
                    <a:pt x="596900" y="283942"/>
                    <a:pt x="581796" y="319185"/>
                    <a:pt x="555110" y="344600"/>
                  </a:cubicBezTo>
                  <a:lnTo>
                    <a:pt x="371990" y="519000"/>
                  </a:lnTo>
                  <a:cubicBezTo>
                    <a:pt x="345163" y="544549"/>
                    <a:pt x="309536" y="558800"/>
                    <a:pt x="272489" y="558800"/>
                  </a:cubicBezTo>
                  <a:lnTo>
                    <a:pt x="57711" y="558800"/>
                  </a:lnTo>
                  <a:cubicBezTo>
                    <a:pt x="25838" y="558800"/>
                    <a:pt x="0" y="532962"/>
                    <a:pt x="0" y="501089"/>
                  </a:cubicBezTo>
                  <a:lnTo>
                    <a:pt x="0" y="306631"/>
                  </a:lnTo>
                  <a:cubicBezTo>
                    <a:pt x="0" y="269790"/>
                    <a:pt x="15154" y="234571"/>
                    <a:pt x="41906" y="209241"/>
                  </a:cubicBezTo>
                  <a:lnTo>
                    <a:pt x="220984" y="39679"/>
                  </a:lnTo>
                  <a:cubicBezTo>
                    <a:pt x="247893" y="14200"/>
                    <a:pt x="283543" y="0"/>
                    <a:pt x="320601" y="0"/>
                  </a:cubicBezTo>
                  <a:lnTo>
                    <a:pt x="539189" y="0"/>
                  </a:lnTo>
                  <a:cubicBezTo>
                    <a:pt x="571062" y="0"/>
                    <a:pt x="596900" y="25838"/>
                    <a:pt x="596900" y="57711"/>
                  </a:cubicBezTo>
                  <a:close/>
                </a:path>
              </a:pathLst>
            </a:custGeom>
            <a:solidFill>
              <a:srgbClr val="8DABD2"/>
            </a:solidFill>
          </p:spPr>
        </p:sp>
        <p:sp>
          <p:nvSpPr>
            <p:cNvPr name="TextBox 17" id="17"/>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8" id="18"/>
          <p:cNvGrpSpPr/>
          <p:nvPr/>
        </p:nvGrpSpPr>
        <p:grpSpPr>
          <a:xfrm rot="-5400000">
            <a:off x="15047370" y="9566560"/>
            <a:ext cx="2392343" cy="2239640"/>
            <a:chOff x="0" y="0"/>
            <a:chExt cx="596900" cy="558800"/>
          </a:xfrm>
        </p:grpSpPr>
        <p:sp>
          <p:nvSpPr>
            <p:cNvPr name="Freeform 19" id="19"/>
            <p:cNvSpPr/>
            <p:nvPr/>
          </p:nvSpPr>
          <p:spPr>
            <a:xfrm flipH="false" flipV="false" rot="0">
              <a:off x="0" y="0"/>
              <a:ext cx="596900" cy="558800"/>
            </a:xfrm>
            <a:custGeom>
              <a:avLst/>
              <a:gdLst/>
              <a:ahLst/>
              <a:cxnLst/>
              <a:rect r="r" b="b" t="t" l="l"/>
              <a:pathLst>
                <a:path h="558800" w="596900">
                  <a:moveTo>
                    <a:pt x="596900" y="38024"/>
                  </a:moveTo>
                  <a:lnTo>
                    <a:pt x="596900" y="266776"/>
                  </a:lnTo>
                  <a:cubicBezTo>
                    <a:pt x="596900" y="291057"/>
                    <a:pt x="586948" y="314278"/>
                    <a:pt x="569365" y="331024"/>
                  </a:cubicBezTo>
                  <a:lnTo>
                    <a:pt x="357735" y="532576"/>
                  </a:lnTo>
                  <a:cubicBezTo>
                    <a:pt x="340059" y="549410"/>
                    <a:pt x="316585" y="558800"/>
                    <a:pt x="292176" y="558800"/>
                  </a:cubicBezTo>
                  <a:lnTo>
                    <a:pt x="38024" y="558800"/>
                  </a:lnTo>
                  <a:cubicBezTo>
                    <a:pt x="17024" y="558800"/>
                    <a:pt x="0" y="541776"/>
                    <a:pt x="0" y="520776"/>
                  </a:cubicBezTo>
                  <a:lnTo>
                    <a:pt x="0" y="286944"/>
                  </a:lnTo>
                  <a:cubicBezTo>
                    <a:pt x="0" y="262671"/>
                    <a:pt x="9985" y="239466"/>
                    <a:pt x="27611" y="222776"/>
                  </a:cubicBezTo>
                  <a:lnTo>
                    <a:pt x="235279" y="26144"/>
                  </a:lnTo>
                  <a:cubicBezTo>
                    <a:pt x="253009" y="9356"/>
                    <a:pt x="276498" y="0"/>
                    <a:pt x="300914" y="0"/>
                  </a:cubicBezTo>
                  <a:lnTo>
                    <a:pt x="558876" y="0"/>
                  </a:lnTo>
                  <a:cubicBezTo>
                    <a:pt x="579876" y="0"/>
                    <a:pt x="596900" y="17024"/>
                    <a:pt x="596900" y="38024"/>
                  </a:cubicBezTo>
                  <a:close/>
                </a:path>
              </a:pathLst>
            </a:custGeom>
            <a:solidFill>
              <a:srgbClr val="8DABD2"/>
            </a:solidFill>
          </p:spPr>
        </p:sp>
        <p:sp>
          <p:nvSpPr>
            <p:cNvPr name="TextBox 20" id="20"/>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21" id="21"/>
          <p:cNvGrpSpPr/>
          <p:nvPr/>
        </p:nvGrpSpPr>
        <p:grpSpPr>
          <a:xfrm rot="-5400000">
            <a:off x="6893558" y="1216803"/>
            <a:ext cx="1926476" cy="1803509"/>
            <a:chOff x="0" y="0"/>
            <a:chExt cx="596900" cy="558800"/>
          </a:xfrm>
        </p:grpSpPr>
        <p:sp>
          <p:nvSpPr>
            <p:cNvPr name="Freeform 22" id="22"/>
            <p:cNvSpPr/>
            <p:nvPr/>
          </p:nvSpPr>
          <p:spPr>
            <a:xfrm flipH="false" flipV="false" rot="0">
              <a:off x="0" y="0"/>
              <a:ext cx="596900" cy="558800"/>
            </a:xfrm>
            <a:custGeom>
              <a:avLst/>
              <a:gdLst/>
              <a:ahLst/>
              <a:cxnLst/>
              <a:rect r="r" b="b" t="t" l="l"/>
              <a:pathLst>
                <a:path h="558800" w="596900">
                  <a:moveTo>
                    <a:pt x="596900" y="47220"/>
                  </a:moveTo>
                  <a:lnTo>
                    <a:pt x="596900" y="257580"/>
                  </a:lnTo>
                  <a:cubicBezTo>
                    <a:pt x="596900" y="287734"/>
                    <a:pt x="584542" y="316570"/>
                    <a:pt x="562706" y="337365"/>
                  </a:cubicBezTo>
                  <a:lnTo>
                    <a:pt x="364394" y="526235"/>
                  </a:lnTo>
                  <a:cubicBezTo>
                    <a:pt x="342443" y="547140"/>
                    <a:pt x="313293" y="558800"/>
                    <a:pt x="282980" y="558800"/>
                  </a:cubicBezTo>
                  <a:lnTo>
                    <a:pt x="47220" y="558800"/>
                  </a:lnTo>
                  <a:cubicBezTo>
                    <a:pt x="21141" y="558800"/>
                    <a:pt x="0" y="537659"/>
                    <a:pt x="0" y="511580"/>
                  </a:cubicBezTo>
                  <a:lnTo>
                    <a:pt x="0" y="296140"/>
                  </a:lnTo>
                  <a:cubicBezTo>
                    <a:pt x="0" y="265996"/>
                    <a:pt x="12399" y="237179"/>
                    <a:pt x="34288" y="216454"/>
                  </a:cubicBezTo>
                  <a:lnTo>
                    <a:pt x="228602" y="32466"/>
                  </a:lnTo>
                  <a:cubicBezTo>
                    <a:pt x="250620" y="11618"/>
                    <a:pt x="279788" y="0"/>
                    <a:pt x="310110" y="0"/>
                  </a:cubicBezTo>
                  <a:lnTo>
                    <a:pt x="549680" y="0"/>
                  </a:lnTo>
                  <a:cubicBezTo>
                    <a:pt x="575759" y="0"/>
                    <a:pt x="596900" y="21141"/>
                    <a:pt x="596900" y="47220"/>
                  </a:cubicBezTo>
                  <a:close/>
                </a:path>
              </a:pathLst>
            </a:custGeom>
            <a:solidFill>
              <a:srgbClr val="8DABD2"/>
            </a:solidFill>
          </p:spPr>
        </p:sp>
        <p:sp>
          <p:nvSpPr>
            <p:cNvPr name="TextBox 23" id="23"/>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24" id="24"/>
          <p:cNvGrpSpPr/>
          <p:nvPr/>
        </p:nvGrpSpPr>
        <p:grpSpPr>
          <a:xfrm rot="0">
            <a:off x="1951600" y="163690"/>
            <a:ext cx="5089876" cy="6290011"/>
            <a:chOff x="0" y="0"/>
            <a:chExt cx="1460623" cy="1805022"/>
          </a:xfrm>
        </p:grpSpPr>
        <p:sp>
          <p:nvSpPr>
            <p:cNvPr name="Freeform 25" id="25"/>
            <p:cNvSpPr/>
            <p:nvPr/>
          </p:nvSpPr>
          <p:spPr>
            <a:xfrm flipH="false" flipV="false" rot="0">
              <a:off x="0" y="0"/>
              <a:ext cx="1460627" cy="1805022"/>
            </a:xfrm>
            <a:custGeom>
              <a:avLst/>
              <a:gdLst/>
              <a:ahLst/>
              <a:cxnLst/>
              <a:rect r="r" b="b" t="t" l="l"/>
              <a:pathLst>
                <a:path h="1805022" w="1460627">
                  <a:moveTo>
                    <a:pt x="1460627" y="1189424"/>
                  </a:moveTo>
                  <a:lnTo>
                    <a:pt x="1460627" y="561989"/>
                  </a:lnTo>
                  <a:cubicBezTo>
                    <a:pt x="1460629" y="522853"/>
                    <a:pt x="1446205" y="485089"/>
                    <a:pt x="1420114" y="455919"/>
                  </a:cubicBezTo>
                  <a:lnTo>
                    <a:pt x="1046362" y="38122"/>
                  </a:lnTo>
                  <a:cubicBezTo>
                    <a:pt x="1024662" y="13865"/>
                    <a:pt x="993657" y="0"/>
                    <a:pt x="961111" y="0"/>
                  </a:cubicBezTo>
                  <a:lnTo>
                    <a:pt x="114384" y="0"/>
                  </a:lnTo>
                  <a:cubicBezTo>
                    <a:pt x="51211" y="0"/>
                    <a:pt x="0" y="51211"/>
                    <a:pt x="0" y="114384"/>
                  </a:cubicBezTo>
                  <a:lnTo>
                    <a:pt x="0" y="501214"/>
                  </a:lnTo>
                  <a:lnTo>
                    <a:pt x="0" y="1234766"/>
                  </a:lnTo>
                  <a:cubicBezTo>
                    <a:pt x="0" y="1279232"/>
                    <a:pt x="16390" y="1322137"/>
                    <a:pt x="46036" y="1355277"/>
                  </a:cubicBezTo>
                  <a:lnTo>
                    <a:pt x="414263" y="1766900"/>
                  </a:lnTo>
                  <a:cubicBezTo>
                    <a:pt x="435962" y="1791157"/>
                    <a:pt x="466967" y="1805022"/>
                    <a:pt x="499514" y="1805022"/>
                  </a:cubicBezTo>
                  <a:lnTo>
                    <a:pt x="944739" y="1805022"/>
                  </a:lnTo>
                  <a:cubicBezTo>
                    <a:pt x="975076" y="1805022"/>
                    <a:pt x="1004170" y="1792971"/>
                    <a:pt x="1025621" y="1771520"/>
                  </a:cubicBezTo>
                  <a:cubicBezTo>
                    <a:pt x="1047073" y="1750069"/>
                    <a:pt x="1059124" y="1720975"/>
                    <a:pt x="1059124" y="1690638"/>
                  </a:cubicBezTo>
                  <a:lnTo>
                    <a:pt x="1059124" y="1418193"/>
                  </a:lnTo>
                  <a:cubicBezTo>
                    <a:pt x="1059124" y="1355019"/>
                    <a:pt x="1110336" y="1303808"/>
                    <a:pt x="1173509" y="1303808"/>
                  </a:cubicBezTo>
                  <a:lnTo>
                    <a:pt x="1346241" y="1303808"/>
                  </a:lnTo>
                  <a:cubicBezTo>
                    <a:pt x="1376578" y="1303808"/>
                    <a:pt x="1405672" y="1291757"/>
                    <a:pt x="1427124" y="1270306"/>
                  </a:cubicBezTo>
                  <a:cubicBezTo>
                    <a:pt x="1448576" y="1248855"/>
                    <a:pt x="1460627" y="1219761"/>
                    <a:pt x="1460627" y="1189424"/>
                  </a:cubicBezTo>
                  <a:close/>
                </a:path>
              </a:pathLst>
            </a:custGeom>
            <a:blipFill>
              <a:blip r:embed="rId2"/>
              <a:stretch>
                <a:fillRect l="0" t="-27" r="0" b="-27"/>
              </a:stretch>
            </a:blipFill>
            <a:ln w="152400" cap="sq">
              <a:solidFill>
                <a:srgbClr val="FFFFFF"/>
              </a:solidFill>
              <a:prstDash val="solid"/>
              <a:miter/>
            </a:ln>
          </p:spPr>
        </p:sp>
      </p:grpSp>
      <p:sp>
        <p:nvSpPr>
          <p:cNvPr name="Freeform 26" id="26"/>
          <p:cNvSpPr/>
          <p:nvPr/>
        </p:nvSpPr>
        <p:spPr>
          <a:xfrm flipH="true" flipV="true" rot="0">
            <a:off x="1344488" y="4969486"/>
            <a:ext cx="1214224" cy="1200978"/>
          </a:xfrm>
          <a:custGeom>
            <a:avLst/>
            <a:gdLst/>
            <a:ahLst/>
            <a:cxnLst/>
            <a:rect r="r" b="b" t="t" l="l"/>
            <a:pathLst>
              <a:path h="1200978" w="1214224">
                <a:moveTo>
                  <a:pt x="1214224" y="1200978"/>
                </a:moveTo>
                <a:lnTo>
                  <a:pt x="0" y="1200978"/>
                </a:lnTo>
                <a:lnTo>
                  <a:pt x="0" y="0"/>
                </a:lnTo>
                <a:lnTo>
                  <a:pt x="1214224" y="0"/>
                </a:lnTo>
                <a:lnTo>
                  <a:pt x="1214224" y="1200978"/>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7" id="27"/>
          <p:cNvSpPr/>
          <p:nvPr/>
        </p:nvSpPr>
        <p:spPr>
          <a:xfrm flipH="false" flipV="false" rot="0">
            <a:off x="931024" y="532300"/>
            <a:ext cx="1401730" cy="231923"/>
          </a:xfrm>
          <a:custGeom>
            <a:avLst/>
            <a:gdLst/>
            <a:ahLst/>
            <a:cxnLst/>
            <a:rect r="r" b="b" t="t" l="l"/>
            <a:pathLst>
              <a:path h="231923" w="1401730">
                <a:moveTo>
                  <a:pt x="0" y="0"/>
                </a:moveTo>
                <a:lnTo>
                  <a:pt x="1401731" y="0"/>
                </a:lnTo>
                <a:lnTo>
                  <a:pt x="1401731" y="231922"/>
                </a:lnTo>
                <a:lnTo>
                  <a:pt x="0" y="23192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8" id="28"/>
          <p:cNvSpPr/>
          <p:nvPr/>
        </p:nvSpPr>
        <p:spPr>
          <a:xfrm flipH="false" flipV="false" rot="0">
            <a:off x="16243541" y="9816080"/>
            <a:ext cx="1211471" cy="200443"/>
          </a:xfrm>
          <a:custGeom>
            <a:avLst/>
            <a:gdLst/>
            <a:ahLst/>
            <a:cxnLst/>
            <a:rect r="r" b="b" t="t" l="l"/>
            <a:pathLst>
              <a:path h="200443" w="1211471">
                <a:moveTo>
                  <a:pt x="0" y="0"/>
                </a:moveTo>
                <a:lnTo>
                  <a:pt x="1211471" y="0"/>
                </a:lnTo>
                <a:lnTo>
                  <a:pt x="1211471" y="200443"/>
                </a:lnTo>
                <a:lnTo>
                  <a:pt x="0" y="20044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9" id="29"/>
          <p:cNvSpPr/>
          <p:nvPr/>
        </p:nvSpPr>
        <p:spPr>
          <a:xfrm flipH="false" flipV="false" rot="0">
            <a:off x="11292003" y="609463"/>
            <a:ext cx="935360" cy="154760"/>
          </a:xfrm>
          <a:custGeom>
            <a:avLst/>
            <a:gdLst/>
            <a:ahLst/>
            <a:cxnLst/>
            <a:rect r="r" b="b" t="t" l="l"/>
            <a:pathLst>
              <a:path h="154760" w="935360">
                <a:moveTo>
                  <a:pt x="0" y="0"/>
                </a:moveTo>
                <a:lnTo>
                  <a:pt x="935360" y="0"/>
                </a:lnTo>
                <a:lnTo>
                  <a:pt x="935360" y="154759"/>
                </a:lnTo>
                <a:lnTo>
                  <a:pt x="0" y="15475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AutoShape 30" id="30"/>
          <p:cNvSpPr/>
          <p:nvPr/>
        </p:nvSpPr>
        <p:spPr>
          <a:xfrm>
            <a:off x="11514393" y="2891389"/>
            <a:ext cx="8461486" cy="0"/>
          </a:xfrm>
          <a:prstGeom prst="line">
            <a:avLst/>
          </a:prstGeom>
          <a:ln cap="rnd" w="38100">
            <a:solidFill>
              <a:srgbClr val="8DABD2"/>
            </a:solidFill>
            <a:prstDash val="solid"/>
            <a:headEnd type="none" len="sm" w="sm"/>
            <a:tailEnd type="none" len="sm" w="sm"/>
          </a:ln>
        </p:spPr>
      </p:sp>
      <p:sp>
        <p:nvSpPr>
          <p:cNvPr name="Freeform 31" id="31"/>
          <p:cNvSpPr/>
          <p:nvPr/>
        </p:nvSpPr>
        <p:spPr>
          <a:xfrm flipH="false" flipV="false" rot="0">
            <a:off x="10390671" y="7442444"/>
            <a:ext cx="2247444" cy="252928"/>
          </a:xfrm>
          <a:custGeom>
            <a:avLst/>
            <a:gdLst/>
            <a:ahLst/>
            <a:cxnLst/>
            <a:rect r="r" b="b" t="t" l="l"/>
            <a:pathLst>
              <a:path h="252928" w="2247444">
                <a:moveTo>
                  <a:pt x="0" y="0"/>
                </a:moveTo>
                <a:lnTo>
                  <a:pt x="2247444" y="0"/>
                </a:lnTo>
                <a:lnTo>
                  <a:pt x="2247444" y="252928"/>
                </a:lnTo>
                <a:lnTo>
                  <a:pt x="0" y="252928"/>
                </a:lnTo>
                <a:lnTo>
                  <a:pt x="0" y="0"/>
                </a:lnTo>
                <a:close/>
              </a:path>
            </a:pathLst>
          </a:custGeom>
          <a:blipFill>
            <a:blip r:embed="rId9"/>
            <a:stretch>
              <a:fillRect l="0" t="0" r="0" b="0"/>
            </a:stretch>
          </a:blipFill>
        </p:spPr>
      </p:sp>
      <p:sp>
        <p:nvSpPr>
          <p:cNvPr name="AutoShape 32" id="32"/>
          <p:cNvSpPr/>
          <p:nvPr/>
        </p:nvSpPr>
        <p:spPr>
          <a:xfrm>
            <a:off x="9085915" y="4116630"/>
            <a:ext cx="0" cy="5931185"/>
          </a:xfrm>
          <a:prstGeom prst="line">
            <a:avLst/>
          </a:prstGeom>
          <a:ln cap="rnd" w="38100">
            <a:solidFill>
              <a:srgbClr val="8DABD2"/>
            </a:solidFill>
            <a:prstDash val="solid"/>
            <a:headEnd type="none" len="sm" w="sm"/>
            <a:tailEnd type="none" len="sm" w="sm"/>
          </a:ln>
        </p:spPr>
      </p:sp>
      <p:sp>
        <p:nvSpPr>
          <p:cNvPr name="Freeform 33" id="33"/>
          <p:cNvSpPr/>
          <p:nvPr/>
        </p:nvSpPr>
        <p:spPr>
          <a:xfrm flipH="false" flipV="false" rot="0">
            <a:off x="10347187" y="8515990"/>
            <a:ext cx="7148864" cy="900795"/>
          </a:xfrm>
          <a:custGeom>
            <a:avLst/>
            <a:gdLst/>
            <a:ahLst/>
            <a:cxnLst/>
            <a:rect r="r" b="b" t="t" l="l"/>
            <a:pathLst>
              <a:path h="900795" w="7148864">
                <a:moveTo>
                  <a:pt x="0" y="0"/>
                </a:moveTo>
                <a:lnTo>
                  <a:pt x="7148864" y="0"/>
                </a:lnTo>
                <a:lnTo>
                  <a:pt x="7148864" y="900795"/>
                </a:lnTo>
                <a:lnTo>
                  <a:pt x="0" y="900795"/>
                </a:lnTo>
                <a:lnTo>
                  <a:pt x="0" y="0"/>
                </a:lnTo>
                <a:close/>
              </a:path>
            </a:pathLst>
          </a:custGeom>
          <a:blipFill>
            <a:blip r:embed="rId10"/>
            <a:stretch>
              <a:fillRect l="0" t="0" r="0" b="0"/>
            </a:stretch>
          </a:blipFill>
        </p:spPr>
      </p:sp>
      <p:sp>
        <p:nvSpPr>
          <p:cNvPr name="TextBox 34" id="34"/>
          <p:cNvSpPr txBox="true"/>
          <p:nvPr/>
        </p:nvSpPr>
        <p:spPr>
          <a:xfrm rot="0">
            <a:off x="9568176" y="2496022"/>
            <a:ext cx="7328203" cy="281066"/>
          </a:xfrm>
          <a:prstGeom prst="rect">
            <a:avLst/>
          </a:prstGeom>
        </p:spPr>
        <p:txBody>
          <a:bodyPr anchor="t" rtlCol="false" tIns="0" lIns="0" bIns="0" rIns="0">
            <a:spAutoFit/>
          </a:bodyPr>
          <a:lstStyle/>
          <a:p>
            <a:pPr algn="r" marL="0" indent="0" lvl="0">
              <a:lnSpc>
                <a:spcPts val="2358"/>
              </a:lnSpc>
            </a:pPr>
            <a:r>
              <a:rPr lang="en-US" b="true" sz="1684">
                <a:solidFill>
                  <a:srgbClr val="011A3C"/>
                </a:solidFill>
                <a:latin typeface="Nunito Bold"/>
                <a:ea typeface="Nunito Bold"/>
                <a:cs typeface="Nunito Bold"/>
                <a:sym typeface="Nunito Bold"/>
              </a:rPr>
              <a:t>Enfoque Modular y Seguridad Electrónica del Sistema PachaTech</a:t>
            </a:r>
          </a:p>
        </p:txBody>
      </p:sp>
      <p:sp>
        <p:nvSpPr>
          <p:cNvPr name="TextBox 35" id="35"/>
          <p:cNvSpPr txBox="true"/>
          <p:nvPr/>
        </p:nvSpPr>
        <p:spPr>
          <a:xfrm rot="0">
            <a:off x="13033115" y="894948"/>
            <a:ext cx="3805659" cy="281066"/>
          </a:xfrm>
          <a:prstGeom prst="rect">
            <a:avLst/>
          </a:prstGeom>
        </p:spPr>
        <p:txBody>
          <a:bodyPr anchor="t" rtlCol="false" tIns="0" lIns="0" bIns="0" rIns="0">
            <a:spAutoFit/>
          </a:bodyPr>
          <a:lstStyle/>
          <a:p>
            <a:pPr algn="r" marL="0" indent="0" lvl="0">
              <a:lnSpc>
                <a:spcPts val="2358"/>
              </a:lnSpc>
            </a:pPr>
            <a:r>
              <a:rPr lang="en-US" sz="1684">
                <a:solidFill>
                  <a:srgbClr val="011A3C"/>
                </a:solidFill>
                <a:latin typeface="Nunito"/>
                <a:ea typeface="Nunito"/>
                <a:cs typeface="Nunito"/>
                <a:sym typeface="Nunito"/>
              </a:rPr>
              <a:t>PachaTech - Arduino</a:t>
            </a:r>
          </a:p>
        </p:txBody>
      </p:sp>
      <p:sp>
        <p:nvSpPr>
          <p:cNvPr name="TextBox 36" id="36"/>
          <p:cNvSpPr txBox="true"/>
          <p:nvPr/>
        </p:nvSpPr>
        <p:spPr>
          <a:xfrm rot="0">
            <a:off x="10272198" y="3148624"/>
            <a:ext cx="7455160" cy="2753288"/>
          </a:xfrm>
          <a:prstGeom prst="rect">
            <a:avLst/>
          </a:prstGeom>
        </p:spPr>
        <p:txBody>
          <a:bodyPr anchor="t" rtlCol="false" tIns="0" lIns="0" bIns="0" rIns="0">
            <a:spAutoFit/>
          </a:bodyPr>
          <a:lstStyle/>
          <a:p>
            <a:pPr algn="just" marL="0" indent="0" lvl="0">
              <a:lnSpc>
                <a:spcPts val="2021"/>
              </a:lnSpc>
            </a:pPr>
            <a:r>
              <a:rPr lang="en-US" b="true" sz="1684">
                <a:solidFill>
                  <a:srgbClr val="011A3C"/>
                </a:solidFill>
                <a:latin typeface="Nunito Bold"/>
                <a:ea typeface="Nunito Bold"/>
                <a:cs typeface="Nunito Bold"/>
                <a:sym typeface="Nunito Bold"/>
              </a:rPr>
              <a:t>Diseño M</a:t>
            </a:r>
            <a:r>
              <a:rPr lang="en-US" b="true" sz="1684">
                <a:solidFill>
                  <a:srgbClr val="011A3C"/>
                </a:solidFill>
                <a:latin typeface="Nunito Bold"/>
                <a:ea typeface="Nunito Bold"/>
                <a:cs typeface="Nunito Bold"/>
                <a:sym typeface="Nunito Bold"/>
              </a:rPr>
              <a:t>odular Integrado</a:t>
            </a:r>
          </a:p>
          <a:p>
            <a:pPr algn="just" marL="0" indent="0" lvl="0">
              <a:lnSpc>
                <a:spcPts val="2021"/>
              </a:lnSpc>
            </a:pPr>
            <a:r>
              <a:rPr lang="en-US" sz="1684">
                <a:solidFill>
                  <a:srgbClr val="011A3C"/>
                </a:solidFill>
                <a:latin typeface="Nunito"/>
                <a:ea typeface="Nunito"/>
                <a:cs typeface="Nunito"/>
                <a:sym typeface="Nunito"/>
              </a:rPr>
              <a:t>El hardware se divide estratégicamente en cuatro bloques funcionales básicos:</a:t>
            </a:r>
          </a:p>
          <a:p>
            <a:pPr algn="l" marL="363661" indent="-181830" lvl="1">
              <a:lnSpc>
                <a:spcPts val="2762"/>
              </a:lnSpc>
              <a:buFont typeface="Arial"/>
              <a:buChar char="•"/>
            </a:pPr>
            <a:r>
              <a:rPr lang="en-US" sz="1684">
                <a:solidFill>
                  <a:srgbClr val="011A3C"/>
                </a:solidFill>
                <a:latin typeface="Nunito"/>
                <a:ea typeface="Nunito"/>
                <a:cs typeface="Nunito"/>
                <a:sym typeface="Nunito"/>
              </a:rPr>
              <a:t>Entradas: Sensores de humedad de suelo multizona (A0/A1) y sensor ambiental DHT11 (Pin 2).</a:t>
            </a:r>
          </a:p>
          <a:p>
            <a:pPr algn="l" marL="363661" indent="-181830" lvl="1">
              <a:lnSpc>
                <a:spcPts val="2762"/>
              </a:lnSpc>
              <a:buFont typeface="Arial"/>
              <a:buChar char="•"/>
            </a:pPr>
            <a:r>
              <a:rPr lang="en-US" sz="1684">
                <a:solidFill>
                  <a:srgbClr val="011A3C"/>
                </a:solidFill>
                <a:latin typeface="Nunito"/>
                <a:ea typeface="Nunito"/>
                <a:cs typeface="Nunito"/>
                <a:sym typeface="Nunito"/>
              </a:rPr>
              <a:t>Procesamiento: Microcontrolador maestro ATmega328P (Arduino Uno).</a:t>
            </a:r>
          </a:p>
          <a:p>
            <a:pPr algn="l" marL="363661" indent="-181830" lvl="1">
              <a:lnSpc>
                <a:spcPts val="2762"/>
              </a:lnSpc>
              <a:buFont typeface="Arial"/>
              <a:buChar char="•"/>
            </a:pPr>
            <a:r>
              <a:rPr lang="en-US" sz="1684">
                <a:solidFill>
                  <a:srgbClr val="011A3C"/>
                </a:solidFill>
                <a:latin typeface="Nunito"/>
                <a:ea typeface="Nunito"/>
                <a:cs typeface="Nunito"/>
                <a:sym typeface="Nunito"/>
              </a:rPr>
              <a:t>Comunicaciones: Módulo Bluetooth HC-05 (UART) para enlace inalámbrico.</a:t>
            </a:r>
          </a:p>
          <a:p>
            <a:pPr algn="l" marL="363661" indent="-181830" lvl="1">
              <a:lnSpc>
                <a:spcPts val="2762"/>
              </a:lnSpc>
              <a:buFont typeface="Arial"/>
              <a:buChar char="•"/>
            </a:pPr>
            <a:r>
              <a:rPr lang="en-US" sz="1684">
                <a:solidFill>
                  <a:srgbClr val="011A3C"/>
                </a:solidFill>
                <a:latin typeface="Nunito"/>
                <a:ea typeface="Nunito"/>
                <a:cs typeface="Nunito"/>
                <a:sym typeface="Nunito"/>
              </a:rPr>
              <a:t>Salidas y Potencia: Módulo Relé de 1 canal y Bomba de agua DC de 5V.</a:t>
            </a:r>
          </a:p>
        </p:txBody>
      </p:sp>
      <p:sp>
        <p:nvSpPr>
          <p:cNvPr name="TextBox 37" id="37"/>
          <p:cNvSpPr txBox="true"/>
          <p:nvPr/>
        </p:nvSpPr>
        <p:spPr>
          <a:xfrm rot="0">
            <a:off x="10272198" y="6449637"/>
            <a:ext cx="7455160" cy="1733550"/>
          </a:xfrm>
          <a:prstGeom prst="rect">
            <a:avLst/>
          </a:prstGeom>
        </p:spPr>
        <p:txBody>
          <a:bodyPr anchor="t" rtlCol="false" tIns="0" lIns="0" bIns="0" rIns="0">
            <a:spAutoFit/>
          </a:bodyPr>
          <a:lstStyle/>
          <a:p>
            <a:pPr algn="just" marL="0" indent="0" lvl="0">
              <a:lnSpc>
                <a:spcPts val="2021"/>
              </a:lnSpc>
            </a:pPr>
            <a:r>
              <a:rPr lang="en-US" b="true" sz="1684">
                <a:solidFill>
                  <a:srgbClr val="011A3C"/>
                </a:solidFill>
                <a:latin typeface="Nunito Bold"/>
                <a:ea typeface="Nunito Bold"/>
                <a:cs typeface="Nunito Bold"/>
                <a:sym typeface="Nunito Bold"/>
              </a:rPr>
              <a:t>Protección Lógica (Acople </a:t>
            </a:r>
            <a:r>
              <a:rPr lang="en-US" b="true" sz="1684">
                <a:solidFill>
                  <a:srgbClr val="011A3C"/>
                </a:solidFill>
                <a:latin typeface="Nunito Bold"/>
                <a:ea typeface="Nunito Bold"/>
                <a:cs typeface="Nunito Bold"/>
                <a:sym typeface="Nunito Bold"/>
              </a:rPr>
              <a:t>de Niveles)</a:t>
            </a:r>
          </a:p>
          <a:p>
            <a:pPr algn="just" marL="363661" indent="-181830" lvl="1">
              <a:lnSpc>
                <a:spcPts val="2021"/>
              </a:lnSpc>
              <a:buFont typeface="Arial"/>
              <a:buChar char="•"/>
            </a:pPr>
            <a:r>
              <a:rPr lang="en-US" sz="1684">
                <a:solidFill>
                  <a:srgbClr val="011A3C"/>
                </a:solidFill>
                <a:latin typeface="Nunito"/>
                <a:ea typeface="Nunito"/>
                <a:cs typeface="Nunito"/>
                <a:sym typeface="Nunito"/>
              </a:rPr>
              <a:t>El Arduino Uno transmite a 5V (TX), pero el pin RXD del HC-05 opera estrictamente a 3.3V.</a:t>
            </a:r>
          </a:p>
          <a:p>
            <a:pPr algn="just" marL="363661" indent="-181830" lvl="1">
              <a:lnSpc>
                <a:spcPts val="2021"/>
              </a:lnSpc>
              <a:buFont typeface="Arial"/>
              <a:buChar char="•"/>
            </a:pPr>
            <a:r>
              <a:rPr lang="en-US" sz="1684">
                <a:solidFill>
                  <a:srgbClr val="011A3C"/>
                </a:solidFill>
                <a:latin typeface="Nunito"/>
                <a:ea typeface="Nunito"/>
                <a:cs typeface="Nunito"/>
                <a:sym typeface="Nunito"/>
              </a:rPr>
              <a:t>Solución: Se implementó un divisor de tensión resistivo                                                                                                                                                                  </a:t>
            </a:r>
          </a:p>
          <a:p>
            <a:pPr algn="just">
              <a:lnSpc>
                <a:spcPts val="2021"/>
              </a:lnSpc>
            </a:pPr>
          </a:p>
          <a:p>
            <a:pPr algn="just">
              <a:lnSpc>
                <a:spcPts val="2021"/>
              </a:lnSpc>
            </a:pPr>
            <a:r>
              <a:rPr lang="en-US" sz="1684">
                <a:solidFill>
                  <a:srgbClr val="011A3C"/>
                </a:solidFill>
                <a:latin typeface="Nunito"/>
                <a:ea typeface="Nunito"/>
                <a:cs typeface="Nunito"/>
                <a:sym typeface="Nunito"/>
              </a:rPr>
              <a:t>basado en la Ley de Ohm para atenuar la señal de forma segura a 3.33V, evitando daños por sobretensión. </a:t>
            </a:r>
          </a:p>
        </p:txBody>
      </p:sp>
      <p:sp>
        <p:nvSpPr>
          <p:cNvPr name="TextBox 38" id="38"/>
          <p:cNvSpPr txBox="true"/>
          <p:nvPr/>
        </p:nvSpPr>
        <p:spPr>
          <a:xfrm rot="0">
            <a:off x="1028700" y="6828597"/>
            <a:ext cx="7948882" cy="1733550"/>
          </a:xfrm>
          <a:prstGeom prst="rect">
            <a:avLst/>
          </a:prstGeom>
        </p:spPr>
        <p:txBody>
          <a:bodyPr anchor="t" rtlCol="false" tIns="0" lIns="0" bIns="0" rIns="0">
            <a:spAutoFit/>
          </a:bodyPr>
          <a:lstStyle/>
          <a:p>
            <a:pPr algn="just">
              <a:lnSpc>
                <a:spcPts val="2021"/>
              </a:lnSpc>
            </a:pPr>
            <a:r>
              <a:rPr lang="en-US" sz="1684" b="true">
                <a:solidFill>
                  <a:srgbClr val="011A3C"/>
                </a:solidFill>
                <a:latin typeface="Nunito Bold"/>
                <a:ea typeface="Nunito Bold"/>
                <a:cs typeface="Nunito Bold"/>
                <a:sym typeface="Nunito Bold"/>
              </a:rPr>
              <a:t>Protección de Potencia (Aislamiento Galvánico):</a:t>
            </a:r>
          </a:p>
          <a:p>
            <a:pPr algn="just">
              <a:lnSpc>
                <a:spcPts val="2021"/>
              </a:lnSpc>
            </a:pPr>
          </a:p>
          <a:p>
            <a:pPr algn="just" marL="363661" indent="-181830" lvl="1">
              <a:lnSpc>
                <a:spcPts val="2021"/>
              </a:lnSpc>
              <a:buFont typeface="Arial"/>
              <a:buChar char="•"/>
            </a:pPr>
            <a:r>
              <a:rPr lang="en-US" sz="1684">
                <a:solidFill>
                  <a:srgbClr val="011A3C"/>
                </a:solidFill>
                <a:latin typeface="Nunito"/>
                <a:ea typeface="Nunito"/>
                <a:cs typeface="Nunito"/>
                <a:sym typeface="Nunito"/>
              </a:rPr>
              <a:t>La bomba de agua genera picos de corriente (ruido inductivo) que exceden los límites del Arduino.</a:t>
            </a:r>
          </a:p>
          <a:p>
            <a:pPr algn="just" marL="363661" indent="-181830" lvl="1">
              <a:lnSpc>
                <a:spcPts val="2021"/>
              </a:lnSpc>
              <a:buFont typeface="Arial"/>
              <a:buChar char="•"/>
            </a:pPr>
            <a:r>
              <a:rPr lang="en-US" sz="1684">
                <a:solidFill>
                  <a:srgbClr val="011A3C"/>
                </a:solidFill>
                <a:latin typeface="Nunito"/>
                <a:ea typeface="Nunito"/>
                <a:cs typeface="Nunito"/>
                <a:sym typeface="Nunito"/>
              </a:rPr>
              <a:t>Solución: Uso de un módulo relé para separar por completo la etapa de control (5V) de la etapa de potencia, alimentando la bomba exclusivamente mediante una fuente externa independiente (Batería de 9V).</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12701448" y="-2614982"/>
            <a:ext cx="5586552" cy="5229964"/>
            <a:chOff x="0" y="0"/>
            <a:chExt cx="596900" cy="558800"/>
          </a:xfrm>
        </p:grpSpPr>
        <p:sp>
          <p:nvSpPr>
            <p:cNvPr name="Freeform 3" id="3"/>
            <p:cNvSpPr/>
            <p:nvPr/>
          </p:nvSpPr>
          <p:spPr>
            <a:xfrm flipH="false" flipV="false" rot="0">
              <a:off x="0" y="0"/>
              <a:ext cx="596900" cy="558800"/>
            </a:xfrm>
            <a:custGeom>
              <a:avLst/>
              <a:gdLst/>
              <a:ahLst/>
              <a:cxnLst/>
              <a:rect r="r" b="b" t="t" l="l"/>
              <a:pathLst>
                <a:path h="558800" w="596900">
                  <a:moveTo>
                    <a:pt x="596900" y="16283"/>
                  </a:moveTo>
                  <a:lnTo>
                    <a:pt x="596900" y="288517"/>
                  </a:lnTo>
                  <a:cubicBezTo>
                    <a:pt x="596900" y="298915"/>
                    <a:pt x="592638" y="308859"/>
                    <a:pt x="585109" y="316030"/>
                  </a:cubicBezTo>
                  <a:lnTo>
                    <a:pt x="341991" y="547570"/>
                  </a:lnTo>
                  <a:cubicBezTo>
                    <a:pt x="334422" y="554779"/>
                    <a:pt x="324370" y="558800"/>
                    <a:pt x="313917" y="558800"/>
                  </a:cubicBezTo>
                  <a:lnTo>
                    <a:pt x="16283" y="558800"/>
                  </a:lnTo>
                  <a:cubicBezTo>
                    <a:pt x="7290" y="558800"/>
                    <a:pt x="0" y="551510"/>
                    <a:pt x="0" y="542517"/>
                  </a:cubicBezTo>
                  <a:lnTo>
                    <a:pt x="0" y="265203"/>
                  </a:lnTo>
                  <a:cubicBezTo>
                    <a:pt x="0" y="254809"/>
                    <a:pt x="4276" y="244871"/>
                    <a:pt x="11824" y="237724"/>
                  </a:cubicBezTo>
                  <a:lnTo>
                    <a:pt x="251066" y="11196"/>
                  </a:lnTo>
                  <a:cubicBezTo>
                    <a:pt x="258659" y="4007"/>
                    <a:pt x="268717" y="0"/>
                    <a:pt x="279173" y="0"/>
                  </a:cubicBezTo>
                  <a:lnTo>
                    <a:pt x="580617" y="0"/>
                  </a:lnTo>
                  <a:cubicBezTo>
                    <a:pt x="589610" y="0"/>
                    <a:pt x="596900" y="7290"/>
                    <a:pt x="596900" y="16283"/>
                  </a:cubicBezTo>
                  <a:close/>
                </a:path>
              </a:pathLst>
            </a:custGeom>
            <a:solidFill>
              <a:srgbClr val="014AAB">
                <a:alpha val="5882"/>
              </a:srgbClr>
            </a:solidFill>
          </p:spPr>
        </p:sp>
        <p:sp>
          <p:nvSpPr>
            <p:cNvPr name="TextBox 4" id="4"/>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5" id="5"/>
          <p:cNvGrpSpPr/>
          <p:nvPr/>
        </p:nvGrpSpPr>
        <p:grpSpPr>
          <a:xfrm rot="-5400000">
            <a:off x="-1887473" y="-903045"/>
            <a:ext cx="5586552" cy="5229964"/>
            <a:chOff x="0" y="0"/>
            <a:chExt cx="596900" cy="558800"/>
          </a:xfrm>
        </p:grpSpPr>
        <p:sp>
          <p:nvSpPr>
            <p:cNvPr name="Freeform 6" id="6"/>
            <p:cNvSpPr/>
            <p:nvPr/>
          </p:nvSpPr>
          <p:spPr>
            <a:xfrm flipH="false" flipV="false" rot="0">
              <a:off x="0" y="0"/>
              <a:ext cx="596900" cy="558800"/>
            </a:xfrm>
            <a:custGeom>
              <a:avLst/>
              <a:gdLst/>
              <a:ahLst/>
              <a:cxnLst/>
              <a:rect r="r" b="b" t="t" l="l"/>
              <a:pathLst>
                <a:path h="558800" w="596900">
                  <a:moveTo>
                    <a:pt x="596900" y="16283"/>
                  </a:moveTo>
                  <a:lnTo>
                    <a:pt x="596900" y="288517"/>
                  </a:lnTo>
                  <a:cubicBezTo>
                    <a:pt x="596900" y="298915"/>
                    <a:pt x="592638" y="308859"/>
                    <a:pt x="585109" y="316030"/>
                  </a:cubicBezTo>
                  <a:lnTo>
                    <a:pt x="341991" y="547570"/>
                  </a:lnTo>
                  <a:cubicBezTo>
                    <a:pt x="334422" y="554779"/>
                    <a:pt x="324370" y="558800"/>
                    <a:pt x="313917" y="558800"/>
                  </a:cubicBezTo>
                  <a:lnTo>
                    <a:pt x="16283" y="558800"/>
                  </a:lnTo>
                  <a:cubicBezTo>
                    <a:pt x="7290" y="558800"/>
                    <a:pt x="0" y="551510"/>
                    <a:pt x="0" y="542517"/>
                  </a:cubicBezTo>
                  <a:lnTo>
                    <a:pt x="0" y="265203"/>
                  </a:lnTo>
                  <a:cubicBezTo>
                    <a:pt x="0" y="254809"/>
                    <a:pt x="4276" y="244871"/>
                    <a:pt x="11824" y="237724"/>
                  </a:cubicBezTo>
                  <a:lnTo>
                    <a:pt x="251066" y="11196"/>
                  </a:lnTo>
                  <a:cubicBezTo>
                    <a:pt x="258659" y="4007"/>
                    <a:pt x="268717" y="0"/>
                    <a:pt x="279173" y="0"/>
                  </a:cubicBezTo>
                  <a:lnTo>
                    <a:pt x="580617" y="0"/>
                  </a:lnTo>
                  <a:cubicBezTo>
                    <a:pt x="589610" y="0"/>
                    <a:pt x="596900" y="7290"/>
                    <a:pt x="596900" y="16283"/>
                  </a:cubicBezTo>
                  <a:close/>
                </a:path>
              </a:pathLst>
            </a:custGeom>
            <a:solidFill>
              <a:srgbClr val="014AAB">
                <a:alpha val="5882"/>
              </a:srgbClr>
            </a:solidFill>
          </p:spPr>
        </p:sp>
        <p:sp>
          <p:nvSpPr>
            <p:cNvPr name="TextBox 7" id="7"/>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8" id="8"/>
          <p:cNvGrpSpPr/>
          <p:nvPr/>
        </p:nvGrpSpPr>
        <p:grpSpPr>
          <a:xfrm rot="0">
            <a:off x="-2185303" y="4504771"/>
            <a:ext cx="10433951" cy="9767954"/>
            <a:chOff x="0" y="0"/>
            <a:chExt cx="596900" cy="558800"/>
          </a:xfrm>
        </p:grpSpPr>
        <p:sp>
          <p:nvSpPr>
            <p:cNvPr name="Freeform 9" id="9"/>
            <p:cNvSpPr/>
            <p:nvPr/>
          </p:nvSpPr>
          <p:spPr>
            <a:xfrm flipH="false" flipV="false" rot="0">
              <a:off x="0" y="0"/>
              <a:ext cx="596900" cy="558800"/>
            </a:xfrm>
            <a:custGeom>
              <a:avLst/>
              <a:gdLst/>
              <a:ahLst/>
              <a:cxnLst/>
              <a:rect r="r" b="b" t="t" l="l"/>
              <a:pathLst>
                <a:path h="558800" w="596900">
                  <a:moveTo>
                    <a:pt x="596900" y="17437"/>
                  </a:moveTo>
                  <a:lnTo>
                    <a:pt x="596900" y="287363"/>
                  </a:lnTo>
                  <a:cubicBezTo>
                    <a:pt x="596900" y="298498"/>
                    <a:pt x="592336" y="309146"/>
                    <a:pt x="584273" y="316825"/>
                  </a:cubicBezTo>
                  <a:lnTo>
                    <a:pt x="342827" y="546775"/>
                  </a:lnTo>
                  <a:cubicBezTo>
                    <a:pt x="334721" y="554494"/>
                    <a:pt x="323957" y="558800"/>
                    <a:pt x="312763" y="558800"/>
                  </a:cubicBezTo>
                  <a:lnTo>
                    <a:pt x="17437" y="558800"/>
                  </a:lnTo>
                  <a:cubicBezTo>
                    <a:pt x="7807" y="558800"/>
                    <a:pt x="0" y="550993"/>
                    <a:pt x="0" y="541363"/>
                  </a:cubicBezTo>
                  <a:lnTo>
                    <a:pt x="0" y="266357"/>
                  </a:lnTo>
                  <a:cubicBezTo>
                    <a:pt x="0" y="255226"/>
                    <a:pt x="4579" y="244585"/>
                    <a:pt x="12662" y="236931"/>
                  </a:cubicBezTo>
                  <a:lnTo>
                    <a:pt x="250228" y="11989"/>
                  </a:lnTo>
                  <a:cubicBezTo>
                    <a:pt x="258359" y="4290"/>
                    <a:pt x="269130" y="0"/>
                    <a:pt x="280327" y="0"/>
                  </a:cubicBezTo>
                  <a:lnTo>
                    <a:pt x="579463" y="0"/>
                  </a:lnTo>
                  <a:cubicBezTo>
                    <a:pt x="589093" y="0"/>
                    <a:pt x="596900" y="7807"/>
                    <a:pt x="596900" y="17437"/>
                  </a:cubicBezTo>
                  <a:close/>
                </a:path>
              </a:pathLst>
            </a:custGeom>
            <a:solidFill>
              <a:srgbClr val="014AAB"/>
            </a:solidFill>
          </p:spPr>
        </p:sp>
        <p:sp>
          <p:nvSpPr>
            <p:cNvPr name="TextBox 10" id="10"/>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1" id="11"/>
          <p:cNvGrpSpPr/>
          <p:nvPr/>
        </p:nvGrpSpPr>
        <p:grpSpPr>
          <a:xfrm rot="5400000">
            <a:off x="14333257" y="3352274"/>
            <a:ext cx="10433951" cy="9767954"/>
            <a:chOff x="0" y="0"/>
            <a:chExt cx="596900" cy="558800"/>
          </a:xfrm>
        </p:grpSpPr>
        <p:sp>
          <p:nvSpPr>
            <p:cNvPr name="Freeform 12" id="12"/>
            <p:cNvSpPr/>
            <p:nvPr/>
          </p:nvSpPr>
          <p:spPr>
            <a:xfrm flipH="false" flipV="false" rot="0">
              <a:off x="0" y="0"/>
              <a:ext cx="596900" cy="558800"/>
            </a:xfrm>
            <a:custGeom>
              <a:avLst/>
              <a:gdLst/>
              <a:ahLst/>
              <a:cxnLst/>
              <a:rect r="r" b="b" t="t" l="l"/>
              <a:pathLst>
                <a:path h="558800" w="596900">
                  <a:moveTo>
                    <a:pt x="596900" y="17437"/>
                  </a:moveTo>
                  <a:lnTo>
                    <a:pt x="596900" y="287363"/>
                  </a:lnTo>
                  <a:cubicBezTo>
                    <a:pt x="596900" y="298498"/>
                    <a:pt x="592336" y="309146"/>
                    <a:pt x="584273" y="316825"/>
                  </a:cubicBezTo>
                  <a:lnTo>
                    <a:pt x="342827" y="546775"/>
                  </a:lnTo>
                  <a:cubicBezTo>
                    <a:pt x="334721" y="554494"/>
                    <a:pt x="323957" y="558800"/>
                    <a:pt x="312763" y="558800"/>
                  </a:cubicBezTo>
                  <a:lnTo>
                    <a:pt x="17437" y="558800"/>
                  </a:lnTo>
                  <a:cubicBezTo>
                    <a:pt x="7807" y="558800"/>
                    <a:pt x="0" y="550993"/>
                    <a:pt x="0" y="541363"/>
                  </a:cubicBezTo>
                  <a:lnTo>
                    <a:pt x="0" y="266357"/>
                  </a:lnTo>
                  <a:cubicBezTo>
                    <a:pt x="0" y="255226"/>
                    <a:pt x="4579" y="244585"/>
                    <a:pt x="12662" y="236931"/>
                  </a:cubicBezTo>
                  <a:lnTo>
                    <a:pt x="250228" y="11989"/>
                  </a:lnTo>
                  <a:cubicBezTo>
                    <a:pt x="258359" y="4290"/>
                    <a:pt x="269130" y="0"/>
                    <a:pt x="280327" y="0"/>
                  </a:cubicBezTo>
                  <a:lnTo>
                    <a:pt x="579463" y="0"/>
                  </a:lnTo>
                  <a:cubicBezTo>
                    <a:pt x="589093" y="0"/>
                    <a:pt x="596900" y="7807"/>
                    <a:pt x="596900" y="17437"/>
                  </a:cubicBezTo>
                  <a:close/>
                </a:path>
              </a:pathLst>
            </a:custGeom>
            <a:solidFill>
              <a:srgbClr val="8DABD2"/>
            </a:solidFill>
          </p:spPr>
        </p:sp>
        <p:sp>
          <p:nvSpPr>
            <p:cNvPr name="TextBox 13" id="13"/>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4" id="14"/>
          <p:cNvGrpSpPr/>
          <p:nvPr/>
        </p:nvGrpSpPr>
        <p:grpSpPr>
          <a:xfrm rot="0">
            <a:off x="593063" y="1913363"/>
            <a:ext cx="17043790" cy="7864625"/>
            <a:chOff x="0" y="0"/>
            <a:chExt cx="4488899" cy="2071342"/>
          </a:xfrm>
        </p:grpSpPr>
        <p:sp>
          <p:nvSpPr>
            <p:cNvPr name="Freeform 15" id="15"/>
            <p:cNvSpPr/>
            <p:nvPr/>
          </p:nvSpPr>
          <p:spPr>
            <a:xfrm flipH="false" flipV="false" rot="0">
              <a:off x="0" y="0"/>
              <a:ext cx="4488899" cy="2071342"/>
            </a:xfrm>
            <a:custGeom>
              <a:avLst/>
              <a:gdLst/>
              <a:ahLst/>
              <a:cxnLst/>
              <a:rect r="r" b="b" t="t" l="l"/>
              <a:pathLst>
                <a:path h="2071342" w="4488899">
                  <a:moveTo>
                    <a:pt x="19986" y="0"/>
                  </a:moveTo>
                  <a:lnTo>
                    <a:pt x="4468913" y="0"/>
                  </a:lnTo>
                  <a:cubicBezTo>
                    <a:pt x="4479951" y="0"/>
                    <a:pt x="4488899" y="8948"/>
                    <a:pt x="4488899" y="19986"/>
                  </a:cubicBezTo>
                  <a:lnTo>
                    <a:pt x="4488899" y="2051355"/>
                  </a:lnTo>
                  <a:cubicBezTo>
                    <a:pt x="4488899" y="2062393"/>
                    <a:pt x="4479951" y="2071342"/>
                    <a:pt x="4468913" y="2071342"/>
                  </a:cubicBezTo>
                  <a:lnTo>
                    <a:pt x="19986" y="2071342"/>
                  </a:lnTo>
                  <a:cubicBezTo>
                    <a:pt x="14686" y="2071342"/>
                    <a:pt x="9602" y="2069236"/>
                    <a:pt x="5854" y="2065488"/>
                  </a:cubicBezTo>
                  <a:cubicBezTo>
                    <a:pt x="2106" y="2061739"/>
                    <a:pt x="0" y="2056656"/>
                    <a:pt x="0" y="2051355"/>
                  </a:cubicBezTo>
                  <a:lnTo>
                    <a:pt x="0" y="19986"/>
                  </a:lnTo>
                  <a:cubicBezTo>
                    <a:pt x="0" y="14686"/>
                    <a:pt x="2106" y="9602"/>
                    <a:pt x="5854" y="5854"/>
                  </a:cubicBezTo>
                  <a:cubicBezTo>
                    <a:pt x="9602" y="2106"/>
                    <a:pt x="14686" y="0"/>
                    <a:pt x="19986" y="0"/>
                  </a:cubicBezTo>
                  <a:close/>
                </a:path>
              </a:pathLst>
            </a:custGeom>
            <a:solidFill>
              <a:srgbClr val="FFFFFF"/>
            </a:solidFill>
          </p:spPr>
        </p:sp>
        <p:sp>
          <p:nvSpPr>
            <p:cNvPr name="TextBox 16" id="16"/>
            <p:cNvSpPr txBox="true"/>
            <p:nvPr/>
          </p:nvSpPr>
          <p:spPr>
            <a:xfrm>
              <a:off x="0" y="-57150"/>
              <a:ext cx="4488899" cy="2128492"/>
            </a:xfrm>
            <a:prstGeom prst="rect">
              <a:avLst/>
            </a:prstGeom>
          </p:spPr>
          <p:txBody>
            <a:bodyPr anchor="ctr" rtlCol="false" tIns="50800" lIns="50800" bIns="50800" rIns="50800"/>
            <a:lstStyle/>
            <a:p>
              <a:pPr algn="ctr" marL="0" indent="0" lvl="0">
                <a:lnSpc>
                  <a:spcPts val="3220"/>
                </a:lnSpc>
              </a:pPr>
            </a:p>
          </p:txBody>
        </p:sp>
      </p:grpSp>
      <p:sp>
        <p:nvSpPr>
          <p:cNvPr name="AutoShape 17" id="17"/>
          <p:cNvSpPr/>
          <p:nvPr/>
        </p:nvSpPr>
        <p:spPr>
          <a:xfrm flipV="true">
            <a:off x="6006036" y="1617162"/>
            <a:ext cx="6159759" cy="0"/>
          </a:xfrm>
          <a:prstGeom prst="line">
            <a:avLst/>
          </a:prstGeom>
          <a:ln cap="rnd" w="38100">
            <a:solidFill>
              <a:srgbClr val="8DABD2"/>
            </a:solidFill>
            <a:prstDash val="solid"/>
            <a:headEnd type="none" len="sm" w="sm"/>
            <a:tailEnd type="none" len="sm" w="sm"/>
          </a:ln>
        </p:spPr>
      </p:sp>
      <p:grpSp>
        <p:nvGrpSpPr>
          <p:cNvPr name="Group 18" id="18"/>
          <p:cNvGrpSpPr/>
          <p:nvPr/>
        </p:nvGrpSpPr>
        <p:grpSpPr>
          <a:xfrm rot="0">
            <a:off x="-954618" y="641415"/>
            <a:ext cx="2287024" cy="2141044"/>
            <a:chOff x="0" y="0"/>
            <a:chExt cx="596900" cy="558800"/>
          </a:xfrm>
        </p:grpSpPr>
        <p:sp>
          <p:nvSpPr>
            <p:cNvPr name="Freeform 19" id="19"/>
            <p:cNvSpPr/>
            <p:nvPr/>
          </p:nvSpPr>
          <p:spPr>
            <a:xfrm flipH="false" flipV="false" rot="0">
              <a:off x="0" y="0"/>
              <a:ext cx="596900" cy="558800"/>
            </a:xfrm>
            <a:custGeom>
              <a:avLst/>
              <a:gdLst/>
              <a:ahLst/>
              <a:cxnLst/>
              <a:rect r="r" b="b" t="t" l="l"/>
              <a:pathLst>
                <a:path h="558800" w="596900">
                  <a:moveTo>
                    <a:pt x="596900" y="39776"/>
                  </a:moveTo>
                  <a:lnTo>
                    <a:pt x="596900" y="265024"/>
                  </a:lnTo>
                  <a:cubicBezTo>
                    <a:pt x="596900" y="290424"/>
                    <a:pt x="586490" y="314714"/>
                    <a:pt x="568097" y="332231"/>
                  </a:cubicBezTo>
                  <a:lnTo>
                    <a:pt x="359003" y="531369"/>
                  </a:lnTo>
                  <a:cubicBezTo>
                    <a:pt x="340513" y="548978"/>
                    <a:pt x="315958" y="558800"/>
                    <a:pt x="290424" y="558800"/>
                  </a:cubicBezTo>
                  <a:lnTo>
                    <a:pt x="39776" y="558800"/>
                  </a:lnTo>
                  <a:cubicBezTo>
                    <a:pt x="29226" y="558800"/>
                    <a:pt x="19109" y="554609"/>
                    <a:pt x="11650" y="547150"/>
                  </a:cubicBezTo>
                  <a:cubicBezTo>
                    <a:pt x="4191" y="539691"/>
                    <a:pt x="0" y="529574"/>
                    <a:pt x="0" y="519024"/>
                  </a:cubicBezTo>
                  <a:lnTo>
                    <a:pt x="0" y="288696"/>
                  </a:lnTo>
                  <a:cubicBezTo>
                    <a:pt x="0" y="263304"/>
                    <a:pt x="10445" y="239030"/>
                    <a:pt x="28882" y="221572"/>
                  </a:cubicBezTo>
                  <a:lnTo>
                    <a:pt x="234008" y="27348"/>
                  </a:lnTo>
                  <a:cubicBezTo>
                    <a:pt x="252554" y="9787"/>
                    <a:pt x="277124" y="0"/>
                    <a:pt x="302666" y="0"/>
                  </a:cubicBezTo>
                  <a:lnTo>
                    <a:pt x="557124" y="0"/>
                  </a:lnTo>
                  <a:cubicBezTo>
                    <a:pt x="567674" y="0"/>
                    <a:pt x="577791" y="4191"/>
                    <a:pt x="585250" y="11650"/>
                  </a:cubicBezTo>
                  <a:cubicBezTo>
                    <a:pt x="592709" y="19109"/>
                    <a:pt x="596900" y="29226"/>
                    <a:pt x="596900" y="39776"/>
                  </a:cubicBezTo>
                  <a:close/>
                </a:path>
              </a:pathLst>
            </a:custGeom>
            <a:solidFill>
              <a:srgbClr val="8DABD2"/>
            </a:solidFill>
          </p:spPr>
        </p:sp>
        <p:sp>
          <p:nvSpPr>
            <p:cNvPr name="TextBox 20" id="20"/>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sp>
        <p:nvSpPr>
          <p:cNvPr name="Freeform 21" id="21"/>
          <p:cNvSpPr/>
          <p:nvPr/>
        </p:nvSpPr>
        <p:spPr>
          <a:xfrm flipH="false" flipV="false" rot="0">
            <a:off x="9046754" y="9610199"/>
            <a:ext cx="1014107" cy="167789"/>
          </a:xfrm>
          <a:custGeom>
            <a:avLst/>
            <a:gdLst/>
            <a:ahLst/>
            <a:cxnLst/>
            <a:rect r="r" b="b" t="t" l="l"/>
            <a:pathLst>
              <a:path h="167789" w="1014107">
                <a:moveTo>
                  <a:pt x="0" y="0"/>
                </a:moveTo>
                <a:lnTo>
                  <a:pt x="1014107" y="0"/>
                </a:lnTo>
                <a:lnTo>
                  <a:pt x="1014107" y="167789"/>
                </a:lnTo>
                <a:lnTo>
                  <a:pt x="0" y="1677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false" flipV="false" rot="0">
            <a:off x="14100195" y="692058"/>
            <a:ext cx="1211471" cy="200443"/>
          </a:xfrm>
          <a:custGeom>
            <a:avLst/>
            <a:gdLst/>
            <a:ahLst/>
            <a:cxnLst/>
            <a:rect r="r" b="b" t="t" l="l"/>
            <a:pathLst>
              <a:path h="200443" w="1211471">
                <a:moveTo>
                  <a:pt x="0" y="0"/>
                </a:moveTo>
                <a:lnTo>
                  <a:pt x="1211471" y="0"/>
                </a:lnTo>
                <a:lnTo>
                  <a:pt x="1211471" y="200444"/>
                </a:lnTo>
                <a:lnTo>
                  <a:pt x="0" y="2004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3" id="23"/>
          <p:cNvSpPr/>
          <p:nvPr/>
        </p:nvSpPr>
        <p:spPr>
          <a:xfrm flipH="true" flipV="false" rot="0">
            <a:off x="1526322" y="660866"/>
            <a:ext cx="963084" cy="952578"/>
          </a:xfrm>
          <a:custGeom>
            <a:avLst/>
            <a:gdLst/>
            <a:ahLst/>
            <a:cxnLst/>
            <a:rect r="r" b="b" t="t" l="l"/>
            <a:pathLst>
              <a:path h="952578" w="963084">
                <a:moveTo>
                  <a:pt x="963084" y="0"/>
                </a:moveTo>
                <a:lnTo>
                  <a:pt x="0" y="0"/>
                </a:lnTo>
                <a:lnTo>
                  <a:pt x="0" y="952578"/>
                </a:lnTo>
                <a:lnTo>
                  <a:pt x="963084" y="952578"/>
                </a:lnTo>
                <a:lnTo>
                  <a:pt x="963084"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aphicFrame>
        <p:nvGraphicFramePr>
          <p:cNvPr name="Object 24" id="24"/>
          <p:cNvGraphicFramePr/>
          <p:nvPr/>
        </p:nvGraphicFramePr>
        <p:xfrm>
          <a:off x="1028700" y="2642546"/>
          <a:ext cx="5657850" cy="6286500"/>
        </p:xfrm>
        <a:graphic>
          <a:graphicData uri="http://schemas.openxmlformats.org/presentationml/2006/ole">
            <p:oleObj imgW="6908800" imgH="7543800" r:id="rId9" progId="Excel.Sheet.12" name="Worksheet">
              <p:embed/>
              <p:pic>
                <p:nvPicPr>
                  <p:cNvPr name="" id="0"/>
                  <p:cNvPicPr/>
                  <p:nvPr/>
                </p:nvPicPr>
                <p:blipFill>
                  <a:blip r:embed="rId8"/>
                  <a:stretch>
                    <a:fillRect/>
                  </a:stretch>
                </p:blipFill>
                <p:spPr>
                  <a:xfrm>
                    <a:off x="1270000" y="1270000"/>
                    <a:ext cx="1270000" cy="1270000"/>
                  </a:xfrm>
                  <a:prstGeom prst="rect"/>
                </p:spPr>
              </p:pic>
            </p:oleObj>
          </a:graphicData>
        </a:graphic>
      </p:graphicFrame>
      <p:sp>
        <p:nvSpPr>
          <p:cNvPr name="Freeform 25" id="25"/>
          <p:cNvSpPr/>
          <p:nvPr/>
        </p:nvSpPr>
        <p:spPr>
          <a:xfrm flipH="false" flipV="false" rot="0">
            <a:off x="12701448" y="3562163"/>
            <a:ext cx="4805847" cy="5231457"/>
          </a:xfrm>
          <a:custGeom>
            <a:avLst/>
            <a:gdLst/>
            <a:ahLst/>
            <a:cxnLst/>
            <a:rect r="r" b="b" t="t" l="l"/>
            <a:pathLst>
              <a:path h="5231457" w="4805847">
                <a:moveTo>
                  <a:pt x="0" y="0"/>
                </a:moveTo>
                <a:lnTo>
                  <a:pt x="4805847" y="0"/>
                </a:lnTo>
                <a:lnTo>
                  <a:pt x="4805847" y="5231457"/>
                </a:lnTo>
                <a:lnTo>
                  <a:pt x="0" y="5231457"/>
                </a:lnTo>
                <a:lnTo>
                  <a:pt x="0" y="0"/>
                </a:lnTo>
                <a:close/>
              </a:path>
            </a:pathLst>
          </a:custGeom>
          <a:blipFill>
            <a:blip r:embed="rId10"/>
            <a:stretch>
              <a:fillRect l="0" t="0" r="0" b="0"/>
            </a:stretch>
          </a:blipFill>
        </p:spPr>
      </p:sp>
      <p:sp>
        <p:nvSpPr>
          <p:cNvPr name="TextBox 26" id="26"/>
          <p:cNvSpPr txBox="true"/>
          <p:nvPr/>
        </p:nvSpPr>
        <p:spPr>
          <a:xfrm rot="0">
            <a:off x="3087011" y="1141258"/>
            <a:ext cx="12224655" cy="472186"/>
          </a:xfrm>
          <a:prstGeom prst="rect">
            <a:avLst/>
          </a:prstGeom>
        </p:spPr>
        <p:txBody>
          <a:bodyPr anchor="t" rtlCol="false" tIns="0" lIns="0" bIns="0" rIns="0">
            <a:spAutoFit/>
          </a:bodyPr>
          <a:lstStyle/>
          <a:p>
            <a:pPr algn="ctr" marL="0" indent="0" lvl="0">
              <a:lnSpc>
                <a:spcPts val="3590"/>
              </a:lnSpc>
            </a:pPr>
            <a:r>
              <a:rPr lang="en-US" b="true" sz="3590" spc="71">
                <a:solidFill>
                  <a:srgbClr val="011A3C"/>
                </a:solidFill>
                <a:latin typeface="Gotham Bold"/>
                <a:ea typeface="Gotham Bold"/>
                <a:cs typeface="Gotham Bold"/>
                <a:sym typeface="Gotham Bold"/>
              </a:rPr>
              <a:t>Component</a:t>
            </a:r>
            <a:r>
              <a:rPr lang="en-US" b="true" sz="3590" spc="71">
                <a:solidFill>
                  <a:srgbClr val="011A3C"/>
                </a:solidFill>
                <a:latin typeface="Gotham Bold"/>
                <a:ea typeface="Gotham Bold"/>
                <a:cs typeface="Gotham Bold"/>
                <a:sym typeface="Gotham Bold"/>
              </a:rPr>
              <a:t>es del Sistema y Conexiones</a:t>
            </a:r>
          </a:p>
        </p:txBody>
      </p:sp>
      <p:sp>
        <p:nvSpPr>
          <p:cNvPr name="TextBox 27" id="27"/>
          <p:cNvSpPr txBox="true"/>
          <p:nvPr/>
        </p:nvSpPr>
        <p:spPr>
          <a:xfrm rot="0">
            <a:off x="5841493" y="1811952"/>
            <a:ext cx="6605014" cy="266700"/>
          </a:xfrm>
          <a:prstGeom prst="rect">
            <a:avLst/>
          </a:prstGeom>
        </p:spPr>
        <p:txBody>
          <a:bodyPr anchor="t" rtlCol="false" tIns="0" lIns="0" bIns="0" rIns="0">
            <a:spAutoFit/>
          </a:bodyPr>
          <a:lstStyle/>
          <a:p>
            <a:pPr algn="ctr" marL="0" indent="0" lvl="0">
              <a:lnSpc>
                <a:spcPts val="2194"/>
              </a:lnSpc>
            </a:pPr>
            <a:r>
              <a:rPr lang="en-US" b="true" sz="1828">
                <a:solidFill>
                  <a:srgbClr val="011A3C"/>
                </a:solidFill>
                <a:latin typeface="Nunito Bold"/>
                <a:ea typeface="Nunito Bold"/>
                <a:cs typeface="Nunito Bold"/>
                <a:sym typeface="Nunito Bold"/>
              </a:rPr>
              <a:t>Especificacio</a:t>
            </a:r>
            <a:r>
              <a:rPr lang="en-US" b="true" sz="1828">
                <a:solidFill>
                  <a:srgbClr val="011A3C"/>
                </a:solidFill>
                <a:latin typeface="Nunito Bold"/>
                <a:ea typeface="Nunito Bold"/>
                <a:cs typeface="Nunito Bold"/>
                <a:sym typeface="Nunito Bold"/>
              </a:rPr>
              <a:t>nes técnicas de la arquitectura de hardware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13566231" y="-726347"/>
            <a:ext cx="5586552" cy="5229964"/>
            <a:chOff x="0" y="0"/>
            <a:chExt cx="596900" cy="558800"/>
          </a:xfrm>
        </p:grpSpPr>
        <p:sp>
          <p:nvSpPr>
            <p:cNvPr name="Freeform 3" id="3"/>
            <p:cNvSpPr/>
            <p:nvPr/>
          </p:nvSpPr>
          <p:spPr>
            <a:xfrm flipH="false" flipV="false" rot="0">
              <a:off x="0" y="0"/>
              <a:ext cx="596900" cy="558800"/>
            </a:xfrm>
            <a:custGeom>
              <a:avLst/>
              <a:gdLst/>
              <a:ahLst/>
              <a:cxnLst/>
              <a:rect r="r" b="b" t="t" l="l"/>
              <a:pathLst>
                <a:path h="558800" w="596900">
                  <a:moveTo>
                    <a:pt x="596900" y="16283"/>
                  </a:moveTo>
                  <a:lnTo>
                    <a:pt x="596900" y="288517"/>
                  </a:lnTo>
                  <a:cubicBezTo>
                    <a:pt x="596900" y="298915"/>
                    <a:pt x="592638" y="308859"/>
                    <a:pt x="585109" y="316030"/>
                  </a:cubicBezTo>
                  <a:lnTo>
                    <a:pt x="341991" y="547570"/>
                  </a:lnTo>
                  <a:cubicBezTo>
                    <a:pt x="334422" y="554779"/>
                    <a:pt x="324370" y="558800"/>
                    <a:pt x="313917" y="558800"/>
                  </a:cubicBezTo>
                  <a:lnTo>
                    <a:pt x="16283" y="558800"/>
                  </a:lnTo>
                  <a:cubicBezTo>
                    <a:pt x="7290" y="558800"/>
                    <a:pt x="0" y="551510"/>
                    <a:pt x="0" y="542517"/>
                  </a:cubicBezTo>
                  <a:lnTo>
                    <a:pt x="0" y="265203"/>
                  </a:lnTo>
                  <a:cubicBezTo>
                    <a:pt x="0" y="254809"/>
                    <a:pt x="4276" y="244871"/>
                    <a:pt x="11824" y="237724"/>
                  </a:cubicBezTo>
                  <a:lnTo>
                    <a:pt x="251066" y="11196"/>
                  </a:lnTo>
                  <a:cubicBezTo>
                    <a:pt x="258659" y="4007"/>
                    <a:pt x="268717" y="0"/>
                    <a:pt x="279173" y="0"/>
                  </a:cubicBezTo>
                  <a:lnTo>
                    <a:pt x="580617" y="0"/>
                  </a:lnTo>
                  <a:cubicBezTo>
                    <a:pt x="589610" y="0"/>
                    <a:pt x="596900" y="7290"/>
                    <a:pt x="596900" y="16283"/>
                  </a:cubicBezTo>
                  <a:close/>
                </a:path>
              </a:pathLst>
            </a:custGeom>
            <a:solidFill>
              <a:srgbClr val="014AAB">
                <a:alpha val="5882"/>
              </a:srgbClr>
            </a:solidFill>
          </p:spPr>
        </p:sp>
        <p:sp>
          <p:nvSpPr>
            <p:cNvPr name="TextBox 4" id="4"/>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5" id="5"/>
          <p:cNvGrpSpPr/>
          <p:nvPr/>
        </p:nvGrpSpPr>
        <p:grpSpPr>
          <a:xfrm rot="-10800000">
            <a:off x="16832257" y="4400004"/>
            <a:ext cx="3358368" cy="3144004"/>
            <a:chOff x="0" y="0"/>
            <a:chExt cx="596900" cy="558800"/>
          </a:xfrm>
        </p:grpSpPr>
        <p:sp>
          <p:nvSpPr>
            <p:cNvPr name="Freeform 6" id="6"/>
            <p:cNvSpPr/>
            <p:nvPr/>
          </p:nvSpPr>
          <p:spPr>
            <a:xfrm flipH="false" flipV="false" rot="0">
              <a:off x="0" y="0"/>
              <a:ext cx="596900" cy="558800"/>
            </a:xfrm>
            <a:custGeom>
              <a:avLst/>
              <a:gdLst/>
              <a:ahLst/>
              <a:cxnLst/>
              <a:rect r="r" b="b" t="t" l="l"/>
              <a:pathLst>
                <a:path h="558800" w="596900">
                  <a:moveTo>
                    <a:pt x="596900" y="27087"/>
                  </a:moveTo>
                  <a:lnTo>
                    <a:pt x="596900" y="277713"/>
                  </a:lnTo>
                  <a:cubicBezTo>
                    <a:pt x="596900" y="295010"/>
                    <a:pt x="589811" y="311552"/>
                    <a:pt x="577285" y="323481"/>
                  </a:cubicBezTo>
                  <a:lnTo>
                    <a:pt x="349815" y="540119"/>
                  </a:lnTo>
                  <a:cubicBezTo>
                    <a:pt x="337223" y="552111"/>
                    <a:pt x="320501" y="558800"/>
                    <a:pt x="303113" y="558800"/>
                  </a:cubicBezTo>
                  <a:lnTo>
                    <a:pt x="27087" y="558800"/>
                  </a:lnTo>
                  <a:cubicBezTo>
                    <a:pt x="12127" y="558800"/>
                    <a:pt x="0" y="546673"/>
                    <a:pt x="0" y="531713"/>
                  </a:cubicBezTo>
                  <a:lnTo>
                    <a:pt x="0" y="276007"/>
                  </a:lnTo>
                  <a:cubicBezTo>
                    <a:pt x="0" y="258715"/>
                    <a:pt x="7113" y="242185"/>
                    <a:pt x="19669" y="230296"/>
                  </a:cubicBezTo>
                  <a:lnTo>
                    <a:pt x="243221" y="18624"/>
                  </a:lnTo>
                  <a:cubicBezTo>
                    <a:pt x="255851" y="6665"/>
                    <a:pt x="272583" y="0"/>
                    <a:pt x="289977" y="0"/>
                  </a:cubicBezTo>
                  <a:lnTo>
                    <a:pt x="569813" y="0"/>
                  </a:lnTo>
                  <a:cubicBezTo>
                    <a:pt x="584773" y="0"/>
                    <a:pt x="596900" y="12127"/>
                    <a:pt x="596900" y="27087"/>
                  </a:cubicBezTo>
                  <a:close/>
                </a:path>
              </a:pathLst>
            </a:custGeom>
            <a:solidFill>
              <a:srgbClr val="014AAB">
                <a:alpha val="5882"/>
              </a:srgbClr>
            </a:solidFill>
          </p:spPr>
        </p:sp>
        <p:sp>
          <p:nvSpPr>
            <p:cNvPr name="TextBox 7" id="7"/>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8" id="8"/>
          <p:cNvGrpSpPr/>
          <p:nvPr/>
        </p:nvGrpSpPr>
        <p:grpSpPr>
          <a:xfrm rot="-5400000">
            <a:off x="-3169093" y="6567537"/>
            <a:ext cx="4019894" cy="3763305"/>
            <a:chOff x="0" y="0"/>
            <a:chExt cx="596900" cy="558800"/>
          </a:xfrm>
        </p:grpSpPr>
        <p:sp>
          <p:nvSpPr>
            <p:cNvPr name="Freeform 9" id="9"/>
            <p:cNvSpPr/>
            <p:nvPr/>
          </p:nvSpPr>
          <p:spPr>
            <a:xfrm flipH="false" flipV="false" rot="0">
              <a:off x="0" y="0"/>
              <a:ext cx="596900" cy="558800"/>
            </a:xfrm>
            <a:custGeom>
              <a:avLst/>
              <a:gdLst/>
              <a:ahLst/>
              <a:cxnLst/>
              <a:rect r="r" b="b" t="t" l="l"/>
              <a:pathLst>
                <a:path h="558800" w="596900">
                  <a:moveTo>
                    <a:pt x="596900" y="22629"/>
                  </a:moveTo>
                  <a:lnTo>
                    <a:pt x="596900" y="282171"/>
                  </a:lnTo>
                  <a:cubicBezTo>
                    <a:pt x="596900" y="296621"/>
                    <a:pt x="590977" y="310440"/>
                    <a:pt x="580513" y="320406"/>
                  </a:cubicBezTo>
                  <a:lnTo>
                    <a:pt x="346587" y="543194"/>
                  </a:lnTo>
                  <a:cubicBezTo>
                    <a:pt x="336067" y="553212"/>
                    <a:pt x="322097" y="558800"/>
                    <a:pt x="307571" y="558800"/>
                  </a:cubicBezTo>
                  <a:lnTo>
                    <a:pt x="22629" y="558800"/>
                  </a:lnTo>
                  <a:cubicBezTo>
                    <a:pt x="10132" y="558800"/>
                    <a:pt x="0" y="548668"/>
                    <a:pt x="0" y="536171"/>
                  </a:cubicBezTo>
                  <a:lnTo>
                    <a:pt x="0" y="271549"/>
                  </a:lnTo>
                  <a:cubicBezTo>
                    <a:pt x="0" y="257103"/>
                    <a:pt x="5942" y="243294"/>
                    <a:pt x="16432" y="233361"/>
                  </a:cubicBezTo>
                  <a:lnTo>
                    <a:pt x="246458" y="15559"/>
                  </a:lnTo>
                  <a:cubicBezTo>
                    <a:pt x="257010" y="5568"/>
                    <a:pt x="270988" y="0"/>
                    <a:pt x="285519" y="0"/>
                  </a:cubicBezTo>
                  <a:lnTo>
                    <a:pt x="574271" y="0"/>
                  </a:lnTo>
                  <a:cubicBezTo>
                    <a:pt x="586768" y="0"/>
                    <a:pt x="596900" y="10132"/>
                    <a:pt x="596900" y="22629"/>
                  </a:cubicBezTo>
                  <a:close/>
                </a:path>
              </a:pathLst>
            </a:custGeom>
            <a:solidFill>
              <a:srgbClr val="014AAB">
                <a:alpha val="5882"/>
              </a:srgbClr>
            </a:solidFill>
          </p:spPr>
        </p:sp>
        <p:sp>
          <p:nvSpPr>
            <p:cNvPr name="TextBox 10" id="10"/>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1" id="11"/>
          <p:cNvGrpSpPr/>
          <p:nvPr/>
        </p:nvGrpSpPr>
        <p:grpSpPr>
          <a:xfrm rot="-5400000">
            <a:off x="-2249771" y="10149420"/>
            <a:ext cx="13130564" cy="10724451"/>
            <a:chOff x="0" y="0"/>
            <a:chExt cx="684171" cy="558800"/>
          </a:xfrm>
        </p:grpSpPr>
        <p:sp>
          <p:nvSpPr>
            <p:cNvPr name="Freeform 12" id="12"/>
            <p:cNvSpPr/>
            <p:nvPr/>
          </p:nvSpPr>
          <p:spPr>
            <a:xfrm flipH="false" flipV="false" rot="0">
              <a:off x="0" y="0"/>
              <a:ext cx="684171" cy="558800"/>
            </a:xfrm>
            <a:custGeom>
              <a:avLst/>
              <a:gdLst/>
              <a:ahLst/>
              <a:cxnLst/>
              <a:rect r="r" b="b" t="t" l="l"/>
              <a:pathLst>
                <a:path h="558800" w="684171">
                  <a:moveTo>
                    <a:pt x="684171" y="31176"/>
                  </a:moveTo>
                  <a:lnTo>
                    <a:pt x="684171" y="273624"/>
                  </a:lnTo>
                  <a:cubicBezTo>
                    <a:pt x="684171" y="293375"/>
                    <a:pt x="675384" y="312102"/>
                    <a:pt x="660193" y="324724"/>
                  </a:cubicBezTo>
                  <a:lnTo>
                    <a:pt x="402456" y="538876"/>
                  </a:lnTo>
                  <a:cubicBezTo>
                    <a:pt x="386960" y="551752"/>
                    <a:pt x="367449" y="558800"/>
                    <a:pt x="347302" y="558800"/>
                  </a:cubicBezTo>
                  <a:lnTo>
                    <a:pt x="31176" y="558800"/>
                  </a:lnTo>
                  <a:cubicBezTo>
                    <a:pt x="13958" y="558800"/>
                    <a:pt x="0" y="544842"/>
                    <a:pt x="0" y="527624"/>
                  </a:cubicBezTo>
                  <a:lnTo>
                    <a:pt x="0" y="280096"/>
                  </a:lnTo>
                  <a:cubicBezTo>
                    <a:pt x="0" y="260352"/>
                    <a:pt x="8814" y="241639"/>
                    <a:pt x="24035" y="229065"/>
                  </a:cubicBezTo>
                  <a:lnTo>
                    <a:pt x="277291" y="19855"/>
                  </a:lnTo>
                  <a:cubicBezTo>
                    <a:pt x="292828" y="7021"/>
                    <a:pt x="312350" y="0"/>
                    <a:pt x="332502" y="0"/>
                  </a:cubicBezTo>
                  <a:lnTo>
                    <a:pt x="652995" y="0"/>
                  </a:lnTo>
                  <a:cubicBezTo>
                    <a:pt x="670213" y="0"/>
                    <a:pt x="684171" y="13958"/>
                    <a:pt x="684171" y="31176"/>
                  </a:cubicBezTo>
                  <a:close/>
                </a:path>
              </a:pathLst>
            </a:custGeom>
            <a:solidFill>
              <a:srgbClr val="014AAB"/>
            </a:solidFill>
          </p:spPr>
        </p:sp>
        <p:sp>
          <p:nvSpPr>
            <p:cNvPr name="TextBox 13" id="13"/>
            <p:cNvSpPr txBox="true"/>
            <p:nvPr/>
          </p:nvSpPr>
          <p:spPr>
            <a:xfrm>
              <a:off x="116455" y="76200"/>
              <a:ext cx="451262" cy="350520"/>
            </a:xfrm>
            <a:prstGeom prst="rect">
              <a:avLst/>
            </a:prstGeom>
          </p:spPr>
          <p:txBody>
            <a:bodyPr anchor="ctr" rtlCol="false" tIns="50800" lIns="50800" bIns="50800" rIns="50800"/>
            <a:lstStyle/>
            <a:p>
              <a:pPr algn="ctr" marL="0" indent="0" lvl="0">
                <a:lnSpc>
                  <a:spcPts val="3220"/>
                </a:lnSpc>
              </a:pPr>
            </a:p>
          </p:txBody>
        </p:sp>
      </p:grpSp>
      <p:grpSp>
        <p:nvGrpSpPr>
          <p:cNvPr name="Group 14" id="14"/>
          <p:cNvGrpSpPr/>
          <p:nvPr/>
        </p:nvGrpSpPr>
        <p:grpSpPr>
          <a:xfrm rot="0">
            <a:off x="820386" y="3429149"/>
            <a:ext cx="16118364" cy="4041379"/>
            <a:chOff x="0" y="0"/>
            <a:chExt cx="4245166" cy="1064396"/>
          </a:xfrm>
        </p:grpSpPr>
        <p:sp>
          <p:nvSpPr>
            <p:cNvPr name="Freeform 15" id="15"/>
            <p:cNvSpPr/>
            <p:nvPr/>
          </p:nvSpPr>
          <p:spPr>
            <a:xfrm flipH="false" flipV="false" rot="0">
              <a:off x="0" y="0"/>
              <a:ext cx="4245166" cy="1064396"/>
            </a:xfrm>
            <a:custGeom>
              <a:avLst/>
              <a:gdLst/>
              <a:ahLst/>
              <a:cxnLst/>
              <a:rect r="r" b="b" t="t" l="l"/>
              <a:pathLst>
                <a:path h="1064396" w="4245166">
                  <a:moveTo>
                    <a:pt x="25457" y="0"/>
                  </a:moveTo>
                  <a:lnTo>
                    <a:pt x="4219709" y="0"/>
                  </a:lnTo>
                  <a:cubicBezTo>
                    <a:pt x="4233768" y="0"/>
                    <a:pt x="4245166" y="11397"/>
                    <a:pt x="4245166" y="25457"/>
                  </a:cubicBezTo>
                  <a:lnTo>
                    <a:pt x="4245166" y="1038939"/>
                  </a:lnTo>
                  <a:cubicBezTo>
                    <a:pt x="4245166" y="1052999"/>
                    <a:pt x="4233768" y="1064396"/>
                    <a:pt x="4219709" y="1064396"/>
                  </a:cubicBezTo>
                  <a:lnTo>
                    <a:pt x="25457" y="1064396"/>
                  </a:lnTo>
                  <a:cubicBezTo>
                    <a:pt x="11397" y="1064396"/>
                    <a:pt x="0" y="1052999"/>
                    <a:pt x="0" y="1038939"/>
                  </a:cubicBezTo>
                  <a:lnTo>
                    <a:pt x="0" y="25457"/>
                  </a:lnTo>
                  <a:cubicBezTo>
                    <a:pt x="0" y="11397"/>
                    <a:pt x="11397" y="0"/>
                    <a:pt x="25457" y="0"/>
                  </a:cubicBezTo>
                  <a:close/>
                </a:path>
              </a:pathLst>
            </a:custGeom>
            <a:solidFill>
              <a:srgbClr val="FFFFFF"/>
            </a:solidFill>
          </p:spPr>
        </p:sp>
        <p:sp>
          <p:nvSpPr>
            <p:cNvPr name="TextBox 16" id="16"/>
            <p:cNvSpPr txBox="true"/>
            <p:nvPr/>
          </p:nvSpPr>
          <p:spPr>
            <a:xfrm>
              <a:off x="0" y="-57150"/>
              <a:ext cx="4245166" cy="1121546"/>
            </a:xfrm>
            <a:prstGeom prst="rect">
              <a:avLst/>
            </a:prstGeom>
          </p:spPr>
          <p:txBody>
            <a:bodyPr anchor="ctr" rtlCol="false" tIns="50800" lIns="50800" bIns="50800" rIns="50800"/>
            <a:lstStyle/>
            <a:p>
              <a:pPr algn="ctr" marL="0" indent="0" lvl="0">
                <a:lnSpc>
                  <a:spcPts val="3220"/>
                </a:lnSpc>
              </a:pPr>
            </a:p>
          </p:txBody>
        </p:sp>
      </p:grpSp>
      <p:grpSp>
        <p:nvGrpSpPr>
          <p:cNvPr name="Group 17" id="17"/>
          <p:cNvGrpSpPr/>
          <p:nvPr/>
        </p:nvGrpSpPr>
        <p:grpSpPr>
          <a:xfrm rot="0">
            <a:off x="6601998" y="2722012"/>
            <a:ext cx="3652079" cy="1414274"/>
            <a:chOff x="0" y="0"/>
            <a:chExt cx="961864" cy="372484"/>
          </a:xfrm>
        </p:grpSpPr>
        <p:sp>
          <p:nvSpPr>
            <p:cNvPr name="Freeform 18" id="18"/>
            <p:cNvSpPr/>
            <p:nvPr/>
          </p:nvSpPr>
          <p:spPr>
            <a:xfrm flipH="false" flipV="false" rot="0">
              <a:off x="0" y="0"/>
              <a:ext cx="961864" cy="372484"/>
            </a:xfrm>
            <a:custGeom>
              <a:avLst/>
              <a:gdLst/>
              <a:ahLst/>
              <a:cxnLst/>
              <a:rect r="r" b="b" t="t" l="l"/>
              <a:pathLst>
                <a:path h="372484" w="961864">
                  <a:moveTo>
                    <a:pt x="186242" y="0"/>
                  </a:moveTo>
                  <a:lnTo>
                    <a:pt x="775622" y="0"/>
                  </a:lnTo>
                  <a:cubicBezTo>
                    <a:pt x="878481" y="0"/>
                    <a:pt x="961864" y="83383"/>
                    <a:pt x="961864" y="186242"/>
                  </a:cubicBezTo>
                  <a:lnTo>
                    <a:pt x="961864" y="186242"/>
                  </a:lnTo>
                  <a:cubicBezTo>
                    <a:pt x="961864" y="235636"/>
                    <a:pt x="942242" y="283008"/>
                    <a:pt x="907315" y="317935"/>
                  </a:cubicBezTo>
                  <a:cubicBezTo>
                    <a:pt x="872388" y="352862"/>
                    <a:pt x="825017" y="372484"/>
                    <a:pt x="775622" y="372484"/>
                  </a:cubicBezTo>
                  <a:lnTo>
                    <a:pt x="186242" y="372484"/>
                  </a:lnTo>
                  <a:cubicBezTo>
                    <a:pt x="136847" y="372484"/>
                    <a:pt x="89476" y="352862"/>
                    <a:pt x="54549" y="317935"/>
                  </a:cubicBezTo>
                  <a:cubicBezTo>
                    <a:pt x="19622" y="283008"/>
                    <a:pt x="0" y="235636"/>
                    <a:pt x="0" y="186242"/>
                  </a:cubicBezTo>
                  <a:lnTo>
                    <a:pt x="0" y="186242"/>
                  </a:lnTo>
                  <a:cubicBezTo>
                    <a:pt x="0" y="136847"/>
                    <a:pt x="19622" y="89476"/>
                    <a:pt x="54549" y="54549"/>
                  </a:cubicBezTo>
                  <a:cubicBezTo>
                    <a:pt x="89476" y="19622"/>
                    <a:pt x="136847" y="0"/>
                    <a:pt x="186242" y="0"/>
                  </a:cubicBezTo>
                  <a:close/>
                </a:path>
              </a:pathLst>
            </a:custGeom>
            <a:solidFill>
              <a:srgbClr val="FFFFFF"/>
            </a:solidFill>
            <a:ln w="38100" cap="rnd">
              <a:solidFill>
                <a:srgbClr val="014AAB"/>
              </a:solidFill>
              <a:prstDash val="solid"/>
              <a:round/>
            </a:ln>
          </p:spPr>
        </p:sp>
        <p:sp>
          <p:nvSpPr>
            <p:cNvPr name="TextBox 19" id="19"/>
            <p:cNvSpPr txBox="true"/>
            <p:nvPr/>
          </p:nvSpPr>
          <p:spPr>
            <a:xfrm>
              <a:off x="0" y="-57150"/>
              <a:ext cx="961864" cy="429634"/>
            </a:xfrm>
            <a:prstGeom prst="rect">
              <a:avLst/>
            </a:prstGeom>
          </p:spPr>
          <p:txBody>
            <a:bodyPr anchor="ctr" rtlCol="false" tIns="50800" lIns="50800" bIns="50800" rIns="50800"/>
            <a:lstStyle/>
            <a:p>
              <a:pPr algn="ctr" marL="0" indent="0" lvl="0">
                <a:lnSpc>
                  <a:spcPts val="3220"/>
                </a:lnSpc>
              </a:pPr>
            </a:p>
          </p:txBody>
        </p:sp>
      </p:grpSp>
      <p:grpSp>
        <p:nvGrpSpPr>
          <p:cNvPr name="Group 20" id="20"/>
          <p:cNvGrpSpPr/>
          <p:nvPr/>
        </p:nvGrpSpPr>
        <p:grpSpPr>
          <a:xfrm rot="0">
            <a:off x="1354721" y="2722012"/>
            <a:ext cx="3503849" cy="1414274"/>
            <a:chOff x="0" y="0"/>
            <a:chExt cx="922825" cy="372484"/>
          </a:xfrm>
        </p:grpSpPr>
        <p:sp>
          <p:nvSpPr>
            <p:cNvPr name="Freeform 21" id="21"/>
            <p:cNvSpPr/>
            <p:nvPr/>
          </p:nvSpPr>
          <p:spPr>
            <a:xfrm flipH="false" flipV="false" rot="0">
              <a:off x="0" y="0"/>
              <a:ext cx="922824" cy="372484"/>
            </a:xfrm>
            <a:custGeom>
              <a:avLst/>
              <a:gdLst/>
              <a:ahLst/>
              <a:cxnLst/>
              <a:rect r="r" b="b" t="t" l="l"/>
              <a:pathLst>
                <a:path h="372484" w="922824">
                  <a:moveTo>
                    <a:pt x="186242" y="0"/>
                  </a:moveTo>
                  <a:lnTo>
                    <a:pt x="736583" y="0"/>
                  </a:lnTo>
                  <a:cubicBezTo>
                    <a:pt x="785977" y="0"/>
                    <a:pt x="833348" y="19622"/>
                    <a:pt x="868275" y="54549"/>
                  </a:cubicBezTo>
                  <a:cubicBezTo>
                    <a:pt x="903203" y="89476"/>
                    <a:pt x="922824" y="136847"/>
                    <a:pt x="922824" y="186242"/>
                  </a:cubicBezTo>
                  <a:lnTo>
                    <a:pt x="922824" y="186242"/>
                  </a:lnTo>
                  <a:cubicBezTo>
                    <a:pt x="922824" y="235636"/>
                    <a:pt x="903203" y="283008"/>
                    <a:pt x="868275" y="317935"/>
                  </a:cubicBezTo>
                  <a:cubicBezTo>
                    <a:pt x="833348" y="352862"/>
                    <a:pt x="785977" y="372484"/>
                    <a:pt x="736583" y="372484"/>
                  </a:cubicBezTo>
                  <a:lnTo>
                    <a:pt x="186242" y="372484"/>
                  </a:lnTo>
                  <a:cubicBezTo>
                    <a:pt x="136847" y="372484"/>
                    <a:pt x="89476" y="352862"/>
                    <a:pt x="54549" y="317935"/>
                  </a:cubicBezTo>
                  <a:cubicBezTo>
                    <a:pt x="19622" y="283008"/>
                    <a:pt x="0" y="235636"/>
                    <a:pt x="0" y="186242"/>
                  </a:cubicBezTo>
                  <a:lnTo>
                    <a:pt x="0" y="186242"/>
                  </a:lnTo>
                  <a:cubicBezTo>
                    <a:pt x="0" y="136847"/>
                    <a:pt x="19622" y="89476"/>
                    <a:pt x="54549" y="54549"/>
                  </a:cubicBezTo>
                  <a:cubicBezTo>
                    <a:pt x="89476" y="19622"/>
                    <a:pt x="136847" y="0"/>
                    <a:pt x="186242" y="0"/>
                  </a:cubicBezTo>
                  <a:close/>
                </a:path>
              </a:pathLst>
            </a:custGeom>
            <a:solidFill>
              <a:srgbClr val="FFFFFF"/>
            </a:solidFill>
            <a:ln w="38100" cap="rnd">
              <a:solidFill>
                <a:srgbClr val="8DABD2"/>
              </a:solidFill>
              <a:prstDash val="solid"/>
              <a:round/>
            </a:ln>
          </p:spPr>
        </p:sp>
        <p:sp>
          <p:nvSpPr>
            <p:cNvPr name="TextBox 22" id="22"/>
            <p:cNvSpPr txBox="true"/>
            <p:nvPr/>
          </p:nvSpPr>
          <p:spPr>
            <a:xfrm>
              <a:off x="0" y="-57150"/>
              <a:ext cx="922825" cy="429634"/>
            </a:xfrm>
            <a:prstGeom prst="rect">
              <a:avLst/>
            </a:prstGeom>
          </p:spPr>
          <p:txBody>
            <a:bodyPr anchor="ctr" rtlCol="false" tIns="50800" lIns="50800" bIns="50800" rIns="50800"/>
            <a:lstStyle/>
            <a:p>
              <a:pPr algn="ctr" marL="0" indent="0" lvl="0">
                <a:lnSpc>
                  <a:spcPts val="3220"/>
                </a:lnSpc>
              </a:pPr>
            </a:p>
          </p:txBody>
        </p:sp>
      </p:grpSp>
      <p:sp>
        <p:nvSpPr>
          <p:cNvPr name="AutoShape 23" id="23"/>
          <p:cNvSpPr/>
          <p:nvPr/>
        </p:nvSpPr>
        <p:spPr>
          <a:xfrm flipV="true">
            <a:off x="8055993" y="2649509"/>
            <a:ext cx="12134633" cy="0"/>
          </a:xfrm>
          <a:prstGeom prst="line">
            <a:avLst/>
          </a:prstGeom>
          <a:ln cap="rnd" w="38100">
            <a:solidFill>
              <a:srgbClr val="014AAB"/>
            </a:solidFill>
            <a:prstDash val="solid"/>
            <a:headEnd type="none" len="sm" w="sm"/>
            <a:tailEnd type="none" len="sm" w="sm"/>
          </a:ln>
        </p:spPr>
      </p:sp>
      <p:grpSp>
        <p:nvGrpSpPr>
          <p:cNvPr name="Group 24" id="24"/>
          <p:cNvGrpSpPr/>
          <p:nvPr/>
        </p:nvGrpSpPr>
        <p:grpSpPr>
          <a:xfrm rot="0">
            <a:off x="14546107" y="9258300"/>
            <a:ext cx="3741893" cy="3503048"/>
            <a:chOff x="0" y="0"/>
            <a:chExt cx="596900" cy="558800"/>
          </a:xfrm>
        </p:grpSpPr>
        <p:sp>
          <p:nvSpPr>
            <p:cNvPr name="Freeform 25" id="25"/>
            <p:cNvSpPr/>
            <p:nvPr/>
          </p:nvSpPr>
          <p:spPr>
            <a:xfrm flipH="false" flipV="false" rot="0">
              <a:off x="0" y="0"/>
              <a:ext cx="596900" cy="558800"/>
            </a:xfrm>
            <a:custGeom>
              <a:avLst/>
              <a:gdLst/>
              <a:ahLst/>
              <a:cxnLst/>
              <a:rect r="r" b="b" t="t" l="l"/>
              <a:pathLst>
                <a:path h="558800" w="596900">
                  <a:moveTo>
                    <a:pt x="596900" y="24311"/>
                  </a:moveTo>
                  <a:lnTo>
                    <a:pt x="596900" y="280489"/>
                  </a:lnTo>
                  <a:cubicBezTo>
                    <a:pt x="596900" y="296014"/>
                    <a:pt x="590538" y="310860"/>
                    <a:pt x="579296" y="321566"/>
                  </a:cubicBezTo>
                  <a:lnTo>
                    <a:pt x="347804" y="542034"/>
                  </a:lnTo>
                  <a:cubicBezTo>
                    <a:pt x="336503" y="552797"/>
                    <a:pt x="321495" y="558800"/>
                    <a:pt x="305889" y="558800"/>
                  </a:cubicBezTo>
                  <a:lnTo>
                    <a:pt x="24311" y="558800"/>
                  </a:lnTo>
                  <a:cubicBezTo>
                    <a:pt x="10884" y="558800"/>
                    <a:pt x="0" y="547916"/>
                    <a:pt x="0" y="534489"/>
                  </a:cubicBezTo>
                  <a:lnTo>
                    <a:pt x="0" y="273231"/>
                  </a:lnTo>
                  <a:cubicBezTo>
                    <a:pt x="0" y="257711"/>
                    <a:pt x="6384" y="242875"/>
                    <a:pt x="17653" y="232205"/>
                  </a:cubicBezTo>
                  <a:lnTo>
                    <a:pt x="245237" y="16715"/>
                  </a:lnTo>
                  <a:cubicBezTo>
                    <a:pt x="256573" y="5982"/>
                    <a:pt x="271590" y="0"/>
                    <a:pt x="287201" y="0"/>
                  </a:cubicBezTo>
                  <a:lnTo>
                    <a:pt x="572589" y="0"/>
                  </a:lnTo>
                  <a:cubicBezTo>
                    <a:pt x="586016" y="0"/>
                    <a:pt x="596900" y="10884"/>
                    <a:pt x="596900" y="24311"/>
                  </a:cubicBezTo>
                  <a:close/>
                </a:path>
              </a:pathLst>
            </a:custGeom>
            <a:solidFill>
              <a:srgbClr val="8DABD2"/>
            </a:solidFill>
          </p:spPr>
        </p:sp>
        <p:sp>
          <p:nvSpPr>
            <p:cNvPr name="TextBox 26" id="26"/>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sp>
        <p:nvSpPr>
          <p:cNvPr name="Freeform 27" id="27"/>
          <p:cNvSpPr/>
          <p:nvPr/>
        </p:nvSpPr>
        <p:spPr>
          <a:xfrm flipH="false" flipV="false" rot="0">
            <a:off x="13409067" y="9878329"/>
            <a:ext cx="1211471" cy="200443"/>
          </a:xfrm>
          <a:custGeom>
            <a:avLst/>
            <a:gdLst/>
            <a:ahLst/>
            <a:cxnLst/>
            <a:rect r="r" b="b" t="t" l="l"/>
            <a:pathLst>
              <a:path h="200443" w="1211471">
                <a:moveTo>
                  <a:pt x="0" y="0"/>
                </a:moveTo>
                <a:lnTo>
                  <a:pt x="1211472" y="0"/>
                </a:lnTo>
                <a:lnTo>
                  <a:pt x="1211472" y="200444"/>
                </a:lnTo>
                <a:lnTo>
                  <a:pt x="0" y="2004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8" id="28"/>
          <p:cNvGrpSpPr/>
          <p:nvPr/>
        </p:nvGrpSpPr>
        <p:grpSpPr>
          <a:xfrm rot="-10800000">
            <a:off x="-94366" y="-3002706"/>
            <a:ext cx="4863131" cy="4552719"/>
            <a:chOff x="0" y="0"/>
            <a:chExt cx="596900" cy="558800"/>
          </a:xfrm>
        </p:grpSpPr>
        <p:sp>
          <p:nvSpPr>
            <p:cNvPr name="Freeform 29" id="29"/>
            <p:cNvSpPr/>
            <p:nvPr/>
          </p:nvSpPr>
          <p:spPr>
            <a:xfrm flipH="false" flipV="false" rot="0">
              <a:off x="0" y="0"/>
              <a:ext cx="596900" cy="558800"/>
            </a:xfrm>
            <a:custGeom>
              <a:avLst/>
              <a:gdLst/>
              <a:ahLst/>
              <a:cxnLst/>
              <a:rect r="r" b="b" t="t" l="l"/>
              <a:pathLst>
                <a:path h="558800" w="596900">
                  <a:moveTo>
                    <a:pt x="596900" y="18706"/>
                  </a:moveTo>
                  <a:lnTo>
                    <a:pt x="596900" y="286094"/>
                  </a:lnTo>
                  <a:cubicBezTo>
                    <a:pt x="596900" y="298039"/>
                    <a:pt x="592004" y="309462"/>
                    <a:pt x="583355" y="317700"/>
                  </a:cubicBezTo>
                  <a:lnTo>
                    <a:pt x="343745" y="545900"/>
                  </a:lnTo>
                  <a:cubicBezTo>
                    <a:pt x="335050" y="554181"/>
                    <a:pt x="323502" y="558800"/>
                    <a:pt x="311494" y="558800"/>
                  </a:cubicBezTo>
                  <a:lnTo>
                    <a:pt x="18706" y="558800"/>
                  </a:lnTo>
                  <a:cubicBezTo>
                    <a:pt x="13745" y="558800"/>
                    <a:pt x="8987" y="556829"/>
                    <a:pt x="5479" y="553321"/>
                  </a:cubicBezTo>
                  <a:cubicBezTo>
                    <a:pt x="1971" y="549813"/>
                    <a:pt x="0" y="545055"/>
                    <a:pt x="0" y="540094"/>
                  </a:cubicBezTo>
                  <a:lnTo>
                    <a:pt x="0" y="267626"/>
                  </a:lnTo>
                  <a:cubicBezTo>
                    <a:pt x="0" y="255684"/>
                    <a:pt x="4912" y="244269"/>
                    <a:pt x="13583" y="236059"/>
                  </a:cubicBezTo>
                  <a:lnTo>
                    <a:pt x="249307" y="12861"/>
                  </a:lnTo>
                  <a:cubicBezTo>
                    <a:pt x="258029" y="4603"/>
                    <a:pt x="269584" y="0"/>
                    <a:pt x="281596" y="0"/>
                  </a:cubicBezTo>
                  <a:lnTo>
                    <a:pt x="578194" y="0"/>
                  </a:lnTo>
                  <a:cubicBezTo>
                    <a:pt x="583155" y="0"/>
                    <a:pt x="587913" y="1971"/>
                    <a:pt x="591421" y="5479"/>
                  </a:cubicBezTo>
                  <a:cubicBezTo>
                    <a:pt x="594929" y="8987"/>
                    <a:pt x="596900" y="13745"/>
                    <a:pt x="596900" y="18706"/>
                  </a:cubicBezTo>
                  <a:close/>
                </a:path>
              </a:pathLst>
            </a:custGeom>
            <a:ln w="85725" cap="sq">
              <a:solidFill>
                <a:srgbClr val="014AAB"/>
              </a:solidFill>
              <a:prstDash val="solid"/>
              <a:miter/>
            </a:ln>
          </p:spPr>
        </p:sp>
        <p:sp>
          <p:nvSpPr>
            <p:cNvPr name="TextBox 30" id="30"/>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31" id="31"/>
          <p:cNvGrpSpPr/>
          <p:nvPr/>
        </p:nvGrpSpPr>
        <p:grpSpPr>
          <a:xfrm rot="-10800000">
            <a:off x="0" y="-2263430"/>
            <a:ext cx="4073450" cy="3813443"/>
            <a:chOff x="0" y="0"/>
            <a:chExt cx="596900" cy="558800"/>
          </a:xfrm>
        </p:grpSpPr>
        <p:sp>
          <p:nvSpPr>
            <p:cNvPr name="Freeform 32" id="32"/>
            <p:cNvSpPr/>
            <p:nvPr/>
          </p:nvSpPr>
          <p:spPr>
            <a:xfrm flipH="false" flipV="false" rot="0">
              <a:off x="0" y="0"/>
              <a:ext cx="596900" cy="558800"/>
            </a:xfrm>
            <a:custGeom>
              <a:avLst/>
              <a:gdLst/>
              <a:ahLst/>
              <a:cxnLst/>
              <a:rect r="r" b="b" t="t" l="l"/>
              <a:pathLst>
                <a:path h="558800" w="596900">
                  <a:moveTo>
                    <a:pt x="596900" y="22332"/>
                  </a:moveTo>
                  <a:lnTo>
                    <a:pt x="596900" y="282468"/>
                  </a:lnTo>
                  <a:cubicBezTo>
                    <a:pt x="596900" y="296729"/>
                    <a:pt x="591055" y="310366"/>
                    <a:pt x="580729" y="320201"/>
                  </a:cubicBezTo>
                  <a:lnTo>
                    <a:pt x="346371" y="543399"/>
                  </a:lnTo>
                  <a:cubicBezTo>
                    <a:pt x="335990" y="553285"/>
                    <a:pt x="322204" y="558800"/>
                    <a:pt x="307868" y="558800"/>
                  </a:cubicBezTo>
                  <a:lnTo>
                    <a:pt x="22332" y="558800"/>
                  </a:lnTo>
                  <a:cubicBezTo>
                    <a:pt x="16409" y="558800"/>
                    <a:pt x="10729" y="556447"/>
                    <a:pt x="6541" y="552259"/>
                  </a:cubicBezTo>
                  <a:cubicBezTo>
                    <a:pt x="2353" y="548071"/>
                    <a:pt x="0" y="542391"/>
                    <a:pt x="0" y="536468"/>
                  </a:cubicBezTo>
                  <a:lnTo>
                    <a:pt x="0" y="271252"/>
                  </a:lnTo>
                  <a:cubicBezTo>
                    <a:pt x="0" y="256996"/>
                    <a:pt x="5864" y="243367"/>
                    <a:pt x="16216" y="233566"/>
                  </a:cubicBezTo>
                  <a:lnTo>
                    <a:pt x="246674" y="15354"/>
                  </a:lnTo>
                  <a:cubicBezTo>
                    <a:pt x="257087" y="5495"/>
                    <a:pt x="270882" y="0"/>
                    <a:pt x="285222" y="0"/>
                  </a:cubicBezTo>
                  <a:lnTo>
                    <a:pt x="574568" y="0"/>
                  </a:lnTo>
                  <a:cubicBezTo>
                    <a:pt x="580491" y="0"/>
                    <a:pt x="586171" y="2353"/>
                    <a:pt x="590359" y="6541"/>
                  </a:cubicBezTo>
                  <a:cubicBezTo>
                    <a:pt x="594547" y="10729"/>
                    <a:pt x="596900" y="16409"/>
                    <a:pt x="596900" y="22332"/>
                  </a:cubicBezTo>
                  <a:close/>
                </a:path>
              </a:pathLst>
            </a:custGeom>
            <a:solidFill>
              <a:srgbClr val="8DABD2"/>
            </a:solidFill>
          </p:spPr>
        </p:sp>
        <p:sp>
          <p:nvSpPr>
            <p:cNvPr name="TextBox 33" id="33"/>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34" id="34"/>
          <p:cNvGrpSpPr/>
          <p:nvPr/>
        </p:nvGrpSpPr>
        <p:grpSpPr>
          <a:xfrm rot="0">
            <a:off x="-1338322" y="845118"/>
            <a:ext cx="4235564" cy="935169"/>
            <a:chOff x="0" y="0"/>
            <a:chExt cx="1115539" cy="246300"/>
          </a:xfrm>
        </p:grpSpPr>
        <p:sp>
          <p:nvSpPr>
            <p:cNvPr name="Freeform 35" id="35"/>
            <p:cNvSpPr/>
            <p:nvPr/>
          </p:nvSpPr>
          <p:spPr>
            <a:xfrm flipH="false" flipV="false" rot="0">
              <a:off x="0" y="0"/>
              <a:ext cx="1115539" cy="246300"/>
            </a:xfrm>
            <a:custGeom>
              <a:avLst/>
              <a:gdLst/>
              <a:ahLst/>
              <a:cxnLst/>
              <a:rect r="r" b="b" t="t" l="l"/>
              <a:pathLst>
                <a:path h="246300" w="1115539">
                  <a:moveTo>
                    <a:pt x="63974" y="0"/>
                  </a:moveTo>
                  <a:lnTo>
                    <a:pt x="1051565" y="0"/>
                  </a:lnTo>
                  <a:cubicBezTo>
                    <a:pt x="1086897" y="0"/>
                    <a:pt x="1115539" y="28642"/>
                    <a:pt x="1115539" y="63974"/>
                  </a:cubicBezTo>
                  <a:lnTo>
                    <a:pt x="1115539" y="182325"/>
                  </a:lnTo>
                  <a:cubicBezTo>
                    <a:pt x="1115539" y="217657"/>
                    <a:pt x="1086897" y="246300"/>
                    <a:pt x="1051565" y="246300"/>
                  </a:cubicBezTo>
                  <a:lnTo>
                    <a:pt x="63974" y="246300"/>
                  </a:lnTo>
                  <a:cubicBezTo>
                    <a:pt x="28642" y="246300"/>
                    <a:pt x="0" y="217657"/>
                    <a:pt x="0" y="182325"/>
                  </a:cubicBezTo>
                  <a:lnTo>
                    <a:pt x="0" y="63974"/>
                  </a:lnTo>
                  <a:cubicBezTo>
                    <a:pt x="0" y="28642"/>
                    <a:pt x="28642" y="0"/>
                    <a:pt x="63974" y="0"/>
                  </a:cubicBezTo>
                  <a:close/>
                </a:path>
              </a:pathLst>
            </a:custGeom>
            <a:solidFill>
              <a:srgbClr val="FFFFFF"/>
            </a:solidFill>
          </p:spPr>
        </p:sp>
        <p:sp>
          <p:nvSpPr>
            <p:cNvPr name="TextBox 36" id="36"/>
            <p:cNvSpPr txBox="true"/>
            <p:nvPr/>
          </p:nvSpPr>
          <p:spPr>
            <a:xfrm>
              <a:off x="0" y="-57150"/>
              <a:ext cx="1115539" cy="303450"/>
            </a:xfrm>
            <a:prstGeom prst="rect">
              <a:avLst/>
            </a:prstGeom>
          </p:spPr>
          <p:txBody>
            <a:bodyPr anchor="ctr" rtlCol="false" tIns="50800" lIns="50800" bIns="50800" rIns="50800"/>
            <a:lstStyle/>
            <a:p>
              <a:pPr algn="ctr" marL="0" indent="0" lvl="0">
                <a:lnSpc>
                  <a:spcPts val="3220"/>
                </a:lnSpc>
              </a:pPr>
            </a:p>
          </p:txBody>
        </p:sp>
      </p:grpSp>
      <p:sp>
        <p:nvSpPr>
          <p:cNvPr name="Freeform 37" id="37"/>
          <p:cNvSpPr/>
          <p:nvPr/>
        </p:nvSpPr>
        <p:spPr>
          <a:xfrm flipH="false" flipV="false" rot="0">
            <a:off x="568565" y="1680065"/>
            <a:ext cx="1211471" cy="200443"/>
          </a:xfrm>
          <a:custGeom>
            <a:avLst/>
            <a:gdLst/>
            <a:ahLst/>
            <a:cxnLst/>
            <a:rect r="r" b="b" t="t" l="l"/>
            <a:pathLst>
              <a:path h="200443" w="1211471">
                <a:moveTo>
                  <a:pt x="0" y="0"/>
                </a:moveTo>
                <a:lnTo>
                  <a:pt x="1211471" y="0"/>
                </a:lnTo>
                <a:lnTo>
                  <a:pt x="1211471" y="200444"/>
                </a:lnTo>
                <a:lnTo>
                  <a:pt x="0" y="2004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8" id="38"/>
          <p:cNvSpPr/>
          <p:nvPr/>
        </p:nvSpPr>
        <p:spPr>
          <a:xfrm flipH="true" flipV="true" rot="0">
            <a:off x="1912" y="9067948"/>
            <a:ext cx="1248992" cy="1235367"/>
          </a:xfrm>
          <a:custGeom>
            <a:avLst/>
            <a:gdLst/>
            <a:ahLst/>
            <a:cxnLst/>
            <a:rect r="r" b="b" t="t" l="l"/>
            <a:pathLst>
              <a:path h="1235367" w="1248992">
                <a:moveTo>
                  <a:pt x="1248992" y="1235367"/>
                </a:moveTo>
                <a:lnTo>
                  <a:pt x="0" y="1235367"/>
                </a:lnTo>
                <a:lnTo>
                  <a:pt x="0" y="0"/>
                </a:lnTo>
                <a:lnTo>
                  <a:pt x="1248992" y="0"/>
                </a:lnTo>
                <a:lnTo>
                  <a:pt x="1248992" y="1235367"/>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9" id="39"/>
          <p:cNvSpPr/>
          <p:nvPr/>
        </p:nvSpPr>
        <p:spPr>
          <a:xfrm flipH="false" flipV="false" rot="0">
            <a:off x="16130060" y="845118"/>
            <a:ext cx="1370117" cy="1355170"/>
          </a:xfrm>
          <a:custGeom>
            <a:avLst/>
            <a:gdLst/>
            <a:ahLst/>
            <a:cxnLst/>
            <a:rect r="r" b="b" t="t" l="l"/>
            <a:pathLst>
              <a:path h="1355170" w="1370117">
                <a:moveTo>
                  <a:pt x="0" y="0"/>
                </a:moveTo>
                <a:lnTo>
                  <a:pt x="1370117" y="0"/>
                </a:lnTo>
                <a:lnTo>
                  <a:pt x="1370117" y="1355171"/>
                </a:lnTo>
                <a:lnTo>
                  <a:pt x="0" y="135517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40" id="40"/>
          <p:cNvGrpSpPr/>
          <p:nvPr/>
        </p:nvGrpSpPr>
        <p:grpSpPr>
          <a:xfrm rot="0">
            <a:off x="12074490" y="2722012"/>
            <a:ext cx="3608686" cy="1414274"/>
            <a:chOff x="0" y="0"/>
            <a:chExt cx="950436" cy="372484"/>
          </a:xfrm>
        </p:grpSpPr>
        <p:sp>
          <p:nvSpPr>
            <p:cNvPr name="Freeform 41" id="41"/>
            <p:cNvSpPr/>
            <p:nvPr/>
          </p:nvSpPr>
          <p:spPr>
            <a:xfrm flipH="false" flipV="false" rot="0">
              <a:off x="0" y="0"/>
              <a:ext cx="950436" cy="372484"/>
            </a:xfrm>
            <a:custGeom>
              <a:avLst/>
              <a:gdLst/>
              <a:ahLst/>
              <a:cxnLst/>
              <a:rect r="r" b="b" t="t" l="l"/>
              <a:pathLst>
                <a:path h="372484" w="950436">
                  <a:moveTo>
                    <a:pt x="186242" y="0"/>
                  </a:moveTo>
                  <a:lnTo>
                    <a:pt x="764194" y="0"/>
                  </a:lnTo>
                  <a:cubicBezTo>
                    <a:pt x="813588" y="0"/>
                    <a:pt x="860960" y="19622"/>
                    <a:pt x="895887" y="54549"/>
                  </a:cubicBezTo>
                  <a:cubicBezTo>
                    <a:pt x="930814" y="89476"/>
                    <a:pt x="950436" y="136847"/>
                    <a:pt x="950436" y="186242"/>
                  </a:cubicBezTo>
                  <a:lnTo>
                    <a:pt x="950436" y="186242"/>
                  </a:lnTo>
                  <a:cubicBezTo>
                    <a:pt x="950436" y="235636"/>
                    <a:pt x="930814" y="283008"/>
                    <a:pt x="895887" y="317935"/>
                  </a:cubicBezTo>
                  <a:cubicBezTo>
                    <a:pt x="860960" y="352862"/>
                    <a:pt x="813588" y="372484"/>
                    <a:pt x="764194" y="372484"/>
                  </a:cubicBezTo>
                  <a:lnTo>
                    <a:pt x="186242" y="372484"/>
                  </a:lnTo>
                  <a:cubicBezTo>
                    <a:pt x="136847" y="372484"/>
                    <a:pt x="89476" y="352862"/>
                    <a:pt x="54549" y="317935"/>
                  </a:cubicBezTo>
                  <a:cubicBezTo>
                    <a:pt x="19622" y="283008"/>
                    <a:pt x="0" y="235636"/>
                    <a:pt x="0" y="186242"/>
                  </a:cubicBezTo>
                  <a:lnTo>
                    <a:pt x="0" y="186242"/>
                  </a:lnTo>
                  <a:cubicBezTo>
                    <a:pt x="0" y="136847"/>
                    <a:pt x="19622" y="89476"/>
                    <a:pt x="54549" y="54549"/>
                  </a:cubicBezTo>
                  <a:cubicBezTo>
                    <a:pt x="89476" y="19622"/>
                    <a:pt x="136847" y="0"/>
                    <a:pt x="186242" y="0"/>
                  </a:cubicBezTo>
                  <a:close/>
                </a:path>
              </a:pathLst>
            </a:custGeom>
            <a:solidFill>
              <a:srgbClr val="FFFFFF"/>
            </a:solidFill>
            <a:ln w="38100" cap="rnd">
              <a:solidFill>
                <a:srgbClr val="8DABD2"/>
              </a:solidFill>
              <a:prstDash val="solid"/>
              <a:round/>
            </a:ln>
          </p:spPr>
        </p:sp>
        <p:sp>
          <p:nvSpPr>
            <p:cNvPr name="TextBox 42" id="42"/>
            <p:cNvSpPr txBox="true"/>
            <p:nvPr/>
          </p:nvSpPr>
          <p:spPr>
            <a:xfrm>
              <a:off x="0" y="-57150"/>
              <a:ext cx="950436" cy="429634"/>
            </a:xfrm>
            <a:prstGeom prst="rect">
              <a:avLst/>
            </a:prstGeom>
          </p:spPr>
          <p:txBody>
            <a:bodyPr anchor="ctr" rtlCol="false" tIns="50800" lIns="50800" bIns="50800" rIns="50800"/>
            <a:lstStyle/>
            <a:p>
              <a:pPr algn="ctr" marL="0" indent="0" lvl="0">
                <a:lnSpc>
                  <a:spcPts val="3220"/>
                </a:lnSpc>
              </a:pPr>
            </a:p>
          </p:txBody>
        </p:sp>
      </p:grpSp>
      <p:sp>
        <p:nvSpPr>
          <p:cNvPr name="Freeform 43" id="43"/>
          <p:cNvSpPr/>
          <p:nvPr/>
        </p:nvSpPr>
        <p:spPr>
          <a:xfrm flipH="false" flipV="false" rot="0">
            <a:off x="4594538" y="6533836"/>
            <a:ext cx="8149727" cy="3753164"/>
          </a:xfrm>
          <a:custGeom>
            <a:avLst/>
            <a:gdLst/>
            <a:ahLst/>
            <a:cxnLst/>
            <a:rect r="r" b="b" t="t" l="l"/>
            <a:pathLst>
              <a:path h="3753164" w="8149727">
                <a:moveTo>
                  <a:pt x="0" y="0"/>
                </a:moveTo>
                <a:lnTo>
                  <a:pt x="8149728" y="0"/>
                </a:lnTo>
                <a:lnTo>
                  <a:pt x="8149728" y="3753164"/>
                </a:lnTo>
                <a:lnTo>
                  <a:pt x="0" y="3753164"/>
                </a:lnTo>
                <a:lnTo>
                  <a:pt x="0" y="0"/>
                </a:lnTo>
                <a:close/>
              </a:path>
            </a:pathLst>
          </a:custGeom>
          <a:blipFill>
            <a:blip r:embed="rId10"/>
            <a:stretch>
              <a:fillRect l="0" t="0" r="0" b="0"/>
            </a:stretch>
          </a:blipFill>
        </p:spPr>
      </p:sp>
      <p:sp>
        <p:nvSpPr>
          <p:cNvPr name="TextBox 44" id="44"/>
          <p:cNvSpPr txBox="true"/>
          <p:nvPr/>
        </p:nvSpPr>
        <p:spPr>
          <a:xfrm rot="0">
            <a:off x="3031672" y="878358"/>
            <a:ext cx="12224655" cy="919861"/>
          </a:xfrm>
          <a:prstGeom prst="rect">
            <a:avLst/>
          </a:prstGeom>
        </p:spPr>
        <p:txBody>
          <a:bodyPr anchor="t" rtlCol="false" tIns="0" lIns="0" bIns="0" rIns="0">
            <a:spAutoFit/>
          </a:bodyPr>
          <a:lstStyle/>
          <a:p>
            <a:pPr algn="ctr" marL="0" indent="0" lvl="0">
              <a:lnSpc>
                <a:spcPts val="3590"/>
              </a:lnSpc>
            </a:pPr>
            <a:r>
              <a:rPr lang="en-US" b="true" sz="3590" spc="71">
                <a:solidFill>
                  <a:srgbClr val="011A3C"/>
                </a:solidFill>
                <a:latin typeface="Gotham Bold"/>
                <a:ea typeface="Gotham Bold"/>
                <a:cs typeface="Gotham Bold"/>
                <a:sym typeface="Gotham Bold"/>
              </a:rPr>
              <a:t>FIRMWARE</a:t>
            </a:r>
            <a:r>
              <a:rPr lang="en-US" b="true" sz="3590" spc="71">
                <a:solidFill>
                  <a:srgbClr val="011A3C"/>
                </a:solidFill>
                <a:latin typeface="Gotham Bold"/>
                <a:ea typeface="Gotham Bold"/>
                <a:cs typeface="Gotham Bold"/>
                <a:sym typeface="Gotham Bold"/>
              </a:rPr>
              <a:t> E INTERFACES DE CONTROL BIDIRECCIONAL</a:t>
            </a:r>
          </a:p>
        </p:txBody>
      </p:sp>
      <p:sp>
        <p:nvSpPr>
          <p:cNvPr name="TextBox 45" id="45"/>
          <p:cNvSpPr txBox="true"/>
          <p:nvPr/>
        </p:nvSpPr>
        <p:spPr>
          <a:xfrm rot="0">
            <a:off x="1694851" y="2949065"/>
            <a:ext cx="2823590" cy="815388"/>
          </a:xfrm>
          <a:prstGeom prst="rect">
            <a:avLst/>
          </a:prstGeom>
        </p:spPr>
        <p:txBody>
          <a:bodyPr anchor="t" rtlCol="false" tIns="0" lIns="0" bIns="0" rIns="0">
            <a:spAutoFit/>
          </a:bodyPr>
          <a:lstStyle/>
          <a:p>
            <a:pPr algn="l" marL="0" indent="0" lvl="0">
              <a:lnSpc>
                <a:spcPts val="3357"/>
              </a:lnSpc>
            </a:pPr>
            <a:r>
              <a:rPr lang="en-US" b="true" sz="2398">
                <a:solidFill>
                  <a:srgbClr val="011A3C"/>
                </a:solidFill>
                <a:latin typeface="Nunito Semi-Bold"/>
                <a:ea typeface="Nunito Semi-Bold"/>
                <a:cs typeface="Nunito Semi-Bold"/>
                <a:sym typeface="Nunito Semi-Bold"/>
              </a:rPr>
              <a:t>Arquitectur</a:t>
            </a:r>
            <a:r>
              <a:rPr lang="en-US" b="true" sz="2398">
                <a:solidFill>
                  <a:srgbClr val="011A3C"/>
                </a:solidFill>
                <a:latin typeface="Nunito Semi-Bold"/>
                <a:ea typeface="Nunito Semi-Bold"/>
                <a:cs typeface="Nunito Semi-Bold"/>
                <a:sym typeface="Nunito Semi-Bold"/>
              </a:rPr>
              <a:t>a de Control Asíncrona</a:t>
            </a:r>
          </a:p>
        </p:txBody>
      </p:sp>
      <p:sp>
        <p:nvSpPr>
          <p:cNvPr name="TextBox 46" id="46"/>
          <p:cNvSpPr txBox="true"/>
          <p:nvPr/>
        </p:nvSpPr>
        <p:spPr>
          <a:xfrm rot="0">
            <a:off x="6815835" y="3002405"/>
            <a:ext cx="3301390" cy="815388"/>
          </a:xfrm>
          <a:prstGeom prst="rect">
            <a:avLst/>
          </a:prstGeom>
        </p:spPr>
        <p:txBody>
          <a:bodyPr anchor="t" rtlCol="false" tIns="0" lIns="0" bIns="0" rIns="0">
            <a:spAutoFit/>
          </a:bodyPr>
          <a:lstStyle/>
          <a:p>
            <a:pPr algn="l" marL="0" indent="0" lvl="0">
              <a:lnSpc>
                <a:spcPts val="3357"/>
              </a:lnSpc>
            </a:pPr>
            <a:r>
              <a:rPr lang="en-US" b="true" sz="2398">
                <a:solidFill>
                  <a:srgbClr val="011A3C"/>
                </a:solidFill>
                <a:latin typeface="Nunito Semi-Bold"/>
                <a:ea typeface="Nunito Semi-Bold"/>
                <a:cs typeface="Nunito Semi-Bold"/>
                <a:sym typeface="Nunito Semi-Bold"/>
              </a:rPr>
              <a:t>Ex</a:t>
            </a:r>
            <a:r>
              <a:rPr lang="en-US" b="true" sz="2398">
                <a:solidFill>
                  <a:srgbClr val="011A3C"/>
                </a:solidFill>
                <a:latin typeface="Nunito Semi-Bold"/>
                <a:ea typeface="Nunito Semi-Bold"/>
                <a:cs typeface="Nunito Semi-Bold"/>
                <a:sym typeface="Nunito Semi-Bold"/>
              </a:rPr>
              <a:t>tracción y Normalización de Datos</a:t>
            </a:r>
          </a:p>
        </p:txBody>
      </p:sp>
      <p:sp>
        <p:nvSpPr>
          <p:cNvPr name="TextBox 47" id="47"/>
          <p:cNvSpPr txBox="true"/>
          <p:nvPr/>
        </p:nvSpPr>
        <p:spPr>
          <a:xfrm rot="0">
            <a:off x="800076" y="4432053"/>
            <a:ext cx="5010337" cy="1981200"/>
          </a:xfrm>
          <a:prstGeom prst="rect">
            <a:avLst/>
          </a:prstGeom>
        </p:spPr>
        <p:txBody>
          <a:bodyPr anchor="t" rtlCol="false" tIns="0" lIns="0" bIns="0" rIns="0">
            <a:spAutoFit/>
          </a:bodyPr>
          <a:lstStyle/>
          <a:p>
            <a:pPr algn="l">
              <a:lnSpc>
                <a:spcPts val="1954"/>
              </a:lnSpc>
            </a:pPr>
            <a:r>
              <a:rPr lang="en-US" sz="1628">
                <a:solidFill>
                  <a:srgbClr val="011A3C"/>
                </a:solidFill>
                <a:latin typeface="Nunito"/>
                <a:ea typeface="Nunito"/>
                <a:cs typeface="Nunito"/>
                <a:sym typeface="Nunito"/>
              </a:rPr>
              <a:t>Migración de un enfoque estático a un control dinámico manejado mediante polling constante sobre el búfer serial </a:t>
            </a:r>
            <a:r>
              <a:rPr lang="en-US" sz="1628" b="true">
                <a:solidFill>
                  <a:srgbClr val="011A3C"/>
                </a:solidFill>
                <a:latin typeface="Nunito Bold"/>
                <a:ea typeface="Nunito Bold"/>
                <a:cs typeface="Nunito Bold"/>
                <a:sym typeface="Nunito Bold"/>
              </a:rPr>
              <a:t>(BT.available( ))</a:t>
            </a:r>
            <a:r>
              <a:rPr lang="en-US" sz="1628">
                <a:solidFill>
                  <a:srgbClr val="011A3C"/>
                </a:solidFill>
                <a:latin typeface="Nunito"/>
                <a:ea typeface="Nunito"/>
                <a:cs typeface="Nunito"/>
                <a:sym typeface="Nunito"/>
              </a:rPr>
              <a:t>, evitando retardos bloqueantes</a:t>
            </a:r>
            <a:r>
              <a:rPr lang="en-US" sz="1628" b="true">
                <a:solidFill>
                  <a:srgbClr val="011A3C"/>
                </a:solidFill>
                <a:latin typeface="Nunito Bold"/>
                <a:ea typeface="Nunito Bold"/>
                <a:cs typeface="Nunito Bold"/>
                <a:sym typeface="Nunito Bold"/>
              </a:rPr>
              <a:t> (delay)</a:t>
            </a:r>
            <a:r>
              <a:rPr lang="en-US" sz="1628">
                <a:solidFill>
                  <a:srgbClr val="011A3C"/>
                </a:solidFill>
                <a:latin typeface="Nunito"/>
                <a:ea typeface="Nunito"/>
                <a:cs typeface="Nunito"/>
                <a:sym typeface="Nunito"/>
              </a:rPr>
              <a:t>.</a:t>
            </a:r>
          </a:p>
          <a:p>
            <a:pPr algn="l">
              <a:lnSpc>
                <a:spcPts val="1954"/>
              </a:lnSpc>
            </a:pPr>
          </a:p>
          <a:p>
            <a:pPr algn="l" marL="351672" indent="-175836" lvl="1">
              <a:lnSpc>
                <a:spcPts val="1954"/>
              </a:lnSpc>
              <a:buFont typeface="Arial"/>
              <a:buChar char="•"/>
            </a:pPr>
            <a:r>
              <a:rPr lang="en-US" sz="1628">
                <a:solidFill>
                  <a:srgbClr val="011A3C"/>
                </a:solidFill>
                <a:latin typeface="Nunito"/>
                <a:ea typeface="Nunito"/>
                <a:cs typeface="Nunito"/>
                <a:sym typeface="Nunito"/>
              </a:rPr>
              <a:t>Organización en 4 bloques independientes: Recepción de comandos, lectura de sensores, toma de decisiones y reportes de telemetría.</a:t>
            </a:r>
          </a:p>
        </p:txBody>
      </p:sp>
      <p:sp>
        <p:nvSpPr>
          <p:cNvPr name="TextBox 48" id="48"/>
          <p:cNvSpPr txBox="true"/>
          <p:nvPr/>
        </p:nvSpPr>
        <p:spPr>
          <a:xfrm rot="0">
            <a:off x="6601998" y="4432053"/>
            <a:ext cx="4995593" cy="1733550"/>
          </a:xfrm>
          <a:prstGeom prst="rect">
            <a:avLst/>
          </a:prstGeom>
        </p:spPr>
        <p:txBody>
          <a:bodyPr anchor="t" rtlCol="false" tIns="0" lIns="0" bIns="0" rIns="0">
            <a:spAutoFit/>
          </a:bodyPr>
          <a:lstStyle/>
          <a:p>
            <a:pPr algn="l" marL="351672" indent="-175836" lvl="1">
              <a:lnSpc>
                <a:spcPts val="1954"/>
              </a:lnSpc>
              <a:buFont typeface="Arial"/>
              <a:buChar char="•"/>
            </a:pPr>
            <a:r>
              <a:rPr lang="en-US" sz="1628">
                <a:solidFill>
                  <a:srgbClr val="011A3C"/>
                </a:solidFill>
                <a:latin typeface="Nunito"/>
                <a:ea typeface="Nunito"/>
                <a:cs typeface="Nunito"/>
                <a:sym typeface="Nunito"/>
              </a:rPr>
              <a:t>Las lecturas analógicas crudas del suelo (rango ADC: 0 - 1023) se promedian matemáticamente.</a:t>
            </a:r>
          </a:p>
          <a:p>
            <a:pPr algn="l">
              <a:lnSpc>
                <a:spcPts val="1954"/>
              </a:lnSpc>
            </a:pPr>
          </a:p>
          <a:p>
            <a:pPr algn="l" marL="351672" indent="-175836" lvl="1">
              <a:lnSpc>
                <a:spcPts val="1954"/>
              </a:lnSpc>
              <a:buFont typeface="Arial"/>
              <a:buChar char="•"/>
            </a:pPr>
            <a:r>
              <a:rPr lang="en-US" sz="1628">
                <a:solidFill>
                  <a:srgbClr val="011A3C"/>
                </a:solidFill>
                <a:latin typeface="Nunito"/>
                <a:ea typeface="Nunito"/>
                <a:cs typeface="Nunito"/>
                <a:sym typeface="Nunito"/>
              </a:rPr>
              <a:t>Se mapean mediante software a un porcentaje comprensible para el usuario (0% a 100%), donde 1023 representa sequedad máxima (alta resistencia) y 300 la saturación hídrica óptima.</a:t>
            </a:r>
          </a:p>
        </p:txBody>
      </p:sp>
      <p:sp>
        <p:nvSpPr>
          <p:cNvPr name="TextBox 49" id="49"/>
          <p:cNvSpPr txBox="true"/>
          <p:nvPr/>
        </p:nvSpPr>
        <p:spPr>
          <a:xfrm rot="0">
            <a:off x="12412066" y="2792855"/>
            <a:ext cx="3070941" cy="1234488"/>
          </a:xfrm>
          <a:prstGeom prst="rect">
            <a:avLst/>
          </a:prstGeom>
        </p:spPr>
        <p:txBody>
          <a:bodyPr anchor="t" rtlCol="false" tIns="0" lIns="0" bIns="0" rIns="0">
            <a:spAutoFit/>
          </a:bodyPr>
          <a:lstStyle/>
          <a:p>
            <a:pPr algn="l" marL="0" indent="0" lvl="0">
              <a:lnSpc>
                <a:spcPts val="3357"/>
              </a:lnSpc>
            </a:pPr>
            <a:r>
              <a:rPr lang="en-US" b="true" sz="2398">
                <a:solidFill>
                  <a:srgbClr val="011A3C"/>
                </a:solidFill>
                <a:latin typeface="Nunito Semi-Bold"/>
                <a:ea typeface="Nunito Semi-Bold"/>
                <a:cs typeface="Nunito Semi-Bold"/>
                <a:sym typeface="Nunito Semi-Bold"/>
              </a:rPr>
              <a:t>Mod</a:t>
            </a:r>
            <a:r>
              <a:rPr lang="en-US" b="true" sz="2398">
                <a:solidFill>
                  <a:srgbClr val="011A3C"/>
                </a:solidFill>
                <a:latin typeface="Nunito Semi-Bold"/>
                <a:ea typeface="Nunito Semi-Bold"/>
                <a:cs typeface="Nunito Semi-Bold"/>
                <a:sym typeface="Nunito Semi-Bold"/>
              </a:rPr>
              <a:t>os de Operación y Control Bidireccional</a:t>
            </a:r>
          </a:p>
        </p:txBody>
      </p:sp>
      <p:sp>
        <p:nvSpPr>
          <p:cNvPr name="TextBox 50" id="50"/>
          <p:cNvSpPr txBox="true"/>
          <p:nvPr/>
        </p:nvSpPr>
        <p:spPr>
          <a:xfrm rot="0">
            <a:off x="12074490" y="4374929"/>
            <a:ext cx="5425686" cy="1981200"/>
          </a:xfrm>
          <a:prstGeom prst="rect">
            <a:avLst/>
          </a:prstGeom>
        </p:spPr>
        <p:txBody>
          <a:bodyPr anchor="t" rtlCol="false" tIns="0" lIns="0" bIns="0" rIns="0">
            <a:spAutoFit/>
          </a:bodyPr>
          <a:lstStyle/>
          <a:p>
            <a:pPr algn="l" marL="351672" indent="-175836" lvl="1">
              <a:lnSpc>
                <a:spcPts val="1954"/>
              </a:lnSpc>
              <a:buFont typeface="Arial"/>
              <a:buChar char="•"/>
            </a:pPr>
            <a:r>
              <a:rPr lang="en-US" sz="1628">
                <a:solidFill>
                  <a:srgbClr val="011A3C"/>
                </a:solidFill>
                <a:latin typeface="Nunito"/>
                <a:ea typeface="Nunito"/>
                <a:cs typeface="Nunito"/>
                <a:sym typeface="Nunito"/>
              </a:rPr>
              <a:t>IModo Manual: Permite el encendido ('1') o apagado ('0') forzado desde la aplicac</a:t>
            </a:r>
            <a:r>
              <a:rPr lang="en-US" sz="1628">
                <a:solidFill>
                  <a:srgbClr val="011A3C"/>
                </a:solidFill>
                <a:latin typeface="Nunito"/>
                <a:ea typeface="Nunito"/>
                <a:cs typeface="Nunito"/>
                <a:sym typeface="Nunito"/>
              </a:rPr>
              <a:t>ión móvil.</a:t>
            </a:r>
          </a:p>
          <a:p>
            <a:pPr algn="l">
              <a:lnSpc>
                <a:spcPts val="1954"/>
              </a:lnSpc>
            </a:pPr>
          </a:p>
          <a:p>
            <a:pPr algn="l" marL="351672" indent="-175836" lvl="1">
              <a:lnSpc>
                <a:spcPts val="1954"/>
              </a:lnSpc>
              <a:buFont typeface="Arial"/>
              <a:buChar char="•"/>
            </a:pPr>
            <a:r>
              <a:rPr lang="en-US" sz="1628">
                <a:solidFill>
                  <a:srgbClr val="011A3C"/>
                </a:solidFill>
                <a:latin typeface="Nunito"/>
                <a:ea typeface="Nunito"/>
                <a:cs typeface="Nunito"/>
                <a:sym typeface="Nunito"/>
              </a:rPr>
              <a:t>Modo Automático ('2'): Evalúa dinámicamente si el </a:t>
            </a:r>
            <a:r>
              <a:rPr lang="en-US" b="true" sz="1628">
                <a:solidFill>
                  <a:srgbClr val="011A3C"/>
                </a:solidFill>
                <a:latin typeface="Nunito Bold"/>
                <a:ea typeface="Nunito Bold"/>
                <a:cs typeface="Nunito Bold"/>
                <a:sym typeface="Nunito Bold"/>
              </a:rPr>
              <a:t>porcentajeHumedad</a:t>
            </a:r>
            <a:r>
              <a:rPr lang="en-US" sz="1628">
                <a:solidFill>
                  <a:srgbClr val="011A3C"/>
                </a:solidFill>
                <a:latin typeface="Nunito"/>
                <a:ea typeface="Nunito"/>
                <a:cs typeface="Nunito"/>
                <a:sym typeface="Nunito"/>
              </a:rPr>
              <a:t> es menor que el </a:t>
            </a:r>
            <a:r>
              <a:rPr lang="en-US" b="true" sz="1628">
                <a:solidFill>
                  <a:srgbClr val="011A3C"/>
                </a:solidFill>
                <a:latin typeface="Nunito Bold"/>
                <a:ea typeface="Nunito Bold"/>
                <a:cs typeface="Nunito Bold"/>
                <a:sym typeface="Nunito Bold"/>
              </a:rPr>
              <a:t>umbralHumedad</a:t>
            </a:r>
            <a:r>
              <a:rPr lang="en-US" sz="1628">
                <a:solidFill>
                  <a:srgbClr val="011A3C"/>
                </a:solidFill>
                <a:latin typeface="Nunito"/>
                <a:ea typeface="Nunito"/>
                <a:cs typeface="Nunito"/>
                <a:sym typeface="Nunito"/>
              </a:rPr>
              <a:t> configurado por el usuario (comando 'U') para activar el relé en estado </a:t>
            </a:r>
            <a:r>
              <a:rPr lang="en-US" b="true" sz="1628">
                <a:solidFill>
                  <a:srgbClr val="011A3C"/>
                </a:solidFill>
                <a:latin typeface="Nunito Bold"/>
                <a:ea typeface="Nunito Bold"/>
                <a:cs typeface="Nunito Bold"/>
                <a:sym typeface="Nunito Bold"/>
              </a:rPr>
              <a:t>LOW </a:t>
            </a:r>
            <a:r>
              <a:rPr lang="en-US" sz="1628">
                <a:solidFill>
                  <a:srgbClr val="011A3C"/>
                </a:solidFill>
                <a:latin typeface="Nunito"/>
                <a:ea typeface="Nunito"/>
                <a:cs typeface="Nunito"/>
                <a:sym typeface="Nunito"/>
              </a:rPr>
              <a:t>(lógica inversa de activación).</a:t>
            </a:r>
          </a:p>
        </p:txBody>
      </p:sp>
      <p:sp>
        <p:nvSpPr>
          <p:cNvPr name="TextBox 51" id="51"/>
          <p:cNvSpPr txBox="true"/>
          <p:nvPr/>
        </p:nvSpPr>
        <p:spPr>
          <a:xfrm rot="0">
            <a:off x="5841493" y="1811952"/>
            <a:ext cx="6605014" cy="542925"/>
          </a:xfrm>
          <a:prstGeom prst="rect">
            <a:avLst/>
          </a:prstGeom>
        </p:spPr>
        <p:txBody>
          <a:bodyPr anchor="t" rtlCol="false" tIns="0" lIns="0" bIns="0" rIns="0">
            <a:spAutoFit/>
          </a:bodyPr>
          <a:lstStyle/>
          <a:p>
            <a:pPr algn="ctr" marL="0" indent="0" lvl="0">
              <a:lnSpc>
                <a:spcPts val="2194"/>
              </a:lnSpc>
            </a:pPr>
            <a:r>
              <a:rPr lang="en-US" b="true" sz="1828">
                <a:solidFill>
                  <a:srgbClr val="011A3C"/>
                </a:solidFill>
                <a:latin typeface="Nunito Bold"/>
                <a:ea typeface="Nunito Bold"/>
                <a:cs typeface="Nunito Bold"/>
                <a:sym typeface="Nunito Bold"/>
              </a:rPr>
              <a:t>Lógica Asíncro</a:t>
            </a:r>
            <a:r>
              <a:rPr lang="en-US" b="true" sz="1828">
                <a:solidFill>
                  <a:srgbClr val="011A3C"/>
                </a:solidFill>
                <a:latin typeface="Nunito Bold"/>
                <a:ea typeface="Nunito Bold"/>
                <a:cs typeface="Nunito Bold"/>
                <a:sym typeface="Nunito Bold"/>
              </a:rPr>
              <a:t>na, Normalización de Datos y Máquina de Estados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14372557" y="-522625"/>
            <a:ext cx="5586552" cy="5229964"/>
            <a:chOff x="0" y="0"/>
            <a:chExt cx="596900" cy="558800"/>
          </a:xfrm>
        </p:grpSpPr>
        <p:sp>
          <p:nvSpPr>
            <p:cNvPr name="Freeform 3" id="3"/>
            <p:cNvSpPr/>
            <p:nvPr/>
          </p:nvSpPr>
          <p:spPr>
            <a:xfrm flipH="false" flipV="false" rot="0">
              <a:off x="0" y="0"/>
              <a:ext cx="596900" cy="558800"/>
            </a:xfrm>
            <a:custGeom>
              <a:avLst/>
              <a:gdLst/>
              <a:ahLst/>
              <a:cxnLst/>
              <a:rect r="r" b="b" t="t" l="l"/>
              <a:pathLst>
                <a:path h="558800" w="596900">
                  <a:moveTo>
                    <a:pt x="596900" y="16283"/>
                  </a:moveTo>
                  <a:lnTo>
                    <a:pt x="596900" y="288517"/>
                  </a:lnTo>
                  <a:cubicBezTo>
                    <a:pt x="596900" y="298915"/>
                    <a:pt x="592638" y="308859"/>
                    <a:pt x="585109" y="316030"/>
                  </a:cubicBezTo>
                  <a:lnTo>
                    <a:pt x="341991" y="547570"/>
                  </a:lnTo>
                  <a:cubicBezTo>
                    <a:pt x="334422" y="554779"/>
                    <a:pt x="324370" y="558800"/>
                    <a:pt x="313917" y="558800"/>
                  </a:cubicBezTo>
                  <a:lnTo>
                    <a:pt x="16283" y="558800"/>
                  </a:lnTo>
                  <a:cubicBezTo>
                    <a:pt x="7290" y="558800"/>
                    <a:pt x="0" y="551510"/>
                    <a:pt x="0" y="542517"/>
                  </a:cubicBezTo>
                  <a:lnTo>
                    <a:pt x="0" y="265203"/>
                  </a:lnTo>
                  <a:cubicBezTo>
                    <a:pt x="0" y="254809"/>
                    <a:pt x="4276" y="244871"/>
                    <a:pt x="11824" y="237724"/>
                  </a:cubicBezTo>
                  <a:lnTo>
                    <a:pt x="251066" y="11196"/>
                  </a:lnTo>
                  <a:cubicBezTo>
                    <a:pt x="258659" y="4007"/>
                    <a:pt x="268717" y="0"/>
                    <a:pt x="279173" y="0"/>
                  </a:cubicBezTo>
                  <a:lnTo>
                    <a:pt x="580617" y="0"/>
                  </a:lnTo>
                  <a:cubicBezTo>
                    <a:pt x="589610" y="0"/>
                    <a:pt x="596900" y="7290"/>
                    <a:pt x="596900" y="16283"/>
                  </a:cubicBezTo>
                  <a:close/>
                </a:path>
              </a:pathLst>
            </a:custGeom>
            <a:solidFill>
              <a:srgbClr val="014AAB">
                <a:alpha val="5882"/>
              </a:srgbClr>
            </a:solidFill>
          </p:spPr>
        </p:sp>
        <p:sp>
          <p:nvSpPr>
            <p:cNvPr name="TextBox 4" id="4"/>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5" id="5"/>
          <p:cNvGrpSpPr/>
          <p:nvPr/>
        </p:nvGrpSpPr>
        <p:grpSpPr>
          <a:xfrm rot="-10800000">
            <a:off x="16832257" y="4400004"/>
            <a:ext cx="3358368" cy="3144004"/>
            <a:chOff x="0" y="0"/>
            <a:chExt cx="596900" cy="558800"/>
          </a:xfrm>
        </p:grpSpPr>
        <p:sp>
          <p:nvSpPr>
            <p:cNvPr name="Freeform 6" id="6"/>
            <p:cNvSpPr/>
            <p:nvPr/>
          </p:nvSpPr>
          <p:spPr>
            <a:xfrm flipH="false" flipV="false" rot="0">
              <a:off x="0" y="0"/>
              <a:ext cx="596900" cy="558800"/>
            </a:xfrm>
            <a:custGeom>
              <a:avLst/>
              <a:gdLst/>
              <a:ahLst/>
              <a:cxnLst/>
              <a:rect r="r" b="b" t="t" l="l"/>
              <a:pathLst>
                <a:path h="558800" w="596900">
                  <a:moveTo>
                    <a:pt x="596900" y="27087"/>
                  </a:moveTo>
                  <a:lnTo>
                    <a:pt x="596900" y="277713"/>
                  </a:lnTo>
                  <a:cubicBezTo>
                    <a:pt x="596900" y="295010"/>
                    <a:pt x="589811" y="311552"/>
                    <a:pt x="577285" y="323481"/>
                  </a:cubicBezTo>
                  <a:lnTo>
                    <a:pt x="349815" y="540119"/>
                  </a:lnTo>
                  <a:cubicBezTo>
                    <a:pt x="337223" y="552111"/>
                    <a:pt x="320501" y="558800"/>
                    <a:pt x="303113" y="558800"/>
                  </a:cubicBezTo>
                  <a:lnTo>
                    <a:pt x="27087" y="558800"/>
                  </a:lnTo>
                  <a:cubicBezTo>
                    <a:pt x="12127" y="558800"/>
                    <a:pt x="0" y="546673"/>
                    <a:pt x="0" y="531713"/>
                  </a:cubicBezTo>
                  <a:lnTo>
                    <a:pt x="0" y="276007"/>
                  </a:lnTo>
                  <a:cubicBezTo>
                    <a:pt x="0" y="258715"/>
                    <a:pt x="7113" y="242185"/>
                    <a:pt x="19669" y="230296"/>
                  </a:cubicBezTo>
                  <a:lnTo>
                    <a:pt x="243221" y="18624"/>
                  </a:lnTo>
                  <a:cubicBezTo>
                    <a:pt x="255851" y="6665"/>
                    <a:pt x="272583" y="0"/>
                    <a:pt x="289977" y="0"/>
                  </a:cubicBezTo>
                  <a:lnTo>
                    <a:pt x="569813" y="0"/>
                  </a:lnTo>
                  <a:cubicBezTo>
                    <a:pt x="584773" y="0"/>
                    <a:pt x="596900" y="12127"/>
                    <a:pt x="596900" y="27087"/>
                  </a:cubicBezTo>
                  <a:close/>
                </a:path>
              </a:pathLst>
            </a:custGeom>
            <a:solidFill>
              <a:srgbClr val="014AAB">
                <a:alpha val="5882"/>
              </a:srgbClr>
            </a:solidFill>
          </p:spPr>
        </p:sp>
        <p:sp>
          <p:nvSpPr>
            <p:cNvPr name="TextBox 7" id="7"/>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8" id="8"/>
          <p:cNvGrpSpPr/>
          <p:nvPr/>
        </p:nvGrpSpPr>
        <p:grpSpPr>
          <a:xfrm rot="-5400000">
            <a:off x="-2264889" y="963796"/>
            <a:ext cx="4019894" cy="3763305"/>
            <a:chOff x="0" y="0"/>
            <a:chExt cx="596900" cy="558800"/>
          </a:xfrm>
        </p:grpSpPr>
        <p:sp>
          <p:nvSpPr>
            <p:cNvPr name="Freeform 9" id="9"/>
            <p:cNvSpPr/>
            <p:nvPr/>
          </p:nvSpPr>
          <p:spPr>
            <a:xfrm flipH="false" flipV="false" rot="0">
              <a:off x="0" y="0"/>
              <a:ext cx="596900" cy="558800"/>
            </a:xfrm>
            <a:custGeom>
              <a:avLst/>
              <a:gdLst/>
              <a:ahLst/>
              <a:cxnLst/>
              <a:rect r="r" b="b" t="t" l="l"/>
              <a:pathLst>
                <a:path h="558800" w="596900">
                  <a:moveTo>
                    <a:pt x="596900" y="22629"/>
                  </a:moveTo>
                  <a:lnTo>
                    <a:pt x="596900" y="282171"/>
                  </a:lnTo>
                  <a:cubicBezTo>
                    <a:pt x="596900" y="296621"/>
                    <a:pt x="590977" y="310440"/>
                    <a:pt x="580513" y="320406"/>
                  </a:cubicBezTo>
                  <a:lnTo>
                    <a:pt x="346587" y="543194"/>
                  </a:lnTo>
                  <a:cubicBezTo>
                    <a:pt x="336067" y="553212"/>
                    <a:pt x="322097" y="558800"/>
                    <a:pt x="307571" y="558800"/>
                  </a:cubicBezTo>
                  <a:lnTo>
                    <a:pt x="22629" y="558800"/>
                  </a:lnTo>
                  <a:cubicBezTo>
                    <a:pt x="10132" y="558800"/>
                    <a:pt x="0" y="548668"/>
                    <a:pt x="0" y="536171"/>
                  </a:cubicBezTo>
                  <a:lnTo>
                    <a:pt x="0" y="271549"/>
                  </a:lnTo>
                  <a:cubicBezTo>
                    <a:pt x="0" y="257103"/>
                    <a:pt x="5942" y="243294"/>
                    <a:pt x="16432" y="233361"/>
                  </a:cubicBezTo>
                  <a:lnTo>
                    <a:pt x="246458" y="15559"/>
                  </a:lnTo>
                  <a:cubicBezTo>
                    <a:pt x="257010" y="5568"/>
                    <a:pt x="270988" y="0"/>
                    <a:pt x="285519" y="0"/>
                  </a:cubicBezTo>
                  <a:lnTo>
                    <a:pt x="574271" y="0"/>
                  </a:lnTo>
                  <a:cubicBezTo>
                    <a:pt x="586768" y="0"/>
                    <a:pt x="596900" y="10132"/>
                    <a:pt x="596900" y="22629"/>
                  </a:cubicBezTo>
                  <a:close/>
                </a:path>
              </a:pathLst>
            </a:custGeom>
            <a:solidFill>
              <a:srgbClr val="014AAB">
                <a:alpha val="5882"/>
              </a:srgbClr>
            </a:solidFill>
          </p:spPr>
        </p:sp>
        <p:sp>
          <p:nvSpPr>
            <p:cNvPr name="TextBox 10" id="10"/>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1" id="11"/>
          <p:cNvGrpSpPr/>
          <p:nvPr/>
        </p:nvGrpSpPr>
        <p:grpSpPr>
          <a:xfrm rot="-5400000">
            <a:off x="-576648" y="4795540"/>
            <a:ext cx="13130564" cy="10724451"/>
            <a:chOff x="0" y="0"/>
            <a:chExt cx="684171" cy="558800"/>
          </a:xfrm>
        </p:grpSpPr>
        <p:sp>
          <p:nvSpPr>
            <p:cNvPr name="Freeform 12" id="12"/>
            <p:cNvSpPr/>
            <p:nvPr/>
          </p:nvSpPr>
          <p:spPr>
            <a:xfrm flipH="false" flipV="false" rot="0">
              <a:off x="0" y="0"/>
              <a:ext cx="684171" cy="558800"/>
            </a:xfrm>
            <a:custGeom>
              <a:avLst/>
              <a:gdLst/>
              <a:ahLst/>
              <a:cxnLst/>
              <a:rect r="r" b="b" t="t" l="l"/>
              <a:pathLst>
                <a:path h="558800" w="684171">
                  <a:moveTo>
                    <a:pt x="684171" y="31176"/>
                  </a:moveTo>
                  <a:lnTo>
                    <a:pt x="684171" y="273624"/>
                  </a:lnTo>
                  <a:cubicBezTo>
                    <a:pt x="684171" y="293375"/>
                    <a:pt x="675384" y="312102"/>
                    <a:pt x="660193" y="324724"/>
                  </a:cubicBezTo>
                  <a:lnTo>
                    <a:pt x="402456" y="538876"/>
                  </a:lnTo>
                  <a:cubicBezTo>
                    <a:pt x="386960" y="551752"/>
                    <a:pt x="367449" y="558800"/>
                    <a:pt x="347302" y="558800"/>
                  </a:cubicBezTo>
                  <a:lnTo>
                    <a:pt x="31176" y="558800"/>
                  </a:lnTo>
                  <a:cubicBezTo>
                    <a:pt x="13958" y="558800"/>
                    <a:pt x="0" y="544842"/>
                    <a:pt x="0" y="527624"/>
                  </a:cubicBezTo>
                  <a:lnTo>
                    <a:pt x="0" y="280096"/>
                  </a:lnTo>
                  <a:cubicBezTo>
                    <a:pt x="0" y="260352"/>
                    <a:pt x="8814" y="241639"/>
                    <a:pt x="24035" y="229065"/>
                  </a:cubicBezTo>
                  <a:lnTo>
                    <a:pt x="277291" y="19855"/>
                  </a:lnTo>
                  <a:cubicBezTo>
                    <a:pt x="292828" y="7021"/>
                    <a:pt x="312350" y="0"/>
                    <a:pt x="332502" y="0"/>
                  </a:cubicBezTo>
                  <a:lnTo>
                    <a:pt x="652995" y="0"/>
                  </a:lnTo>
                  <a:cubicBezTo>
                    <a:pt x="670213" y="0"/>
                    <a:pt x="684171" y="13958"/>
                    <a:pt x="684171" y="31176"/>
                  </a:cubicBezTo>
                  <a:close/>
                </a:path>
              </a:pathLst>
            </a:custGeom>
            <a:solidFill>
              <a:srgbClr val="014AAB"/>
            </a:solidFill>
          </p:spPr>
        </p:sp>
        <p:sp>
          <p:nvSpPr>
            <p:cNvPr name="TextBox 13" id="13"/>
            <p:cNvSpPr txBox="true"/>
            <p:nvPr/>
          </p:nvSpPr>
          <p:spPr>
            <a:xfrm>
              <a:off x="116455" y="76200"/>
              <a:ext cx="451262" cy="350520"/>
            </a:xfrm>
            <a:prstGeom prst="rect">
              <a:avLst/>
            </a:prstGeom>
          </p:spPr>
          <p:txBody>
            <a:bodyPr anchor="ctr" rtlCol="false" tIns="50800" lIns="50800" bIns="50800" rIns="50800"/>
            <a:lstStyle/>
            <a:p>
              <a:pPr algn="ctr" marL="0" indent="0" lvl="0">
                <a:lnSpc>
                  <a:spcPts val="3220"/>
                </a:lnSpc>
              </a:pPr>
            </a:p>
          </p:txBody>
        </p:sp>
      </p:grpSp>
      <p:grpSp>
        <p:nvGrpSpPr>
          <p:cNvPr name="Group 14" id="14"/>
          <p:cNvGrpSpPr/>
          <p:nvPr/>
        </p:nvGrpSpPr>
        <p:grpSpPr>
          <a:xfrm rot="0">
            <a:off x="2169636" y="5267384"/>
            <a:ext cx="16118364" cy="3990916"/>
            <a:chOff x="0" y="0"/>
            <a:chExt cx="4245166" cy="1051105"/>
          </a:xfrm>
        </p:grpSpPr>
        <p:sp>
          <p:nvSpPr>
            <p:cNvPr name="Freeform 15" id="15"/>
            <p:cNvSpPr/>
            <p:nvPr/>
          </p:nvSpPr>
          <p:spPr>
            <a:xfrm flipH="false" flipV="false" rot="0">
              <a:off x="0" y="0"/>
              <a:ext cx="4245166" cy="1051105"/>
            </a:xfrm>
            <a:custGeom>
              <a:avLst/>
              <a:gdLst/>
              <a:ahLst/>
              <a:cxnLst/>
              <a:rect r="r" b="b" t="t" l="l"/>
              <a:pathLst>
                <a:path h="1051105" w="4245166">
                  <a:moveTo>
                    <a:pt x="25457" y="0"/>
                  </a:moveTo>
                  <a:lnTo>
                    <a:pt x="4219709" y="0"/>
                  </a:lnTo>
                  <a:cubicBezTo>
                    <a:pt x="4233768" y="0"/>
                    <a:pt x="4245166" y="11397"/>
                    <a:pt x="4245166" y="25457"/>
                  </a:cubicBezTo>
                  <a:lnTo>
                    <a:pt x="4245166" y="1025649"/>
                  </a:lnTo>
                  <a:cubicBezTo>
                    <a:pt x="4245166" y="1039708"/>
                    <a:pt x="4233768" y="1051105"/>
                    <a:pt x="4219709" y="1051105"/>
                  </a:cubicBezTo>
                  <a:lnTo>
                    <a:pt x="25457" y="1051105"/>
                  </a:lnTo>
                  <a:cubicBezTo>
                    <a:pt x="11397" y="1051105"/>
                    <a:pt x="0" y="1039708"/>
                    <a:pt x="0" y="1025649"/>
                  </a:cubicBezTo>
                  <a:lnTo>
                    <a:pt x="0" y="25457"/>
                  </a:lnTo>
                  <a:cubicBezTo>
                    <a:pt x="0" y="11397"/>
                    <a:pt x="11397" y="0"/>
                    <a:pt x="25457" y="0"/>
                  </a:cubicBezTo>
                  <a:close/>
                </a:path>
              </a:pathLst>
            </a:custGeom>
            <a:solidFill>
              <a:srgbClr val="FFFFFF"/>
            </a:solidFill>
          </p:spPr>
        </p:sp>
        <p:sp>
          <p:nvSpPr>
            <p:cNvPr name="TextBox 16" id="16"/>
            <p:cNvSpPr txBox="true"/>
            <p:nvPr/>
          </p:nvSpPr>
          <p:spPr>
            <a:xfrm>
              <a:off x="0" y="-57150"/>
              <a:ext cx="4245166" cy="1108255"/>
            </a:xfrm>
            <a:prstGeom prst="rect">
              <a:avLst/>
            </a:prstGeom>
          </p:spPr>
          <p:txBody>
            <a:bodyPr anchor="ctr" rtlCol="false" tIns="50800" lIns="50800" bIns="50800" rIns="50800"/>
            <a:lstStyle/>
            <a:p>
              <a:pPr algn="ctr" marL="0" indent="0" lvl="0">
                <a:lnSpc>
                  <a:spcPts val="3220"/>
                </a:lnSpc>
              </a:pPr>
            </a:p>
          </p:txBody>
        </p:sp>
      </p:grpSp>
      <p:grpSp>
        <p:nvGrpSpPr>
          <p:cNvPr name="Group 17" id="17"/>
          <p:cNvGrpSpPr/>
          <p:nvPr/>
        </p:nvGrpSpPr>
        <p:grpSpPr>
          <a:xfrm rot="0">
            <a:off x="7951248" y="4560247"/>
            <a:ext cx="3652079" cy="1414274"/>
            <a:chOff x="0" y="0"/>
            <a:chExt cx="961864" cy="372484"/>
          </a:xfrm>
        </p:grpSpPr>
        <p:sp>
          <p:nvSpPr>
            <p:cNvPr name="Freeform 18" id="18"/>
            <p:cNvSpPr/>
            <p:nvPr/>
          </p:nvSpPr>
          <p:spPr>
            <a:xfrm flipH="false" flipV="false" rot="0">
              <a:off x="0" y="0"/>
              <a:ext cx="961864" cy="372484"/>
            </a:xfrm>
            <a:custGeom>
              <a:avLst/>
              <a:gdLst/>
              <a:ahLst/>
              <a:cxnLst/>
              <a:rect r="r" b="b" t="t" l="l"/>
              <a:pathLst>
                <a:path h="372484" w="961864">
                  <a:moveTo>
                    <a:pt x="186242" y="0"/>
                  </a:moveTo>
                  <a:lnTo>
                    <a:pt x="775622" y="0"/>
                  </a:lnTo>
                  <a:cubicBezTo>
                    <a:pt x="878481" y="0"/>
                    <a:pt x="961864" y="83383"/>
                    <a:pt x="961864" y="186242"/>
                  </a:cubicBezTo>
                  <a:lnTo>
                    <a:pt x="961864" y="186242"/>
                  </a:lnTo>
                  <a:cubicBezTo>
                    <a:pt x="961864" y="235636"/>
                    <a:pt x="942242" y="283008"/>
                    <a:pt x="907315" y="317935"/>
                  </a:cubicBezTo>
                  <a:cubicBezTo>
                    <a:pt x="872388" y="352862"/>
                    <a:pt x="825017" y="372484"/>
                    <a:pt x="775622" y="372484"/>
                  </a:cubicBezTo>
                  <a:lnTo>
                    <a:pt x="186242" y="372484"/>
                  </a:lnTo>
                  <a:cubicBezTo>
                    <a:pt x="136847" y="372484"/>
                    <a:pt x="89476" y="352862"/>
                    <a:pt x="54549" y="317935"/>
                  </a:cubicBezTo>
                  <a:cubicBezTo>
                    <a:pt x="19622" y="283008"/>
                    <a:pt x="0" y="235636"/>
                    <a:pt x="0" y="186242"/>
                  </a:cubicBezTo>
                  <a:lnTo>
                    <a:pt x="0" y="186242"/>
                  </a:lnTo>
                  <a:cubicBezTo>
                    <a:pt x="0" y="136847"/>
                    <a:pt x="19622" y="89476"/>
                    <a:pt x="54549" y="54549"/>
                  </a:cubicBezTo>
                  <a:cubicBezTo>
                    <a:pt x="89476" y="19622"/>
                    <a:pt x="136847" y="0"/>
                    <a:pt x="186242" y="0"/>
                  </a:cubicBezTo>
                  <a:close/>
                </a:path>
              </a:pathLst>
            </a:custGeom>
            <a:solidFill>
              <a:srgbClr val="FFFFFF"/>
            </a:solidFill>
            <a:ln w="38100" cap="rnd">
              <a:solidFill>
                <a:srgbClr val="014AAB"/>
              </a:solidFill>
              <a:prstDash val="solid"/>
              <a:round/>
            </a:ln>
          </p:spPr>
        </p:sp>
        <p:sp>
          <p:nvSpPr>
            <p:cNvPr name="TextBox 19" id="19"/>
            <p:cNvSpPr txBox="true"/>
            <p:nvPr/>
          </p:nvSpPr>
          <p:spPr>
            <a:xfrm>
              <a:off x="0" y="-57150"/>
              <a:ext cx="961864" cy="429634"/>
            </a:xfrm>
            <a:prstGeom prst="rect">
              <a:avLst/>
            </a:prstGeom>
          </p:spPr>
          <p:txBody>
            <a:bodyPr anchor="ctr" rtlCol="false" tIns="50800" lIns="50800" bIns="50800" rIns="50800"/>
            <a:lstStyle/>
            <a:p>
              <a:pPr algn="ctr" marL="0" indent="0" lvl="0">
                <a:lnSpc>
                  <a:spcPts val="3220"/>
                </a:lnSpc>
              </a:pPr>
            </a:p>
          </p:txBody>
        </p:sp>
      </p:grpSp>
      <p:grpSp>
        <p:nvGrpSpPr>
          <p:cNvPr name="Group 20" id="20"/>
          <p:cNvGrpSpPr/>
          <p:nvPr/>
        </p:nvGrpSpPr>
        <p:grpSpPr>
          <a:xfrm rot="0">
            <a:off x="2703972" y="4560247"/>
            <a:ext cx="3503849" cy="1414274"/>
            <a:chOff x="0" y="0"/>
            <a:chExt cx="922825" cy="372484"/>
          </a:xfrm>
        </p:grpSpPr>
        <p:sp>
          <p:nvSpPr>
            <p:cNvPr name="Freeform 21" id="21"/>
            <p:cNvSpPr/>
            <p:nvPr/>
          </p:nvSpPr>
          <p:spPr>
            <a:xfrm flipH="false" flipV="false" rot="0">
              <a:off x="0" y="0"/>
              <a:ext cx="922824" cy="372484"/>
            </a:xfrm>
            <a:custGeom>
              <a:avLst/>
              <a:gdLst/>
              <a:ahLst/>
              <a:cxnLst/>
              <a:rect r="r" b="b" t="t" l="l"/>
              <a:pathLst>
                <a:path h="372484" w="922824">
                  <a:moveTo>
                    <a:pt x="186242" y="0"/>
                  </a:moveTo>
                  <a:lnTo>
                    <a:pt x="736583" y="0"/>
                  </a:lnTo>
                  <a:cubicBezTo>
                    <a:pt x="785977" y="0"/>
                    <a:pt x="833348" y="19622"/>
                    <a:pt x="868275" y="54549"/>
                  </a:cubicBezTo>
                  <a:cubicBezTo>
                    <a:pt x="903203" y="89476"/>
                    <a:pt x="922824" y="136847"/>
                    <a:pt x="922824" y="186242"/>
                  </a:cubicBezTo>
                  <a:lnTo>
                    <a:pt x="922824" y="186242"/>
                  </a:lnTo>
                  <a:cubicBezTo>
                    <a:pt x="922824" y="235636"/>
                    <a:pt x="903203" y="283008"/>
                    <a:pt x="868275" y="317935"/>
                  </a:cubicBezTo>
                  <a:cubicBezTo>
                    <a:pt x="833348" y="352862"/>
                    <a:pt x="785977" y="372484"/>
                    <a:pt x="736583" y="372484"/>
                  </a:cubicBezTo>
                  <a:lnTo>
                    <a:pt x="186242" y="372484"/>
                  </a:lnTo>
                  <a:cubicBezTo>
                    <a:pt x="136847" y="372484"/>
                    <a:pt x="89476" y="352862"/>
                    <a:pt x="54549" y="317935"/>
                  </a:cubicBezTo>
                  <a:cubicBezTo>
                    <a:pt x="19622" y="283008"/>
                    <a:pt x="0" y="235636"/>
                    <a:pt x="0" y="186242"/>
                  </a:cubicBezTo>
                  <a:lnTo>
                    <a:pt x="0" y="186242"/>
                  </a:lnTo>
                  <a:cubicBezTo>
                    <a:pt x="0" y="136847"/>
                    <a:pt x="19622" y="89476"/>
                    <a:pt x="54549" y="54549"/>
                  </a:cubicBezTo>
                  <a:cubicBezTo>
                    <a:pt x="89476" y="19622"/>
                    <a:pt x="136847" y="0"/>
                    <a:pt x="186242" y="0"/>
                  </a:cubicBezTo>
                  <a:close/>
                </a:path>
              </a:pathLst>
            </a:custGeom>
            <a:solidFill>
              <a:srgbClr val="FFFFFF"/>
            </a:solidFill>
            <a:ln w="38100" cap="rnd">
              <a:solidFill>
                <a:srgbClr val="8DABD2"/>
              </a:solidFill>
              <a:prstDash val="solid"/>
              <a:round/>
            </a:ln>
          </p:spPr>
        </p:sp>
        <p:sp>
          <p:nvSpPr>
            <p:cNvPr name="TextBox 22" id="22"/>
            <p:cNvSpPr txBox="true"/>
            <p:nvPr/>
          </p:nvSpPr>
          <p:spPr>
            <a:xfrm>
              <a:off x="0" y="-57150"/>
              <a:ext cx="922825" cy="429634"/>
            </a:xfrm>
            <a:prstGeom prst="rect">
              <a:avLst/>
            </a:prstGeom>
          </p:spPr>
          <p:txBody>
            <a:bodyPr anchor="ctr" rtlCol="false" tIns="50800" lIns="50800" bIns="50800" rIns="50800"/>
            <a:lstStyle/>
            <a:p>
              <a:pPr algn="ctr" marL="0" indent="0" lvl="0">
                <a:lnSpc>
                  <a:spcPts val="3220"/>
                </a:lnSpc>
              </a:pPr>
            </a:p>
          </p:txBody>
        </p:sp>
      </p:grpSp>
      <p:sp>
        <p:nvSpPr>
          <p:cNvPr name="AutoShape 23" id="23"/>
          <p:cNvSpPr/>
          <p:nvPr/>
        </p:nvSpPr>
        <p:spPr>
          <a:xfrm flipV="true">
            <a:off x="7951248" y="3573434"/>
            <a:ext cx="12134633" cy="0"/>
          </a:xfrm>
          <a:prstGeom prst="line">
            <a:avLst/>
          </a:prstGeom>
          <a:ln cap="rnd" w="38100">
            <a:solidFill>
              <a:srgbClr val="014AAB"/>
            </a:solidFill>
            <a:prstDash val="solid"/>
            <a:headEnd type="none" len="sm" w="sm"/>
            <a:tailEnd type="none" len="sm" w="sm"/>
          </a:ln>
        </p:spPr>
      </p:sp>
      <p:grpSp>
        <p:nvGrpSpPr>
          <p:cNvPr name="Group 24" id="24"/>
          <p:cNvGrpSpPr/>
          <p:nvPr/>
        </p:nvGrpSpPr>
        <p:grpSpPr>
          <a:xfrm rot="0">
            <a:off x="14546107" y="9258300"/>
            <a:ext cx="3741893" cy="3503048"/>
            <a:chOff x="0" y="0"/>
            <a:chExt cx="596900" cy="558800"/>
          </a:xfrm>
        </p:grpSpPr>
        <p:sp>
          <p:nvSpPr>
            <p:cNvPr name="Freeform 25" id="25"/>
            <p:cNvSpPr/>
            <p:nvPr/>
          </p:nvSpPr>
          <p:spPr>
            <a:xfrm flipH="false" flipV="false" rot="0">
              <a:off x="0" y="0"/>
              <a:ext cx="596900" cy="558800"/>
            </a:xfrm>
            <a:custGeom>
              <a:avLst/>
              <a:gdLst/>
              <a:ahLst/>
              <a:cxnLst/>
              <a:rect r="r" b="b" t="t" l="l"/>
              <a:pathLst>
                <a:path h="558800" w="596900">
                  <a:moveTo>
                    <a:pt x="596900" y="24311"/>
                  </a:moveTo>
                  <a:lnTo>
                    <a:pt x="596900" y="280489"/>
                  </a:lnTo>
                  <a:cubicBezTo>
                    <a:pt x="596900" y="296014"/>
                    <a:pt x="590538" y="310860"/>
                    <a:pt x="579296" y="321566"/>
                  </a:cubicBezTo>
                  <a:lnTo>
                    <a:pt x="347804" y="542034"/>
                  </a:lnTo>
                  <a:cubicBezTo>
                    <a:pt x="336503" y="552797"/>
                    <a:pt x="321495" y="558800"/>
                    <a:pt x="305889" y="558800"/>
                  </a:cubicBezTo>
                  <a:lnTo>
                    <a:pt x="24311" y="558800"/>
                  </a:lnTo>
                  <a:cubicBezTo>
                    <a:pt x="10884" y="558800"/>
                    <a:pt x="0" y="547916"/>
                    <a:pt x="0" y="534489"/>
                  </a:cubicBezTo>
                  <a:lnTo>
                    <a:pt x="0" y="273231"/>
                  </a:lnTo>
                  <a:cubicBezTo>
                    <a:pt x="0" y="257711"/>
                    <a:pt x="6384" y="242875"/>
                    <a:pt x="17653" y="232205"/>
                  </a:cubicBezTo>
                  <a:lnTo>
                    <a:pt x="245237" y="16715"/>
                  </a:lnTo>
                  <a:cubicBezTo>
                    <a:pt x="256573" y="5982"/>
                    <a:pt x="271590" y="0"/>
                    <a:pt x="287201" y="0"/>
                  </a:cubicBezTo>
                  <a:lnTo>
                    <a:pt x="572589" y="0"/>
                  </a:lnTo>
                  <a:cubicBezTo>
                    <a:pt x="586016" y="0"/>
                    <a:pt x="596900" y="10884"/>
                    <a:pt x="596900" y="24311"/>
                  </a:cubicBezTo>
                  <a:close/>
                </a:path>
              </a:pathLst>
            </a:custGeom>
            <a:solidFill>
              <a:srgbClr val="8DABD2"/>
            </a:solidFill>
          </p:spPr>
        </p:sp>
        <p:sp>
          <p:nvSpPr>
            <p:cNvPr name="TextBox 26" id="26"/>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sp>
        <p:nvSpPr>
          <p:cNvPr name="Freeform 27" id="27"/>
          <p:cNvSpPr/>
          <p:nvPr/>
        </p:nvSpPr>
        <p:spPr>
          <a:xfrm flipH="false" flipV="false" rot="0">
            <a:off x="13409067" y="9878329"/>
            <a:ext cx="1211471" cy="200443"/>
          </a:xfrm>
          <a:custGeom>
            <a:avLst/>
            <a:gdLst/>
            <a:ahLst/>
            <a:cxnLst/>
            <a:rect r="r" b="b" t="t" l="l"/>
            <a:pathLst>
              <a:path h="200443" w="1211471">
                <a:moveTo>
                  <a:pt x="0" y="0"/>
                </a:moveTo>
                <a:lnTo>
                  <a:pt x="1211472" y="0"/>
                </a:lnTo>
                <a:lnTo>
                  <a:pt x="1211472" y="200444"/>
                </a:lnTo>
                <a:lnTo>
                  <a:pt x="0" y="2004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8" id="28"/>
          <p:cNvGrpSpPr/>
          <p:nvPr/>
        </p:nvGrpSpPr>
        <p:grpSpPr>
          <a:xfrm rot="-10800000">
            <a:off x="-94366" y="-3002706"/>
            <a:ext cx="4863131" cy="4552719"/>
            <a:chOff x="0" y="0"/>
            <a:chExt cx="596900" cy="558800"/>
          </a:xfrm>
        </p:grpSpPr>
        <p:sp>
          <p:nvSpPr>
            <p:cNvPr name="Freeform 29" id="29"/>
            <p:cNvSpPr/>
            <p:nvPr/>
          </p:nvSpPr>
          <p:spPr>
            <a:xfrm flipH="false" flipV="false" rot="0">
              <a:off x="0" y="0"/>
              <a:ext cx="596900" cy="558800"/>
            </a:xfrm>
            <a:custGeom>
              <a:avLst/>
              <a:gdLst/>
              <a:ahLst/>
              <a:cxnLst/>
              <a:rect r="r" b="b" t="t" l="l"/>
              <a:pathLst>
                <a:path h="558800" w="596900">
                  <a:moveTo>
                    <a:pt x="596900" y="18706"/>
                  </a:moveTo>
                  <a:lnTo>
                    <a:pt x="596900" y="286094"/>
                  </a:lnTo>
                  <a:cubicBezTo>
                    <a:pt x="596900" y="298039"/>
                    <a:pt x="592004" y="309462"/>
                    <a:pt x="583355" y="317700"/>
                  </a:cubicBezTo>
                  <a:lnTo>
                    <a:pt x="343745" y="545900"/>
                  </a:lnTo>
                  <a:cubicBezTo>
                    <a:pt x="335050" y="554181"/>
                    <a:pt x="323502" y="558800"/>
                    <a:pt x="311494" y="558800"/>
                  </a:cubicBezTo>
                  <a:lnTo>
                    <a:pt x="18706" y="558800"/>
                  </a:lnTo>
                  <a:cubicBezTo>
                    <a:pt x="13745" y="558800"/>
                    <a:pt x="8987" y="556829"/>
                    <a:pt x="5479" y="553321"/>
                  </a:cubicBezTo>
                  <a:cubicBezTo>
                    <a:pt x="1971" y="549813"/>
                    <a:pt x="0" y="545055"/>
                    <a:pt x="0" y="540094"/>
                  </a:cubicBezTo>
                  <a:lnTo>
                    <a:pt x="0" y="267626"/>
                  </a:lnTo>
                  <a:cubicBezTo>
                    <a:pt x="0" y="255684"/>
                    <a:pt x="4912" y="244269"/>
                    <a:pt x="13583" y="236059"/>
                  </a:cubicBezTo>
                  <a:lnTo>
                    <a:pt x="249307" y="12861"/>
                  </a:lnTo>
                  <a:cubicBezTo>
                    <a:pt x="258029" y="4603"/>
                    <a:pt x="269584" y="0"/>
                    <a:pt x="281596" y="0"/>
                  </a:cubicBezTo>
                  <a:lnTo>
                    <a:pt x="578194" y="0"/>
                  </a:lnTo>
                  <a:cubicBezTo>
                    <a:pt x="583155" y="0"/>
                    <a:pt x="587913" y="1971"/>
                    <a:pt x="591421" y="5479"/>
                  </a:cubicBezTo>
                  <a:cubicBezTo>
                    <a:pt x="594929" y="8987"/>
                    <a:pt x="596900" y="13745"/>
                    <a:pt x="596900" y="18706"/>
                  </a:cubicBezTo>
                  <a:close/>
                </a:path>
              </a:pathLst>
            </a:custGeom>
            <a:ln w="85725" cap="sq">
              <a:solidFill>
                <a:srgbClr val="014AAB"/>
              </a:solidFill>
              <a:prstDash val="solid"/>
              <a:miter/>
            </a:ln>
          </p:spPr>
        </p:sp>
        <p:sp>
          <p:nvSpPr>
            <p:cNvPr name="TextBox 30" id="30"/>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31" id="31"/>
          <p:cNvGrpSpPr/>
          <p:nvPr/>
        </p:nvGrpSpPr>
        <p:grpSpPr>
          <a:xfrm rot="-10800000">
            <a:off x="0" y="-2263430"/>
            <a:ext cx="4073450" cy="3813443"/>
            <a:chOff x="0" y="0"/>
            <a:chExt cx="596900" cy="558800"/>
          </a:xfrm>
        </p:grpSpPr>
        <p:sp>
          <p:nvSpPr>
            <p:cNvPr name="Freeform 32" id="32"/>
            <p:cNvSpPr/>
            <p:nvPr/>
          </p:nvSpPr>
          <p:spPr>
            <a:xfrm flipH="false" flipV="false" rot="0">
              <a:off x="0" y="0"/>
              <a:ext cx="596900" cy="558800"/>
            </a:xfrm>
            <a:custGeom>
              <a:avLst/>
              <a:gdLst/>
              <a:ahLst/>
              <a:cxnLst/>
              <a:rect r="r" b="b" t="t" l="l"/>
              <a:pathLst>
                <a:path h="558800" w="596900">
                  <a:moveTo>
                    <a:pt x="596900" y="22332"/>
                  </a:moveTo>
                  <a:lnTo>
                    <a:pt x="596900" y="282468"/>
                  </a:lnTo>
                  <a:cubicBezTo>
                    <a:pt x="596900" y="296729"/>
                    <a:pt x="591055" y="310366"/>
                    <a:pt x="580729" y="320201"/>
                  </a:cubicBezTo>
                  <a:lnTo>
                    <a:pt x="346371" y="543399"/>
                  </a:lnTo>
                  <a:cubicBezTo>
                    <a:pt x="335990" y="553285"/>
                    <a:pt x="322204" y="558800"/>
                    <a:pt x="307868" y="558800"/>
                  </a:cubicBezTo>
                  <a:lnTo>
                    <a:pt x="22332" y="558800"/>
                  </a:lnTo>
                  <a:cubicBezTo>
                    <a:pt x="16409" y="558800"/>
                    <a:pt x="10729" y="556447"/>
                    <a:pt x="6541" y="552259"/>
                  </a:cubicBezTo>
                  <a:cubicBezTo>
                    <a:pt x="2353" y="548071"/>
                    <a:pt x="0" y="542391"/>
                    <a:pt x="0" y="536468"/>
                  </a:cubicBezTo>
                  <a:lnTo>
                    <a:pt x="0" y="271252"/>
                  </a:lnTo>
                  <a:cubicBezTo>
                    <a:pt x="0" y="256996"/>
                    <a:pt x="5864" y="243367"/>
                    <a:pt x="16216" y="233566"/>
                  </a:cubicBezTo>
                  <a:lnTo>
                    <a:pt x="246674" y="15354"/>
                  </a:lnTo>
                  <a:cubicBezTo>
                    <a:pt x="257087" y="5495"/>
                    <a:pt x="270882" y="0"/>
                    <a:pt x="285222" y="0"/>
                  </a:cubicBezTo>
                  <a:lnTo>
                    <a:pt x="574568" y="0"/>
                  </a:lnTo>
                  <a:cubicBezTo>
                    <a:pt x="580491" y="0"/>
                    <a:pt x="586171" y="2353"/>
                    <a:pt x="590359" y="6541"/>
                  </a:cubicBezTo>
                  <a:cubicBezTo>
                    <a:pt x="594547" y="10729"/>
                    <a:pt x="596900" y="16409"/>
                    <a:pt x="596900" y="22332"/>
                  </a:cubicBezTo>
                  <a:close/>
                </a:path>
              </a:pathLst>
            </a:custGeom>
            <a:solidFill>
              <a:srgbClr val="8DABD2"/>
            </a:solidFill>
          </p:spPr>
        </p:sp>
        <p:sp>
          <p:nvSpPr>
            <p:cNvPr name="TextBox 33" id="33"/>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34" id="34"/>
          <p:cNvGrpSpPr/>
          <p:nvPr/>
        </p:nvGrpSpPr>
        <p:grpSpPr>
          <a:xfrm rot="0">
            <a:off x="-1338322" y="845118"/>
            <a:ext cx="4235564" cy="935169"/>
            <a:chOff x="0" y="0"/>
            <a:chExt cx="1115539" cy="246300"/>
          </a:xfrm>
        </p:grpSpPr>
        <p:sp>
          <p:nvSpPr>
            <p:cNvPr name="Freeform 35" id="35"/>
            <p:cNvSpPr/>
            <p:nvPr/>
          </p:nvSpPr>
          <p:spPr>
            <a:xfrm flipH="false" flipV="false" rot="0">
              <a:off x="0" y="0"/>
              <a:ext cx="1115539" cy="246300"/>
            </a:xfrm>
            <a:custGeom>
              <a:avLst/>
              <a:gdLst/>
              <a:ahLst/>
              <a:cxnLst/>
              <a:rect r="r" b="b" t="t" l="l"/>
              <a:pathLst>
                <a:path h="246300" w="1115539">
                  <a:moveTo>
                    <a:pt x="63974" y="0"/>
                  </a:moveTo>
                  <a:lnTo>
                    <a:pt x="1051565" y="0"/>
                  </a:lnTo>
                  <a:cubicBezTo>
                    <a:pt x="1086897" y="0"/>
                    <a:pt x="1115539" y="28642"/>
                    <a:pt x="1115539" y="63974"/>
                  </a:cubicBezTo>
                  <a:lnTo>
                    <a:pt x="1115539" y="182325"/>
                  </a:lnTo>
                  <a:cubicBezTo>
                    <a:pt x="1115539" y="217657"/>
                    <a:pt x="1086897" y="246300"/>
                    <a:pt x="1051565" y="246300"/>
                  </a:cubicBezTo>
                  <a:lnTo>
                    <a:pt x="63974" y="246300"/>
                  </a:lnTo>
                  <a:cubicBezTo>
                    <a:pt x="28642" y="246300"/>
                    <a:pt x="0" y="217657"/>
                    <a:pt x="0" y="182325"/>
                  </a:cubicBezTo>
                  <a:lnTo>
                    <a:pt x="0" y="63974"/>
                  </a:lnTo>
                  <a:cubicBezTo>
                    <a:pt x="0" y="28642"/>
                    <a:pt x="28642" y="0"/>
                    <a:pt x="63974" y="0"/>
                  </a:cubicBezTo>
                  <a:close/>
                </a:path>
              </a:pathLst>
            </a:custGeom>
            <a:solidFill>
              <a:srgbClr val="FFFFFF"/>
            </a:solidFill>
          </p:spPr>
        </p:sp>
        <p:sp>
          <p:nvSpPr>
            <p:cNvPr name="TextBox 36" id="36"/>
            <p:cNvSpPr txBox="true"/>
            <p:nvPr/>
          </p:nvSpPr>
          <p:spPr>
            <a:xfrm>
              <a:off x="0" y="-57150"/>
              <a:ext cx="1115539" cy="303450"/>
            </a:xfrm>
            <a:prstGeom prst="rect">
              <a:avLst/>
            </a:prstGeom>
          </p:spPr>
          <p:txBody>
            <a:bodyPr anchor="ctr" rtlCol="false" tIns="50800" lIns="50800" bIns="50800" rIns="50800"/>
            <a:lstStyle/>
            <a:p>
              <a:pPr algn="ctr" marL="0" indent="0" lvl="0">
                <a:lnSpc>
                  <a:spcPts val="3220"/>
                </a:lnSpc>
              </a:pPr>
            </a:p>
          </p:txBody>
        </p:sp>
      </p:grpSp>
      <p:sp>
        <p:nvSpPr>
          <p:cNvPr name="Freeform 37" id="37"/>
          <p:cNvSpPr/>
          <p:nvPr/>
        </p:nvSpPr>
        <p:spPr>
          <a:xfrm flipH="false" flipV="false" rot="0">
            <a:off x="568565" y="1680065"/>
            <a:ext cx="1211471" cy="200443"/>
          </a:xfrm>
          <a:custGeom>
            <a:avLst/>
            <a:gdLst/>
            <a:ahLst/>
            <a:cxnLst/>
            <a:rect r="r" b="b" t="t" l="l"/>
            <a:pathLst>
              <a:path h="200443" w="1211471">
                <a:moveTo>
                  <a:pt x="0" y="0"/>
                </a:moveTo>
                <a:lnTo>
                  <a:pt x="1211471" y="0"/>
                </a:lnTo>
                <a:lnTo>
                  <a:pt x="1211471" y="200444"/>
                </a:lnTo>
                <a:lnTo>
                  <a:pt x="0" y="2004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8" id="38"/>
          <p:cNvSpPr/>
          <p:nvPr/>
        </p:nvSpPr>
        <p:spPr>
          <a:xfrm flipH="true" flipV="true" rot="0">
            <a:off x="1912" y="9067948"/>
            <a:ext cx="1248992" cy="1235367"/>
          </a:xfrm>
          <a:custGeom>
            <a:avLst/>
            <a:gdLst/>
            <a:ahLst/>
            <a:cxnLst/>
            <a:rect r="r" b="b" t="t" l="l"/>
            <a:pathLst>
              <a:path h="1235367" w="1248992">
                <a:moveTo>
                  <a:pt x="1248992" y="1235367"/>
                </a:moveTo>
                <a:lnTo>
                  <a:pt x="0" y="1235367"/>
                </a:lnTo>
                <a:lnTo>
                  <a:pt x="0" y="0"/>
                </a:lnTo>
                <a:lnTo>
                  <a:pt x="1248992" y="0"/>
                </a:lnTo>
                <a:lnTo>
                  <a:pt x="1248992" y="1235367"/>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9" id="39"/>
          <p:cNvSpPr/>
          <p:nvPr/>
        </p:nvSpPr>
        <p:spPr>
          <a:xfrm flipH="false" flipV="false" rot="0">
            <a:off x="16130060" y="845118"/>
            <a:ext cx="1370117" cy="1355170"/>
          </a:xfrm>
          <a:custGeom>
            <a:avLst/>
            <a:gdLst/>
            <a:ahLst/>
            <a:cxnLst/>
            <a:rect r="r" b="b" t="t" l="l"/>
            <a:pathLst>
              <a:path h="1355170" w="1370117">
                <a:moveTo>
                  <a:pt x="0" y="0"/>
                </a:moveTo>
                <a:lnTo>
                  <a:pt x="1370117" y="0"/>
                </a:lnTo>
                <a:lnTo>
                  <a:pt x="1370117" y="1355171"/>
                </a:lnTo>
                <a:lnTo>
                  <a:pt x="0" y="135517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40" id="40"/>
          <p:cNvSpPr txBox="true"/>
          <p:nvPr/>
        </p:nvSpPr>
        <p:spPr>
          <a:xfrm rot="0">
            <a:off x="3031672" y="560468"/>
            <a:ext cx="12224655" cy="1593741"/>
          </a:xfrm>
          <a:prstGeom prst="rect">
            <a:avLst/>
          </a:prstGeom>
        </p:spPr>
        <p:txBody>
          <a:bodyPr anchor="t" rtlCol="false" tIns="0" lIns="0" bIns="0" rIns="0">
            <a:spAutoFit/>
          </a:bodyPr>
          <a:lstStyle/>
          <a:p>
            <a:pPr algn="ctr" marL="0" indent="0" lvl="0">
              <a:lnSpc>
                <a:spcPts val="6120"/>
              </a:lnSpc>
            </a:pPr>
            <a:r>
              <a:rPr lang="en-US" b="true" sz="6120" spc="122">
                <a:solidFill>
                  <a:srgbClr val="011A3C"/>
                </a:solidFill>
                <a:latin typeface="Gotham Bold"/>
                <a:ea typeface="Gotham Bold"/>
                <a:cs typeface="Gotham Bold"/>
                <a:sym typeface="Gotham Bold"/>
              </a:rPr>
              <a:t>Ecosi</a:t>
            </a:r>
            <a:r>
              <a:rPr lang="en-US" b="true" sz="6120" spc="122">
                <a:solidFill>
                  <a:srgbClr val="011A3C"/>
                </a:solidFill>
                <a:latin typeface="Gotham Bold"/>
                <a:ea typeface="Gotham Bold"/>
                <a:cs typeface="Gotham Bold"/>
                <a:sym typeface="Gotham Bold"/>
              </a:rPr>
              <a:t>stema de Software: Aplicación PachaTech</a:t>
            </a:r>
          </a:p>
        </p:txBody>
      </p:sp>
      <p:sp>
        <p:nvSpPr>
          <p:cNvPr name="TextBox 41" id="41"/>
          <p:cNvSpPr txBox="true"/>
          <p:nvPr/>
        </p:nvSpPr>
        <p:spPr>
          <a:xfrm rot="0">
            <a:off x="3211026" y="4777775"/>
            <a:ext cx="3723907" cy="931593"/>
          </a:xfrm>
          <a:prstGeom prst="rect">
            <a:avLst/>
          </a:prstGeom>
        </p:spPr>
        <p:txBody>
          <a:bodyPr anchor="t" rtlCol="false" tIns="0" lIns="0" bIns="0" rIns="0">
            <a:spAutoFit/>
          </a:bodyPr>
          <a:lstStyle/>
          <a:p>
            <a:pPr algn="l" marL="0" indent="0" lvl="0">
              <a:lnSpc>
                <a:spcPts val="3777"/>
              </a:lnSpc>
            </a:pPr>
            <a:r>
              <a:rPr lang="en-US" b="true" sz="2698">
                <a:solidFill>
                  <a:srgbClr val="011A3C"/>
                </a:solidFill>
                <a:latin typeface="Nunito Semi-Bold"/>
                <a:ea typeface="Nunito Semi-Bold"/>
                <a:cs typeface="Nunito Semi-Bold"/>
                <a:sym typeface="Nunito Semi-Bold"/>
              </a:rPr>
              <a:t>C</a:t>
            </a:r>
            <a:r>
              <a:rPr lang="en-US" b="true" sz="2698">
                <a:solidFill>
                  <a:srgbClr val="011A3C"/>
                </a:solidFill>
                <a:latin typeface="Nunito Semi-Bold"/>
                <a:ea typeface="Nunito Semi-Bold"/>
                <a:cs typeface="Nunito Semi-Bold"/>
                <a:sym typeface="Nunito Semi-Bold"/>
              </a:rPr>
              <a:t>apa de Datos y Telemetría</a:t>
            </a:r>
          </a:p>
        </p:txBody>
      </p:sp>
      <p:sp>
        <p:nvSpPr>
          <p:cNvPr name="TextBox 42" id="42"/>
          <p:cNvSpPr txBox="true"/>
          <p:nvPr/>
        </p:nvSpPr>
        <p:spPr>
          <a:xfrm rot="0">
            <a:off x="8360021" y="4757239"/>
            <a:ext cx="3723907" cy="931593"/>
          </a:xfrm>
          <a:prstGeom prst="rect">
            <a:avLst/>
          </a:prstGeom>
        </p:spPr>
        <p:txBody>
          <a:bodyPr anchor="t" rtlCol="false" tIns="0" lIns="0" bIns="0" rIns="0">
            <a:spAutoFit/>
          </a:bodyPr>
          <a:lstStyle/>
          <a:p>
            <a:pPr algn="l" marL="0" indent="0" lvl="0">
              <a:lnSpc>
                <a:spcPts val="3777"/>
              </a:lnSpc>
            </a:pPr>
            <a:r>
              <a:rPr lang="en-US" b="true" sz="2698">
                <a:solidFill>
                  <a:srgbClr val="011A3C"/>
                </a:solidFill>
                <a:latin typeface="Nunito Semi-Bold"/>
                <a:ea typeface="Nunito Semi-Bold"/>
                <a:cs typeface="Nunito Semi-Bold"/>
                <a:sym typeface="Nunito Semi-Bold"/>
              </a:rPr>
              <a:t>Da</a:t>
            </a:r>
            <a:r>
              <a:rPr lang="en-US" b="true" sz="2698">
                <a:solidFill>
                  <a:srgbClr val="011A3C"/>
                </a:solidFill>
                <a:latin typeface="Nunito Semi-Bold"/>
                <a:ea typeface="Nunito Semi-Bold"/>
                <a:cs typeface="Nunito Semi-Bold"/>
                <a:sym typeface="Nunito Semi-Bold"/>
              </a:rPr>
              <a:t>taset Recibido (Formato CSV):</a:t>
            </a:r>
          </a:p>
        </p:txBody>
      </p:sp>
      <p:sp>
        <p:nvSpPr>
          <p:cNvPr name="TextBox 43" id="43"/>
          <p:cNvSpPr txBox="true"/>
          <p:nvPr/>
        </p:nvSpPr>
        <p:spPr>
          <a:xfrm rot="0">
            <a:off x="2703972" y="6279814"/>
            <a:ext cx="4455691" cy="542925"/>
          </a:xfrm>
          <a:prstGeom prst="rect">
            <a:avLst/>
          </a:prstGeom>
        </p:spPr>
        <p:txBody>
          <a:bodyPr anchor="t" rtlCol="false" tIns="0" lIns="0" bIns="0" rIns="0">
            <a:spAutoFit/>
          </a:bodyPr>
          <a:lstStyle/>
          <a:p>
            <a:pPr algn="l" marL="394851" indent="-197425" lvl="1">
              <a:lnSpc>
                <a:spcPts val="2194"/>
              </a:lnSpc>
              <a:buFont typeface="Arial"/>
              <a:buChar char="•"/>
            </a:pPr>
            <a:r>
              <a:rPr lang="en-US" sz="1828">
                <a:solidFill>
                  <a:srgbClr val="011A3C"/>
                </a:solidFill>
                <a:latin typeface="Nunito"/>
                <a:ea typeface="Nunito"/>
                <a:cs typeface="Nunito"/>
                <a:sym typeface="Nunito"/>
              </a:rPr>
              <a:t>Arquitectura: MVVM (Model-View-ViewModel).</a:t>
            </a:r>
          </a:p>
        </p:txBody>
      </p:sp>
      <p:sp>
        <p:nvSpPr>
          <p:cNvPr name="TextBox 44" id="44"/>
          <p:cNvSpPr txBox="true"/>
          <p:nvPr/>
        </p:nvSpPr>
        <p:spPr>
          <a:xfrm rot="0">
            <a:off x="7951248" y="6279814"/>
            <a:ext cx="4277816" cy="819150"/>
          </a:xfrm>
          <a:prstGeom prst="rect">
            <a:avLst/>
          </a:prstGeom>
        </p:spPr>
        <p:txBody>
          <a:bodyPr anchor="t" rtlCol="false" tIns="0" lIns="0" bIns="0" rIns="0">
            <a:spAutoFit/>
          </a:bodyPr>
          <a:lstStyle/>
          <a:p>
            <a:pPr algn="l" marL="394851" indent="-197425" lvl="1">
              <a:lnSpc>
                <a:spcPts val="2194"/>
              </a:lnSpc>
              <a:buFont typeface="Arial"/>
              <a:buChar char="•"/>
            </a:pPr>
            <a:r>
              <a:rPr lang="en-US" sz="1828">
                <a:solidFill>
                  <a:srgbClr val="011A3C"/>
                </a:solidFill>
                <a:latin typeface="Nunito"/>
                <a:ea typeface="Nunito"/>
                <a:cs typeface="Nunito"/>
                <a:sym typeface="Nunito"/>
              </a:rPr>
              <a:t>Sistema estático: riego fijo sin considerar condiciones reales del suelo.</a:t>
            </a:r>
          </a:p>
        </p:txBody>
      </p:sp>
      <p:sp>
        <p:nvSpPr>
          <p:cNvPr name="TextBox 45" id="45"/>
          <p:cNvSpPr txBox="true"/>
          <p:nvPr/>
        </p:nvSpPr>
        <p:spPr>
          <a:xfrm rot="0">
            <a:off x="2703972" y="7004791"/>
            <a:ext cx="4129587" cy="819150"/>
          </a:xfrm>
          <a:prstGeom prst="rect">
            <a:avLst/>
          </a:prstGeom>
        </p:spPr>
        <p:txBody>
          <a:bodyPr anchor="t" rtlCol="false" tIns="0" lIns="0" bIns="0" rIns="0">
            <a:spAutoFit/>
          </a:bodyPr>
          <a:lstStyle/>
          <a:p>
            <a:pPr algn="l" marL="394851" indent="-197425" lvl="1">
              <a:lnSpc>
                <a:spcPts val="2194"/>
              </a:lnSpc>
              <a:buFont typeface="Arial"/>
              <a:buChar char="•"/>
            </a:pPr>
            <a:r>
              <a:rPr lang="en-US" sz="1828">
                <a:solidFill>
                  <a:srgbClr val="011A3C"/>
                </a:solidFill>
                <a:latin typeface="Nunito"/>
                <a:ea typeface="Nunito"/>
                <a:cs typeface="Nunito"/>
                <a:sym typeface="Nunito"/>
              </a:rPr>
              <a:t>Captura de Datos: Intercepción de flujos constantes mediante StateFlows asíncronos.</a:t>
            </a:r>
          </a:p>
        </p:txBody>
      </p:sp>
      <p:sp>
        <p:nvSpPr>
          <p:cNvPr name="TextBox 46" id="46"/>
          <p:cNvSpPr txBox="true"/>
          <p:nvPr/>
        </p:nvSpPr>
        <p:spPr>
          <a:xfrm rot="0">
            <a:off x="7951248" y="7272367"/>
            <a:ext cx="4663212" cy="542925"/>
          </a:xfrm>
          <a:prstGeom prst="rect">
            <a:avLst/>
          </a:prstGeom>
        </p:spPr>
        <p:txBody>
          <a:bodyPr anchor="t" rtlCol="false" tIns="0" lIns="0" bIns="0" rIns="0">
            <a:spAutoFit/>
          </a:bodyPr>
          <a:lstStyle/>
          <a:p>
            <a:pPr algn="l" marL="394851" indent="-197425" lvl="1">
              <a:lnSpc>
                <a:spcPts val="2194"/>
              </a:lnSpc>
              <a:buFont typeface="Arial"/>
              <a:buChar char="•"/>
            </a:pPr>
            <a:r>
              <a:rPr lang="en-US" sz="1828">
                <a:solidFill>
                  <a:srgbClr val="011A3C"/>
                </a:solidFill>
                <a:latin typeface="Nunito"/>
                <a:ea typeface="Nunito"/>
                <a:cs typeface="Nunito"/>
                <a:sym typeface="Nunito"/>
              </a:rPr>
              <a:t>Sistema dinámico: actuación solo cuando la humedad cae bajo el umbral definido.</a:t>
            </a:r>
          </a:p>
        </p:txBody>
      </p:sp>
      <p:sp>
        <p:nvSpPr>
          <p:cNvPr name="TextBox 47" id="47"/>
          <p:cNvSpPr txBox="true"/>
          <p:nvPr/>
        </p:nvSpPr>
        <p:spPr>
          <a:xfrm rot="0">
            <a:off x="2703972" y="8005993"/>
            <a:ext cx="3936889" cy="819150"/>
          </a:xfrm>
          <a:prstGeom prst="rect">
            <a:avLst/>
          </a:prstGeom>
        </p:spPr>
        <p:txBody>
          <a:bodyPr anchor="t" rtlCol="false" tIns="0" lIns="0" bIns="0" rIns="0">
            <a:spAutoFit/>
          </a:bodyPr>
          <a:lstStyle/>
          <a:p>
            <a:pPr algn="l" marL="394851" indent="-197425" lvl="1">
              <a:lnSpc>
                <a:spcPts val="2194"/>
              </a:lnSpc>
              <a:buFont typeface="Arial"/>
              <a:buChar char="•"/>
            </a:pPr>
            <a:r>
              <a:rPr lang="en-US" sz="1828">
                <a:solidFill>
                  <a:srgbClr val="011A3C"/>
                </a:solidFill>
                <a:latin typeface="Nunito"/>
                <a:ea typeface="Nunito"/>
                <a:cs typeface="Nunito"/>
                <a:sym typeface="Nunito"/>
              </a:rPr>
              <a:t>Fr</a:t>
            </a:r>
            <a:r>
              <a:rPr lang="en-US" sz="1828">
                <a:solidFill>
                  <a:srgbClr val="011A3C"/>
                </a:solidFill>
                <a:latin typeface="Nunito"/>
                <a:ea typeface="Nunito"/>
                <a:cs typeface="Nunito"/>
                <a:sym typeface="Nunito"/>
              </a:rPr>
              <a:t>ecuencia: Actualización dinámica de la interfaz cada 2 segundos.</a:t>
            </a:r>
          </a:p>
        </p:txBody>
      </p:sp>
      <p:sp>
        <p:nvSpPr>
          <p:cNvPr name="TextBox 48" id="48"/>
          <p:cNvSpPr txBox="true"/>
          <p:nvPr/>
        </p:nvSpPr>
        <p:spPr>
          <a:xfrm rot="0">
            <a:off x="7951248" y="8027651"/>
            <a:ext cx="4426045" cy="542925"/>
          </a:xfrm>
          <a:prstGeom prst="rect">
            <a:avLst/>
          </a:prstGeom>
        </p:spPr>
        <p:txBody>
          <a:bodyPr anchor="t" rtlCol="false" tIns="0" lIns="0" bIns="0" rIns="0">
            <a:spAutoFit/>
          </a:bodyPr>
          <a:lstStyle/>
          <a:p>
            <a:pPr algn="l" marL="394851" indent="-197425" lvl="1">
              <a:lnSpc>
                <a:spcPts val="2194"/>
              </a:lnSpc>
              <a:buFont typeface="Arial"/>
              <a:buChar char="•"/>
            </a:pPr>
            <a:r>
              <a:rPr lang="en-US" sz="1828">
                <a:solidFill>
                  <a:srgbClr val="011A3C"/>
                </a:solidFill>
                <a:latin typeface="Nunito"/>
                <a:ea typeface="Nunito"/>
                <a:cs typeface="Nunito"/>
                <a:sym typeface="Nunito"/>
              </a:rPr>
              <a:t>Resultado: ahorro hídrico estimado y mayor vida útil de la bomba DC.</a:t>
            </a:r>
          </a:p>
        </p:txBody>
      </p:sp>
      <p:grpSp>
        <p:nvGrpSpPr>
          <p:cNvPr name="Group 49" id="49"/>
          <p:cNvGrpSpPr/>
          <p:nvPr/>
        </p:nvGrpSpPr>
        <p:grpSpPr>
          <a:xfrm rot="0">
            <a:off x="13423741" y="4560247"/>
            <a:ext cx="3608686" cy="1414274"/>
            <a:chOff x="0" y="0"/>
            <a:chExt cx="950436" cy="372484"/>
          </a:xfrm>
        </p:grpSpPr>
        <p:sp>
          <p:nvSpPr>
            <p:cNvPr name="Freeform 50" id="50"/>
            <p:cNvSpPr/>
            <p:nvPr/>
          </p:nvSpPr>
          <p:spPr>
            <a:xfrm flipH="false" flipV="false" rot="0">
              <a:off x="0" y="0"/>
              <a:ext cx="950436" cy="372484"/>
            </a:xfrm>
            <a:custGeom>
              <a:avLst/>
              <a:gdLst/>
              <a:ahLst/>
              <a:cxnLst/>
              <a:rect r="r" b="b" t="t" l="l"/>
              <a:pathLst>
                <a:path h="372484" w="950436">
                  <a:moveTo>
                    <a:pt x="186242" y="0"/>
                  </a:moveTo>
                  <a:lnTo>
                    <a:pt x="764194" y="0"/>
                  </a:lnTo>
                  <a:cubicBezTo>
                    <a:pt x="813588" y="0"/>
                    <a:pt x="860960" y="19622"/>
                    <a:pt x="895887" y="54549"/>
                  </a:cubicBezTo>
                  <a:cubicBezTo>
                    <a:pt x="930814" y="89476"/>
                    <a:pt x="950436" y="136847"/>
                    <a:pt x="950436" y="186242"/>
                  </a:cubicBezTo>
                  <a:lnTo>
                    <a:pt x="950436" y="186242"/>
                  </a:lnTo>
                  <a:cubicBezTo>
                    <a:pt x="950436" y="235636"/>
                    <a:pt x="930814" y="283008"/>
                    <a:pt x="895887" y="317935"/>
                  </a:cubicBezTo>
                  <a:cubicBezTo>
                    <a:pt x="860960" y="352862"/>
                    <a:pt x="813588" y="372484"/>
                    <a:pt x="764194" y="372484"/>
                  </a:cubicBezTo>
                  <a:lnTo>
                    <a:pt x="186242" y="372484"/>
                  </a:lnTo>
                  <a:cubicBezTo>
                    <a:pt x="136847" y="372484"/>
                    <a:pt x="89476" y="352862"/>
                    <a:pt x="54549" y="317935"/>
                  </a:cubicBezTo>
                  <a:cubicBezTo>
                    <a:pt x="19622" y="283008"/>
                    <a:pt x="0" y="235636"/>
                    <a:pt x="0" y="186242"/>
                  </a:cubicBezTo>
                  <a:lnTo>
                    <a:pt x="0" y="186242"/>
                  </a:lnTo>
                  <a:cubicBezTo>
                    <a:pt x="0" y="136847"/>
                    <a:pt x="19622" y="89476"/>
                    <a:pt x="54549" y="54549"/>
                  </a:cubicBezTo>
                  <a:cubicBezTo>
                    <a:pt x="89476" y="19622"/>
                    <a:pt x="136847" y="0"/>
                    <a:pt x="186242" y="0"/>
                  </a:cubicBezTo>
                  <a:close/>
                </a:path>
              </a:pathLst>
            </a:custGeom>
            <a:solidFill>
              <a:srgbClr val="FFFFFF"/>
            </a:solidFill>
            <a:ln w="38100" cap="rnd">
              <a:solidFill>
                <a:srgbClr val="8DABD2"/>
              </a:solidFill>
              <a:prstDash val="solid"/>
              <a:round/>
            </a:ln>
          </p:spPr>
        </p:sp>
        <p:sp>
          <p:nvSpPr>
            <p:cNvPr name="TextBox 51" id="51"/>
            <p:cNvSpPr txBox="true"/>
            <p:nvPr/>
          </p:nvSpPr>
          <p:spPr>
            <a:xfrm>
              <a:off x="0" y="-57150"/>
              <a:ext cx="950436" cy="429634"/>
            </a:xfrm>
            <a:prstGeom prst="rect">
              <a:avLst/>
            </a:prstGeom>
          </p:spPr>
          <p:txBody>
            <a:bodyPr anchor="ctr" rtlCol="false" tIns="50800" lIns="50800" bIns="50800" rIns="50800"/>
            <a:lstStyle/>
            <a:p>
              <a:pPr algn="ctr" marL="0" indent="0" lvl="0">
                <a:lnSpc>
                  <a:spcPts val="3220"/>
                </a:lnSpc>
              </a:pPr>
            </a:p>
          </p:txBody>
        </p:sp>
      </p:grpSp>
      <p:sp>
        <p:nvSpPr>
          <p:cNvPr name="TextBox 52" id="52"/>
          <p:cNvSpPr txBox="true"/>
          <p:nvPr/>
        </p:nvSpPr>
        <p:spPr>
          <a:xfrm rot="0">
            <a:off x="13803785" y="4807771"/>
            <a:ext cx="3070941" cy="931593"/>
          </a:xfrm>
          <a:prstGeom prst="rect">
            <a:avLst/>
          </a:prstGeom>
        </p:spPr>
        <p:txBody>
          <a:bodyPr anchor="t" rtlCol="false" tIns="0" lIns="0" bIns="0" rIns="0">
            <a:spAutoFit/>
          </a:bodyPr>
          <a:lstStyle/>
          <a:p>
            <a:pPr algn="l" marL="0" indent="0" lvl="0">
              <a:lnSpc>
                <a:spcPts val="3777"/>
              </a:lnSpc>
            </a:pPr>
            <a:r>
              <a:rPr lang="en-US" b="true" sz="2698">
                <a:solidFill>
                  <a:srgbClr val="011A3C"/>
                </a:solidFill>
                <a:latin typeface="Nunito Semi-Bold"/>
                <a:ea typeface="Nunito Semi-Bold"/>
                <a:cs typeface="Nunito Semi-Bold"/>
                <a:sym typeface="Nunito Semi-Bold"/>
              </a:rPr>
              <a:t>Con</a:t>
            </a:r>
            <a:r>
              <a:rPr lang="en-US" b="true" sz="2698">
                <a:solidFill>
                  <a:srgbClr val="011A3C"/>
                </a:solidFill>
                <a:latin typeface="Nunito Semi-Bold"/>
                <a:ea typeface="Nunito Semi-Bold"/>
                <a:cs typeface="Nunito Semi-Bold"/>
                <a:sym typeface="Nunito Semi-Bold"/>
              </a:rPr>
              <a:t>trol Remoto de Actuadores</a:t>
            </a:r>
          </a:p>
        </p:txBody>
      </p:sp>
      <p:sp>
        <p:nvSpPr>
          <p:cNvPr name="TextBox 53" id="53"/>
          <p:cNvSpPr txBox="true"/>
          <p:nvPr/>
        </p:nvSpPr>
        <p:spPr>
          <a:xfrm rot="0">
            <a:off x="13423741" y="6222689"/>
            <a:ext cx="4277816" cy="2752725"/>
          </a:xfrm>
          <a:prstGeom prst="rect">
            <a:avLst/>
          </a:prstGeom>
        </p:spPr>
        <p:txBody>
          <a:bodyPr anchor="t" rtlCol="false" tIns="0" lIns="0" bIns="0" rIns="0">
            <a:spAutoFit/>
          </a:bodyPr>
          <a:lstStyle/>
          <a:p>
            <a:pPr algn="l" marL="0" indent="0" lvl="0">
              <a:lnSpc>
                <a:spcPts val="2194"/>
              </a:lnSpc>
            </a:pPr>
            <a:r>
              <a:rPr lang="en-US" sz="1828">
                <a:solidFill>
                  <a:srgbClr val="011A3C"/>
                </a:solidFill>
                <a:latin typeface="Nunito"/>
                <a:ea typeface="Nunito"/>
                <a:cs typeface="Nunito"/>
                <a:sym typeface="Nunito"/>
              </a:rPr>
              <a:t>Inyecc</a:t>
            </a:r>
            <a:r>
              <a:rPr lang="en-US" sz="1828">
                <a:solidFill>
                  <a:srgbClr val="011A3C"/>
                </a:solidFill>
                <a:latin typeface="Nunito"/>
                <a:ea typeface="Nunito"/>
                <a:cs typeface="Nunito"/>
                <a:sym typeface="Nunito"/>
              </a:rPr>
              <a:t>ión de Comandos UART vía Bluetooth:</a:t>
            </a:r>
          </a:p>
          <a:p>
            <a:pPr algn="l" marL="0" indent="0" lvl="0">
              <a:lnSpc>
                <a:spcPts val="2194"/>
              </a:lnSpc>
            </a:pPr>
          </a:p>
          <a:p>
            <a:pPr algn="l" marL="394851" indent="-197425" lvl="1">
              <a:lnSpc>
                <a:spcPts val="2194"/>
              </a:lnSpc>
              <a:buFont typeface="Arial"/>
              <a:buChar char="•"/>
            </a:pPr>
            <a:r>
              <a:rPr lang="en-US" sz="1828">
                <a:solidFill>
                  <a:srgbClr val="011A3C"/>
                </a:solidFill>
                <a:latin typeface="Nunito"/>
                <a:ea typeface="Nunito"/>
                <a:cs typeface="Nunito"/>
                <a:sym typeface="Nunito"/>
              </a:rPr>
              <a:t>'1' / '0' ➔ Control manual de la bomba (Encendido / Apagado).</a:t>
            </a:r>
          </a:p>
          <a:p>
            <a:pPr algn="l" marL="394851" indent="-197425" lvl="1">
              <a:lnSpc>
                <a:spcPts val="2194"/>
              </a:lnSpc>
              <a:buFont typeface="Arial"/>
              <a:buChar char="•"/>
            </a:pPr>
            <a:r>
              <a:rPr lang="en-US" sz="1828">
                <a:solidFill>
                  <a:srgbClr val="011A3C"/>
                </a:solidFill>
                <a:latin typeface="Nunito"/>
                <a:ea typeface="Nunito"/>
                <a:cs typeface="Nunito"/>
                <a:sym typeface="Nunito"/>
              </a:rPr>
              <a:t>'2' ➔ Activación del modo de actuación automático.</a:t>
            </a:r>
          </a:p>
          <a:p>
            <a:pPr algn="l" marL="394851" indent="-197425" lvl="1">
              <a:lnSpc>
                <a:spcPts val="2194"/>
              </a:lnSpc>
              <a:buFont typeface="Arial"/>
              <a:buChar char="•"/>
            </a:pPr>
            <a:r>
              <a:rPr lang="en-US" sz="1828">
                <a:solidFill>
                  <a:srgbClr val="011A3C"/>
                </a:solidFill>
                <a:latin typeface="Nunito"/>
                <a:ea typeface="Nunito"/>
                <a:cs typeface="Nunito"/>
                <a:sym typeface="Nunito"/>
              </a:rPr>
              <a:t>'U' + [Valor] ➔ Modificación remota de las reglas y umbrales de riego.</a:t>
            </a:r>
          </a:p>
          <a:p>
            <a:pPr algn="l" marL="0" indent="0" lvl="0">
              <a:lnSpc>
                <a:spcPts val="2194"/>
              </a:lnSpc>
            </a:pPr>
          </a:p>
        </p:txBody>
      </p:sp>
      <p:sp>
        <p:nvSpPr>
          <p:cNvPr name="TextBox 54" id="54"/>
          <p:cNvSpPr txBox="true"/>
          <p:nvPr/>
        </p:nvSpPr>
        <p:spPr>
          <a:xfrm rot="0">
            <a:off x="5841493" y="2363759"/>
            <a:ext cx="6605014" cy="819150"/>
          </a:xfrm>
          <a:prstGeom prst="rect">
            <a:avLst/>
          </a:prstGeom>
        </p:spPr>
        <p:txBody>
          <a:bodyPr anchor="t" rtlCol="false" tIns="0" lIns="0" bIns="0" rIns="0">
            <a:spAutoFit/>
          </a:bodyPr>
          <a:lstStyle/>
          <a:p>
            <a:pPr algn="ctr" marL="0" indent="0" lvl="0">
              <a:lnSpc>
                <a:spcPts val="2194"/>
              </a:lnSpc>
            </a:pPr>
            <a:r>
              <a:rPr lang="en-US" sz="1828">
                <a:solidFill>
                  <a:srgbClr val="011A3C"/>
                </a:solidFill>
                <a:latin typeface="Nunito"/>
                <a:ea typeface="Nunito"/>
                <a:cs typeface="Nunito"/>
                <a:sym typeface="Nunito"/>
              </a:rPr>
              <a:t>App Andro</a:t>
            </a:r>
            <a:r>
              <a:rPr lang="en-US" sz="1828">
                <a:solidFill>
                  <a:srgbClr val="011A3C"/>
                </a:solidFill>
                <a:latin typeface="Nunito"/>
                <a:ea typeface="Nunito"/>
                <a:cs typeface="Nunito"/>
                <a:sym typeface="Nunito"/>
              </a:rPr>
              <a:t>id nativa (Kotlin + Jetpack Compose) estructurada bajo arquitectura MVVM para el monitoreo y control en tiempo real.</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801911" y="-787414"/>
            <a:ext cx="6005760" cy="5622414"/>
            <a:chOff x="0" y="0"/>
            <a:chExt cx="596900" cy="558800"/>
          </a:xfrm>
        </p:grpSpPr>
        <p:sp>
          <p:nvSpPr>
            <p:cNvPr name="Freeform 3" id="3"/>
            <p:cNvSpPr/>
            <p:nvPr/>
          </p:nvSpPr>
          <p:spPr>
            <a:xfrm flipH="false" flipV="false" rot="0">
              <a:off x="0" y="0"/>
              <a:ext cx="596900" cy="558800"/>
            </a:xfrm>
            <a:custGeom>
              <a:avLst/>
              <a:gdLst/>
              <a:ahLst/>
              <a:cxnLst/>
              <a:rect r="r" b="b" t="t" l="l"/>
              <a:pathLst>
                <a:path h="558800" w="596900">
                  <a:moveTo>
                    <a:pt x="596900" y="15147"/>
                  </a:moveTo>
                  <a:lnTo>
                    <a:pt x="596900" y="289653"/>
                  </a:lnTo>
                  <a:cubicBezTo>
                    <a:pt x="596900" y="299326"/>
                    <a:pt x="592936" y="308575"/>
                    <a:pt x="585932" y="315246"/>
                  </a:cubicBezTo>
                  <a:lnTo>
                    <a:pt x="341168" y="548354"/>
                  </a:lnTo>
                  <a:cubicBezTo>
                    <a:pt x="334127" y="555060"/>
                    <a:pt x="324777" y="558800"/>
                    <a:pt x="315053" y="558800"/>
                  </a:cubicBezTo>
                  <a:lnTo>
                    <a:pt x="15147" y="558800"/>
                  </a:lnTo>
                  <a:cubicBezTo>
                    <a:pt x="6781" y="558800"/>
                    <a:pt x="0" y="552019"/>
                    <a:pt x="0" y="543653"/>
                  </a:cubicBezTo>
                  <a:lnTo>
                    <a:pt x="0" y="264067"/>
                  </a:lnTo>
                  <a:cubicBezTo>
                    <a:pt x="0" y="254397"/>
                    <a:pt x="3977" y="245154"/>
                    <a:pt x="10999" y="238506"/>
                  </a:cubicBezTo>
                  <a:lnTo>
                    <a:pt x="251891" y="10414"/>
                  </a:lnTo>
                  <a:cubicBezTo>
                    <a:pt x="258954" y="3727"/>
                    <a:pt x="268311" y="0"/>
                    <a:pt x="278037" y="0"/>
                  </a:cubicBezTo>
                  <a:lnTo>
                    <a:pt x="581753" y="0"/>
                  </a:lnTo>
                  <a:cubicBezTo>
                    <a:pt x="590119" y="0"/>
                    <a:pt x="596900" y="6781"/>
                    <a:pt x="596900" y="15147"/>
                  </a:cubicBezTo>
                  <a:close/>
                </a:path>
              </a:pathLst>
            </a:custGeom>
            <a:solidFill>
              <a:srgbClr val="014AAB">
                <a:alpha val="5882"/>
              </a:srgbClr>
            </a:solidFill>
          </p:spPr>
        </p:sp>
        <p:sp>
          <p:nvSpPr>
            <p:cNvPr name="TextBox 4" id="4"/>
            <p:cNvSpPr txBox="true"/>
            <p:nvPr/>
          </p:nvSpPr>
          <p:spPr>
            <a:xfrm>
              <a:off x="101600" y="76200"/>
              <a:ext cx="393700" cy="350520"/>
            </a:xfrm>
            <a:prstGeom prst="rect">
              <a:avLst/>
            </a:prstGeom>
          </p:spPr>
          <p:txBody>
            <a:bodyPr anchor="ctr" rtlCol="false" tIns="50800" lIns="50800" bIns="50800" rIns="50800"/>
            <a:lstStyle/>
            <a:p>
              <a:pPr algn="l" marL="0" indent="0" lvl="0">
                <a:lnSpc>
                  <a:spcPts val="3220"/>
                </a:lnSpc>
              </a:pPr>
            </a:p>
          </p:txBody>
        </p:sp>
      </p:grpSp>
      <p:grpSp>
        <p:nvGrpSpPr>
          <p:cNvPr name="Group 5" id="5"/>
          <p:cNvGrpSpPr/>
          <p:nvPr/>
        </p:nvGrpSpPr>
        <p:grpSpPr>
          <a:xfrm rot="-5400000">
            <a:off x="-875342" y="3892899"/>
            <a:ext cx="1750683" cy="1638937"/>
            <a:chOff x="0" y="0"/>
            <a:chExt cx="596900" cy="558800"/>
          </a:xfrm>
        </p:grpSpPr>
        <p:sp>
          <p:nvSpPr>
            <p:cNvPr name="Freeform 6" id="6"/>
            <p:cNvSpPr/>
            <p:nvPr/>
          </p:nvSpPr>
          <p:spPr>
            <a:xfrm flipH="false" flipV="false" rot="0">
              <a:off x="0" y="0"/>
              <a:ext cx="596900" cy="558800"/>
            </a:xfrm>
            <a:custGeom>
              <a:avLst/>
              <a:gdLst/>
              <a:ahLst/>
              <a:cxnLst/>
              <a:rect r="r" b="b" t="t" l="l"/>
              <a:pathLst>
                <a:path h="558800" w="596900">
                  <a:moveTo>
                    <a:pt x="596900" y="51961"/>
                  </a:moveTo>
                  <a:lnTo>
                    <a:pt x="596900" y="252839"/>
                  </a:lnTo>
                  <a:cubicBezTo>
                    <a:pt x="596900" y="286020"/>
                    <a:pt x="583301" y="317752"/>
                    <a:pt x="559273" y="340635"/>
                  </a:cubicBezTo>
                  <a:lnTo>
                    <a:pt x="367827" y="522965"/>
                  </a:lnTo>
                  <a:cubicBezTo>
                    <a:pt x="343673" y="545969"/>
                    <a:pt x="311595" y="558800"/>
                    <a:pt x="278239" y="558800"/>
                  </a:cubicBezTo>
                  <a:lnTo>
                    <a:pt x="51961" y="558800"/>
                  </a:lnTo>
                  <a:cubicBezTo>
                    <a:pt x="23264" y="558800"/>
                    <a:pt x="0" y="535536"/>
                    <a:pt x="0" y="506839"/>
                  </a:cubicBezTo>
                  <a:lnTo>
                    <a:pt x="0" y="300881"/>
                  </a:lnTo>
                  <a:cubicBezTo>
                    <a:pt x="0" y="267711"/>
                    <a:pt x="13645" y="236001"/>
                    <a:pt x="37731" y="213194"/>
                  </a:cubicBezTo>
                  <a:lnTo>
                    <a:pt x="225159" y="35726"/>
                  </a:lnTo>
                  <a:cubicBezTo>
                    <a:pt x="249387" y="12785"/>
                    <a:pt x="281485" y="0"/>
                    <a:pt x="314851" y="0"/>
                  </a:cubicBezTo>
                  <a:lnTo>
                    <a:pt x="544939" y="0"/>
                  </a:lnTo>
                  <a:cubicBezTo>
                    <a:pt x="573636" y="0"/>
                    <a:pt x="596900" y="23264"/>
                    <a:pt x="596900" y="51961"/>
                  </a:cubicBezTo>
                  <a:close/>
                </a:path>
              </a:pathLst>
            </a:custGeom>
            <a:solidFill>
              <a:srgbClr val="014AAB">
                <a:alpha val="5882"/>
              </a:srgbClr>
            </a:solidFill>
          </p:spPr>
        </p:sp>
        <p:sp>
          <p:nvSpPr>
            <p:cNvPr name="TextBox 7" id="7"/>
            <p:cNvSpPr txBox="true"/>
            <p:nvPr/>
          </p:nvSpPr>
          <p:spPr>
            <a:xfrm>
              <a:off x="101600" y="76200"/>
              <a:ext cx="393700" cy="350520"/>
            </a:xfrm>
            <a:prstGeom prst="rect">
              <a:avLst/>
            </a:prstGeom>
          </p:spPr>
          <p:txBody>
            <a:bodyPr anchor="ctr" rtlCol="false" tIns="50800" lIns="50800" bIns="50800" rIns="50800"/>
            <a:lstStyle/>
            <a:p>
              <a:pPr algn="l" marL="0" indent="0" lvl="0">
                <a:lnSpc>
                  <a:spcPts val="3220"/>
                </a:lnSpc>
              </a:pPr>
            </a:p>
          </p:txBody>
        </p:sp>
      </p:grpSp>
      <p:sp>
        <p:nvSpPr>
          <p:cNvPr name="AutoShape 8" id="8"/>
          <p:cNvSpPr/>
          <p:nvPr/>
        </p:nvSpPr>
        <p:spPr>
          <a:xfrm>
            <a:off x="0" y="5520273"/>
            <a:ext cx="7232336" cy="0"/>
          </a:xfrm>
          <a:prstGeom prst="line">
            <a:avLst/>
          </a:prstGeom>
          <a:ln cap="rnd" w="38100">
            <a:solidFill>
              <a:srgbClr val="8DABD2"/>
            </a:solidFill>
            <a:prstDash val="solid"/>
            <a:headEnd type="none" len="sm" w="sm"/>
            <a:tailEnd type="none" len="sm" w="sm"/>
          </a:ln>
        </p:spPr>
      </p:sp>
      <p:grpSp>
        <p:nvGrpSpPr>
          <p:cNvPr name="Group 9" id="9"/>
          <p:cNvGrpSpPr/>
          <p:nvPr/>
        </p:nvGrpSpPr>
        <p:grpSpPr>
          <a:xfrm rot="5400000">
            <a:off x="10005635" y="6369713"/>
            <a:ext cx="5129706" cy="4802278"/>
            <a:chOff x="0" y="0"/>
            <a:chExt cx="596900" cy="558800"/>
          </a:xfrm>
        </p:grpSpPr>
        <p:sp>
          <p:nvSpPr>
            <p:cNvPr name="Freeform 10" id="10"/>
            <p:cNvSpPr/>
            <p:nvPr/>
          </p:nvSpPr>
          <p:spPr>
            <a:xfrm flipH="false" flipV="false" rot="0">
              <a:off x="0" y="0"/>
              <a:ext cx="596900" cy="558800"/>
            </a:xfrm>
            <a:custGeom>
              <a:avLst/>
              <a:gdLst/>
              <a:ahLst/>
              <a:cxnLst/>
              <a:rect r="r" b="b" t="t" l="l"/>
              <a:pathLst>
                <a:path h="558800" w="596900">
                  <a:moveTo>
                    <a:pt x="596900" y="17733"/>
                  </a:moveTo>
                  <a:lnTo>
                    <a:pt x="596900" y="287067"/>
                  </a:lnTo>
                  <a:cubicBezTo>
                    <a:pt x="596900" y="298391"/>
                    <a:pt x="592259" y="309220"/>
                    <a:pt x="584058" y="317030"/>
                  </a:cubicBezTo>
                  <a:lnTo>
                    <a:pt x="343041" y="546570"/>
                  </a:lnTo>
                  <a:cubicBezTo>
                    <a:pt x="334798" y="554421"/>
                    <a:pt x="323850" y="558800"/>
                    <a:pt x="312467" y="558800"/>
                  </a:cubicBezTo>
                  <a:lnTo>
                    <a:pt x="17733" y="558800"/>
                  </a:lnTo>
                  <a:cubicBezTo>
                    <a:pt x="13030" y="558800"/>
                    <a:pt x="8520" y="556932"/>
                    <a:pt x="5194" y="553606"/>
                  </a:cubicBezTo>
                  <a:cubicBezTo>
                    <a:pt x="1868" y="550280"/>
                    <a:pt x="0" y="545770"/>
                    <a:pt x="0" y="541067"/>
                  </a:cubicBezTo>
                  <a:lnTo>
                    <a:pt x="0" y="266653"/>
                  </a:lnTo>
                  <a:cubicBezTo>
                    <a:pt x="0" y="255333"/>
                    <a:pt x="4657" y="244511"/>
                    <a:pt x="12877" y="236727"/>
                  </a:cubicBezTo>
                  <a:lnTo>
                    <a:pt x="250013" y="12193"/>
                  </a:lnTo>
                  <a:cubicBezTo>
                    <a:pt x="258282" y="4363"/>
                    <a:pt x="269236" y="0"/>
                    <a:pt x="280623" y="0"/>
                  </a:cubicBezTo>
                  <a:lnTo>
                    <a:pt x="579167" y="0"/>
                  </a:lnTo>
                  <a:cubicBezTo>
                    <a:pt x="583870" y="0"/>
                    <a:pt x="588380" y="1868"/>
                    <a:pt x="591706" y="5194"/>
                  </a:cubicBezTo>
                  <a:cubicBezTo>
                    <a:pt x="595032" y="8520"/>
                    <a:pt x="596900" y="13030"/>
                    <a:pt x="596900" y="17733"/>
                  </a:cubicBezTo>
                  <a:close/>
                </a:path>
              </a:pathLst>
            </a:custGeom>
            <a:ln w="190500" cap="sq">
              <a:solidFill>
                <a:srgbClr val="014AAB"/>
              </a:solidFill>
              <a:prstDash val="solid"/>
              <a:miter/>
            </a:ln>
          </p:spPr>
        </p:sp>
        <p:sp>
          <p:nvSpPr>
            <p:cNvPr name="TextBox 11" id="11"/>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2" id="12"/>
          <p:cNvGrpSpPr/>
          <p:nvPr/>
        </p:nvGrpSpPr>
        <p:grpSpPr>
          <a:xfrm rot="-5400000">
            <a:off x="9304440" y="1157886"/>
            <a:ext cx="11455664" cy="10724451"/>
            <a:chOff x="0" y="0"/>
            <a:chExt cx="596900" cy="558800"/>
          </a:xfrm>
        </p:grpSpPr>
        <p:sp>
          <p:nvSpPr>
            <p:cNvPr name="Freeform 13" id="13"/>
            <p:cNvSpPr/>
            <p:nvPr/>
          </p:nvSpPr>
          <p:spPr>
            <a:xfrm flipH="false" flipV="false" rot="0">
              <a:off x="0" y="0"/>
              <a:ext cx="596900" cy="558800"/>
            </a:xfrm>
            <a:custGeom>
              <a:avLst/>
              <a:gdLst/>
              <a:ahLst/>
              <a:cxnLst/>
              <a:rect r="r" b="b" t="t" l="l"/>
              <a:pathLst>
                <a:path h="558800" w="596900">
                  <a:moveTo>
                    <a:pt x="596900" y="35734"/>
                  </a:moveTo>
                  <a:lnTo>
                    <a:pt x="596900" y="269066"/>
                  </a:lnTo>
                  <a:cubicBezTo>
                    <a:pt x="596900" y="291885"/>
                    <a:pt x="587548" y="313707"/>
                    <a:pt x="571024" y="329444"/>
                  </a:cubicBezTo>
                  <a:lnTo>
                    <a:pt x="356076" y="534156"/>
                  </a:lnTo>
                  <a:cubicBezTo>
                    <a:pt x="339465" y="549976"/>
                    <a:pt x="317405" y="558800"/>
                    <a:pt x="294466" y="558800"/>
                  </a:cubicBezTo>
                  <a:lnTo>
                    <a:pt x="35734" y="558800"/>
                  </a:lnTo>
                  <a:cubicBezTo>
                    <a:pt x="26257" y="558800"/>
                    <a:pt x="17168" y="555035"/>
                    <a:pt x="10466" y="548334"/>
                  </a:cubicBezTo>
                  <a:cubicBezTo>
                    <a:pt x="3765" y="541632"/>
                    <a:pt x="0" y="532543"/>
                    <a:pt x="0" y="523066"/>
                  </a:cubicBezTo>
                  <a:lnTo>
                    <a:pt x="0" y="284654"/>
                  </a:lnTo>
                  <a:cubicBezTo>
                    <a:pt x="0" y="261842"/>
                    <a:pt x="9383" y="240035"/>
                    <a:pt x="25948" y="224351"/>
                  </a:cubicBezTo>
                  <a:lnTo>
                    <a:pt x="236942" y="24569"/>
                  </a:lnTo>
                  <a:cubicBezTo>
                    <a:pt x="253604" y="8792"/>
                    <a:pt x="275678" y="0"/>
                    <a:pt x="298624" y="0"/>
                  </a:cubicBezTo>
                  <a:lnTo>
                    <a:pt x="561166" y="0"/>
                  </a:lnTo>
                  <a:cubicBezTo>
                    <a:pt x="570643" y="0"/>
                    <a:pt x="579732" y="3765"/>
                    <a:pt x="586434" y="10466"/>
                  </a:cubicBezTo>
                  <a:cubicBezTo>
                    <a:pt x="593135" y="17168"/>
                    <a:pt x="596900" y="26257"/>
                    <a:pt x="596900" y="35734"/>
                  </a:cubicBezTo>
                  <a:close/>
                </a:path>
              </a:pathLst>
            </a:custGeom>
            <a:solidFill>
              <a:srgbClr val="8DABD2"/>
            </a:solidFill>
          </p:spPr>
        </p:sp>
        <p:sp>
          <p:nvSpPr>
            <p:cNvPr name="TextBox 14" id="14"/>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5" id="15"/>
          <p:cNvGrpSpPr/>
          <p:nvPr/>
        </p:nvGrpSpPr>
        <p:grpSpPr>
          <a:xfrm rot="0">
            <a:off x="10169349" y="1886002"/>
            <a:ext cx="5981727" cy="6734474"/>
            <a:chOff x="0" y="0"/>
            <a:chExt cx="1575434" cy="1773689"/>
          </a:xfrm>
        </p:grpSpPr>
        <p:sp>
          <p:nvSpPr>
            <p:cNvPr name="Freeform 16" id="16"/>
            <p:cNvSpPr/>
            <p:nvPr/>
          </p:nvSpPr>
          <p:spPr>
            <a:xfrm flipH="false" flipV="false" rot="0">
              <a:off x="0" y="0"/>
              <a:ext cx="1575434" cy="1773689"/>
            </a:xfrm>
            <a:custGeom>
              <a:avLst/>
              <a:gdLst/>
              <a:ahLst/>
              <a:cxnLst/>
              <a:rect r="r" b="b" t="t" l="l"/>
              <a:pathLst>
                <a:path h="1773689" w="1575434">
                  <a:moveTo>
                    <a:pt x="38828" y="0"/>
                  </a:moveTo>
                  <a:lnTo>
                    <a:pt x="1536606" y="0"/>
                  </a:lnTo>
                  <a:cubicBezTo>
                    <a:pt x="1546904" y="0"/>
                    <a:pt x="1556780" y="4091"/>
                    <a:pt x="1564062" y="11372"/>
                  </a:cubicBezTo>
                  <a:cubicBezTo>
                    <a:pt x="1571344" y="18654"/>
                    <a:pt x="1575434" y="28530"/>
                    <a:pt x="1575434" y="38828"/>
                  </a:cubicBezTo>
                  <a:lnTo>
                    <a:pt x="1575434" y="1734861"/>
                  </a:lnTo>
                  <a:cubicBezTo>
                    <a:pt x="1575434" y="1756305"/>
                    <a:pt x="1558050" y="1773689"/>
                    <a:pt x="1536606" y="1773689"/>
                  </a:cubicBezTo>
                  <a:lnTo>
                    <a:pt x="38828" y="1773689"/>
                  </a:lnTo>
                  <a:cubicBezTo>
                    <a:pt x="17384" y="1773689"/>
                    <a:pt x="0" y="1756305"/>
                    <a:pt x="0" y="1734861"/>
                  </a:cubicBezTo>
                  <a:lnTo>
                    <a:pt x="0" y="38828"/>
                  </a:lnTo>
                  <a:cubicBezTo>
                    <a:pt x="0" y="17384"/>
                    <a:pt x="17384" y="0"/>
                    <a:pt x="38828" y="0"/>
                  </a:cubicBezTo>
                  <a:close/>
                </a:path>
              </a:pathLst>
            </a:custGeom>
            <a:solidFill>
              <a:srgbClr val="FFFFFF"/>
            </a:solidFill>
          </p:spPr>
        </p:sp>
        <p:sp>
          <p:nvSpPr>
            <p:cNvPr name="TextBox 17" id="17"/>
            <p:cNvSpPr txBox="true"/>
            <p:nvPr/>
          </p:nvSpPr>
          <p:spPr>
            <a:xfrm>
              <a:off x="0" y="-57150"/>
              <a:ext cx="1575434" cy="1830839"/>
            </a:xfrm>
            <a:prstGeom prst="rect">
              <a:avLst/>
            </a:prstGeom>
          </p:spPr>
          <p:txBody>
            <a:bodyPr anchor="ctr" rtlCol="false" tIns="50800" lIns="50800" bIns="50800" rIns="50800"/>
            <a:lstStyle/>
            <a:p>
              <a:pPr algn="ctr" marL="0" indent="0" lvl="0">
                <a:lnSpc>
                  <a:spcPts val="3220"/>
                </a:lnSpc>
              </a:pPr>
            </a:p>
          </p:txBody>
        </p:sp>
      </p:grpSp>
      <p:sp>
        <p:nvSpPr>
          <p:cNvPr name="TextBox 18" id="18"/>
          <p:cNvSpPr txBox="true"/>
          <p:nvPr/>
        </p:nvSpPr>
        <p:spPr>
          <a:xfrm rot="0">
            <a:off x="819469" y="1392554"/>
            <a:ext cx="8115300" cy="3828916"/>
          </a:xfrm>
          <a:prstGeom prst="rect">
            <a:avLst/>
          </a:prstGeom>
        </p:spPr>
        <p:txBody>
          <a:bodyPr anchor="t" rtlCol="false" tIns="0" lIns="0" bIns="0" rIns="0">
            <a:spAutoFit/>
          </a:bodyPr>
          <a:lstStyle/>
          <a:p>
            <a:pPr algn="l" marL="0" indent="0" lvl="0">
              <a:lnSpc>
                <a:spcPts val="7494"/>
              </a:lnSpc>
            </a:pPr>
            <a:r>
              <a:rPr lang="en-US" b="true" sz="7494" spc="149">
                <a:solidFill>
                  <a:srgbClr val="011A3C"/>
                </a:solidFill>
                <a:latin typeface="Gotham Bold"/>
                <a:ea typeface="Gotham Bold"/>
                <a:cs typeface="Gotham Bold"/>
                <a:sym typeface="Gotham Bold"/>
              </a:rPr>
              <a:t>Proyección de </a:t>
            </a:r>
            <a:r>
              <a:rPr lang="en-US" b="true" sz="7494" spc="149">
                <a:solidFill>
                  <a:srgbClr val="011A3C"/>
                </a:solidFill>
                <a:latin typeface="Gotham Bold"/>
                <a:ea typeface="Gotham Bold"/>
                <a:cs typeface="Gotham Bold"/>
                <a:sym typeface="Gotham Bold"/>
              </a:rPr>
              <a:t>Continuidad: Edge Computing e IA</a:t>
            </a:r>
          </a:p>
        </p:txBody>
      </p:sp>
      <p:sp>
        <p:nvSpPr>
          <p:cNvPr name="Freeform 19" id="19"/>
          <p:cNvSpPr/>
          <p:nvPr/>
        </p:nvSpPr>
        <p:spPr>
          <a:xfrm flipH="false" flipV="false" rot="0">
            <a:off x="16064016" y="792280"/>
            <a:ext cx="1670629" cy="1652404"/>
          </a:xfrm>
          <a:custGeom>
            <a:avLst/>
            <a:gdLst/>
            <a:ahLst/>
            <a:cxnLst/>
            <a:rect r="r" b="b" t="t" l="l"/>
            <a:pathLst>
              <a:path h="1652404" w="1670629">
                <a:moveTo>
                  <a:pt x="0" y="0"/>
                </a:moveTo>
                <a:lnTo>
                  <a:pt x="1670629" y="0"/>
                </a:lnTo>
                <a:lnTo>
                  <a:pt x="1670629" y="1652404"/>
                </a:lnTo>
                <a:lnTo>
                  <a:pt x="0" y="16524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0" id="20"/>
          <p:cNvGrpSpPr/>
          <p:nvPr/>
        </p:nvGrpSpPr>
        <p:grpSpPr>
          <a:xfrm rot="0">
            <a:off x="832753" y="6281437"/>
            <a:ext cx="5602303" cy="924316"/>
            <a:chOff x="0" y="0"/>
            <a:chExt cx="1475504" cy="243441"/>
          </a:xfrm>
        </p:grpSpPr>
        <p:sp>
          <p:nvSpPr>
            <p:cNvPr name="Freeform 21" id="21"/>
            <p:cNvSpPr/>
            <p:nvPr/>
          </p:nvSpPr>
          <p:spPr>
            <a:xfrm flipH="false" flipV="false" rot="0">
              <a:off x="0" y="0"/>
              <a:ext cx="1475504" cy="243441"/>
            </a:xfrm>
            <a:custGeom>
              <a:avLst/>
              <a:gdLst/>
              <a:ahLst/>
              <a:cxnLst/>
              <a:rect r="r" b="b" t="t" l="l"/>
              <a:pathLst>
                <a:path h="243441" w="1475504">
                  <a:moveTo>
                    <a:pt x="121721" y="0"/>
                  </a:moveTo>
                  <a:lnTo>
                    <a:pt x="1353783" y="0"/>
                  </a:lnTo>
                  <a:cubicBezTo>
                    <a:pt x="1421008" y="0"/>
                    <a:pt x="1475504" y="54496"/>
                    <a:pt x="1475504" y="121721"/>
                  </a:cubicBezTo>
                  <a:lnTo>
                    <a:pt x="1475504" y="121721"/>
                  </a:lnTo>
                  <a:cubicBezTo>
                    <a:pt x="1475504" y="154003"/>
                    <a:pt x="1462680" y="184963"/>
                    <a:pt x="1439853" y="207790"/>
                  </a:cubicBezTo>
                  <a:cubicBezTo>
                    <a:pt x="1417026" y="230617"/>
                    <a:pt x="1386065" y="243441"/>
                    <a:pt x="1353783" y="243441"/>
                  </a:cubicBezTo>
                  <a:lnTo>
                    <a:pt x="121721" y="243441"/>
                  </a:lnTo>
                  <a:cubicBezTo>
                    <a:pt x="89438" y="243441"/>
                    <a:pt x="58478" y="230617"/>
                    <a:pt x="35651" y="207790"/>
                  </a:cubicBezTo>
                  <a:cubicBezTo>
                    <a:pt x="12824" y="184963"/>
                    <a:pt x="0" y="154003"/>
                    <a:pt x="0" y="121721"/>
                  </a:cubicBezTo>
                  <a:lnTo>
                    <a:pt x="0" y="121721"/>
                  </a:lnTo>
                  <a:cubicBezTo>
                    <a:pt x="0" y="89438"/>
                    <a:pt x="12824" y="58478"/>
                    <a:pt x="35651" y="35651"/>
                  </a:cubicBezTo>
                  <a:cubicBezTo>
                    <a:pt x="58478" y="12824"/>
                    <a:pt x="89438" y="0"/>
                    <a:pt x="121721" y="0"/>
                  </a:cubicBezTo>
                  <a:close/>
                </a:path>
              </a:pathLst>
            </a:custGeom>
            <a:solidFill>
              <a:srgbClr val="014AAB"/>
            </a:solidFill>
            <a:ln cap="rnd">
              <a:noFill/>
              <a:prstDash val="solid"/>
              <a:round/>
            </a:ln>
          </p:spPr>
        </p:sp>
        <p:sp>
          <p:nvSpPr>
            <p:cNvPr name="TextBox 22" id="22"/>
            <p:cNvSpPr txBox="true"/>
            <p:nvPr/>
          </p:nvSpPr>
          <p:spPr>
            <a:xfrm>
              <a:off x="0" y="-57150"/>
              <a:ext cx="1475504" cy="300591"/>
            </a:xfrm>
            <a:prstGeom prst="rect">
              <a:avLst/>
            </a:prstGeom>
          </p:spPr>
          <p:txBody>
            <a:bodyPr anchor="ctr" rtlCol="false" tIns="50800" lIns="50800" bIns="50800" rIns="50800"/>
            <a:lstStyle/>
            <a:p>
              <a:pPr algn="ctr" marL="0" indent="0" lvl="0">
                <a:lnSpc>
                  <a:spcPts val="3220"/>
                </a:lnSpc>
              </a:pPr>
            </a:p>
          </p:txBody>
        </p:sp>
      </p:grpSp>
      <p:grpSp>
        <p:nvGrpSpPr>
          <p:cNvPr name="Group 23" id="23"/>
          <p:cNvGrpSpPr/>
          <p:nvPr/>
        </p:nvGrpSpPr>
        <p:grpSpPr>
          <a:xfrm rot="0">
            <a:off x="9431105" y="2357718"/>
            <a:ext cx="4731056" cy="1414331"/>
            <a:chOff x="0" y="0"/>
            <a:chExt cx="1246040" cy="372499"/>
          </a:xfrm>
        </p:grpSpPr>
        <p:sp>
          <p:nvSpPr>
            <p:cNvPr name="Freeform 24" id="24"/>
            <p:cNvSpPr/>
            <p:nvPr/>
          </p:nvSpPr>
          <p:spPr>
            <a:xfrm flipH="false" flipV="false" rot="0">
              <a:off x="0" y="0"/>
              <a:ext cx="1246040" cy="372499"/>
            </a:xfrm>
            <a:custGeom>
              <a:avLst/>
              <a:gdLst/>
              <a:ahLst/>
              <a:cxnLst/>
              <a:rect r="r" b="b" t="t" l="l"/>
              <a:pathLst>
                <a:path h="372499" w="1246040">
                  <a:moveTo>
                    <a:pt x="163640" y="0"/>
                  </a:moveTo>
                  <a:lnTo>
                    <a:pt x="1082399" y="0"/>
                  </a:lnTo>
                  <a:cubicBezTo>
                    <a:pt x="1172775" y="0"/>
                    <a:pt x="1246040" y="73264"/>
                    <a:pt x="1246040" y="163640"/>
                  </a:cubicBezTo>
                  <a:lnTo>
                    <a:pt x="1246040" y="208858"/>
                  </a:lnTo>
                  <a:cubicBezTo>
                    <a:pt x="1246040" y="252258"/>
                    <a:pt x="1228799" y="293881"/>
                    <a:pt x="1198110" y="324569"/>
                  </a:cubicBezTo>
                  <a:cubicBezTo>
                    <a:pt x="1167422" y="355258"/>
                    <a:pt x="1125799" y="372499"/>
                    <a:pt x="1082399" y="372499"/>
                  </a:cubicBezTo>
                  <a:lnTo>
                    <a:pt x="163640" y="372499"/>
                  </a:lnTo>
                  <a:cubicBezTo>
                    <a:pt x="120240" y="372499"/>
                    <a:pt x="78618" y="355258"/>
                    <a:pt x="47929" y="324569"/>
                  </a:cubicBezTo>
                  <a:cubicBezTo>
                    <a:pt x="17241" y="293881"/>
                    <a:pt x="0" y="252258"/>
                    <a:pt x="0" y="208858"/>
                  </a:cubicBezTo>
                  <a:lnTo>
                    <a:pt x="0" y="163640"/>
                  </a:lnTo>
                  <a:cubicBezTo>
                    <a:pt x="0" y="120240"/>
                    <a:pt x="17241" y="78618"/>
                    <a:pt x="47929" y="47929"/>
                  </a:cubicBezTo>
                  <a:cubicBezTo>
                    <a:pt x="78618" y="17241"/>
                    <a:pt x="120240" y="0"/>
                    <a:pt x="163640" y="0"/>
                  </a:cubicBezTo>
                  <a:close/>
                </a:path>
              </a:pathLst>
            </a:custGeom>
            <a:solidFill>
              <a:srgbClr val="FFFFFF"/>
            </a:solidFill>
            <a:ln w="38100" cap="rnd">
              <a:solidFill>
                <a:srgbClr val="014AAB"/>
              </a:solidFill>
              <a:prstDash val="solid"/>
              <a:round/>
            </a:ln>
          </p:spPr>
        </p:sp>
        <p:sp>
          <p:nvSpPr>
            <p:cNvPr name="TextBox 25" id="25"/>
            <p:cNvSpPr txBox="true"/>
            <p:nvPr/>
          </p:nvSpPr>
          <p:spPr>
            <a:xfrm>
              <a:off x="0" y="-57150"/>
              <a:ext cx="1246040" cy="429649"/>
            </a:xfrm>
            <a:prstGeom prst="rect">
              <a:avLst/>
            </a:prstGeom>
          </p:spPr>
          <p:txBody>
            <a:bodyPr anchor="ctr" rtlCol="false" tIns="50800" lIns="50800" bIns="50800" rIns="50800"/>
            <a:lstStyle/>
            <a:p>
              <a:pPr algn="ctr" marL="0" indent="0" lvl="0">
                <a:lnSpc>
                  <a:spcPts val="3220"/>
                </a:lnSpc>
              </a:pPr>
            </a:p>
          </p:txBody>
        </p:sp>
      </p:grpSp>
      <p:grpSp>
        <p:nvGrpSpPr>
          <p:cNvPr name="Group 26" id="26"/>
          <p:cNvGrpSpPr/>
          <p:nvPr/>
        </p:nvGrpSpPr>
        <p:grpSpPr>
          <a:xfrm rot="0">
            <a:off x="8721658" y="2259882"/>
            <a:ext cx="1209779" cy="1209779"/>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4AAB"/>
            </a:solidFill>
          </p:spPr>
        </p:sp>
        <p:sp>
          <p:nvSpPr>
            <p:cNvPr name="TextBox 28" id="28"/>
            <p:cNvSpPr txBox="true"/>
            <p:nvPr/>
          </p:nvSpPr>
          <p:spPr>
            <a:xfrm>
              <a:off x="76200" y="19050"/>
              <a:ext cx="660400" cy="717550"/>
            </a:xfrm>
            <a:prstGeom prst="rect">
              <a:avLst/>
            </a:prstGeom>
          </p:spPr>
          <p:txBody>
            <a:bodyPr anchor="ctr" rtlCol="false" tIns="50800" lIns="50800" bIns="50800" rIns="50800"/>
            <a:lstStyle/>
            <a:p>
              <a:pPr algn="ctr" marL="0" indent="0" lvl="0">
                <a:lnSpc>
                  <a:spcPts val="3220"/>
                </a:lnSpc>
              </a:pPr>
            </a:p>
          </p:txBody>
        </p:sp>
      </p:grpSp>
      <p:sp>
        <p:nvSpPr>
          <p:cNvPr name="Freeform 29" id="29"/>
          <p:cNvSpPr/>
          <p:nvPr/>
        </p:nvSpPr>
        <p:spPr>
          <a:xfrm flipH="false" flipV="false" rot="0">
            <a:off x="15545340" y="9258300"/>
            <a:ext cx="1211471" cy="200443"/>
          </a:xfrm>
          <a:custGeom>
            <a:avLst/>
            <a:gdLst/>
            <a:ahLst/>
            <a:cxnLst/>
            <a:rect r="r" b="b" t="t" l="l"/>
            <a:pathLst>
              <a:path h="200443" w="1211471">
                <a:moveTo>
                  <a:pt x="0" y="0"/>
                </a:moveTo>
                <a:lnTo>
                  <a:pt x="1211472" y="0"/>
                </a:lnTo>
                <a:lnTo>
                  <a:pt x="1211472" y="200443"/>
                </a:lnTo>
                <a:lnTo>
                  <a:pt x="0" y="20044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0" id="30"/>
          <p:cNvSpPr txBox="true"/>
          <p:nvPr/>
        </p:nvSpPr>
        <p:spPr>
          <a:xfrm rot="0">
            <a:off x="832753" y="8801100"/>
            <a:ext cx="7723773" cy="457200"/>
          </a:xfrm>
          <a:prstGeom prst="rect">
            <a:avLst/>
          </a:prstGeom>
        </p:spPr>
        <p:txBody>
          <a:bodyPr anchor="t" rtlCol="false" tIns="0" lIns="0" bIns="0" rIns="0">
            <a:spAutoFit/>
          </a:bodyPr>
          <a:lstStyle/>
          <a:p>
            <a:pPr algn="l" marL="334061" indent="-167030" lvl="1">
              <a:lnSpc>
                <a:spcPts val="1856"/>
              </a:lnSpc>
              <a:buFont typeface="Arial"/>
              <a:buChar char="•"/>
            </a:pPr>
            <a:r>
              <a:rPr lang="en-US" sz="1547">
                <a:solidFill>
                  <a:srgbClr val="011A3C"/>
                </a:solidFill>
                <a:latin typeface="Nunito"/>
                <a:ea typeface="Nunito"/>
                <a:cs typeface="Nunito"/>
                <a:sym typeface="Nunito"/>
              </a:rPr>
              <a:t>Conectividad Cloud: Ret</a:t>
            </a:r>
            <a:r>
              <a:rPr lang="en-US" sz="1547">
                <a:solidFill>
                  <a:srgbClr val="011A3C"/>
                </a:solidFill>
                <a:latin typeface="Nunito"/>
                <a:ea typeface="Nunito"/>
                <a:cs typeface="Nunito"/>
                <a:sym typeface="Nunito"/>
              </a:rPr>
              <a:t>ransmisión de datos a la nube mediante el protocolo ligero MQTT para optimizar el ancho de banda y lograr un control global.</a:t>
            </a:r>
          </a:p>
        </p:txBody>
      </p:sp>
      <p:grpSp>
        <p:nvGrpSpPr>
          <p:cNvPr name="Group 31" id="31"/>
          <p:cNvGrpSpPr/>
          <p:nvPr/>
        </p:nvGrpSpPr>
        <p:grpSpPr>
          <a:xfrm rot="0">
            <a:off x="8000488" y="-1161592"/>
            <a:ext cx="2287024" cy="2141044"/>
            <a:chOff x="0" y="0"/>
            <a:chExt cx="596900" cy="558800"/>
          </a:xfrm>
        </p:grpSpPr>
        <p:sp>
          <p:nvSpPr>
            <p:cNvPr name="Freeform 32" id="32"/>
            <p:cNvSpPr/>
            <p:nvPr/>
          </p:nvSpPr>
          <p:spPr>
            <a:xfrm flipH="false" flipV="false" rot="0">
              <a:off x="0" y="0"/>
              <a:ext cx="596900" cy="558800"/>
            </a:xfrm>
            <a:custGeom>
              <a:avLst/>
              <a:gdLst/>
              <a:ahLst/>
              <a:cxnLst/>
              <a:rect r="r" b="b" t="t" l="l"/>
              <a:pathLst>
                <a:path h="558800" w="596900">
                  <a:moveTo>
                    <a:pt x="596900" y="39776"/>
                  </a:moveTo>
                  <a:lnTo>
                    <a:pt x="596900" y="265024"/>
                  </a:lnTo>
                  <a:cubicBezTo>
                    <a:pt x="596900" y="290424"/>
                    <a:pt x="586490" y="314714"/>
                    <a:pt x="568097" y="332231"/>
                  </a:cubicBezTo>
                  <a:lnTo>
                    <a:pt x="359003" y="531369"/>
                  </a:lnTo>
                  <a:cubicBezTo>
                    <a:pt x="340513" y="548978"/>
                    <a:pt x="315958" y="558800"/>
                    <a:pt x="290424" y="558800"/>
                  </a:cubicBezTo>
                  <a:lnTo>
                    <a:pt x="39776" y="558800"/>
                  </a:lnTo>
                  <a:cubicBezTo>
                    <a:pt x="29226" y="558800"/>
                    <a:pt x="19109" y="554609"/>
                    <a:pt x="11650" y="547150"/>
                  </a:cubicBezTo>
                  <a:cubicBezTo>
                    <a:pt x="4191" y="539691"/>
                    <a:pt x="0" y="529574"/>
                    <a:pt x="0" y="519024"/>
                  </a:cubicBezTo>
                  <a:lnTo>
                    <a:pt x="0" y="288696"/>
                  </a:lnTo>
                  <a:cubicBezTo>
                    <a:pt x="0" y="263304"/>
                    <a:pt x="10445" y="239030"/>
                    <a:pt x="28882" y="221572"/>
                  </a:cubicBezTo>
                  <a:lnTo>
                    <a:pt x="234008" y="27348"/>
                  </a:lnTo>
                  <a:cubicBezTo>
                    <a:pt x="252554" y="9787"/>
                    <a:pt x="277124" y="0"/>
                    <a:pt x="302666" y="0"/>
                  </a:cubicBezTo>
                  <a:lnTo>
                    <a:pt x="557124" y="0"/>
                  </a:lnTo>
                  <a:cubicBezTo>
                    <a:pt x="567674" y="0"/>
                    <a:pt x="577791" y="4191"/>
                    <a:pt x="585250" y="11650"/>
                  </a:cubicBezTo>
                  <a:cubicBezTo>
                    <a:pt x="592709" y="19109"/>
                    <a:pt x="596900" y="29226"/>
                    <a:pt x="596900" y="39776"/>
                  </a:cubicBezTo>
                  <a:close/>
                </a:path>
              </a:pathLst>
            </a:custGeom>
            <a:solidFill>
              <a:srgbClr val="014AAB"/>
            </a:solidFill>
          </p:spPr>
        </p:sp>
        <p:sp>
          <p:nvSpPr>
            <p:cNvPr name="TextBox 33" id="33"/>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sp>
        <p:nvSpPr>
          <p:cNvPr name="Freeform 34" id="34"/>
          <p:cNvSpPr/>
          <p:nvPr/>
        </p:nvSpPr>
        <p:spPr>
          <a:xfrm flipH="false" flipV="false" rot="0">
            <a:off x="338039" y="487933"/>
            <a:ext cx="1211471" cy="200443"/>
          </a:xfrm>
          <a:custGeom>
            <a:avLst/>
            <a:gdLst/>
            <a:ahLst/>
            <a:cxnLst/>
            <a:rect r="r" b="b" t="t" l="l"/>
            <a:pathLst>
              <a:path h="200443" w="1211471">
                <a:moveTo>
                  <a:pt x="0" y="0"/>
                </a:moveTo>
                <a:lnTo>
                  <a:pt x="1211471" y="0"/>
                </a:lnTo>
                <a:lnTo>
                  <a:pt x="1211471" y="200443"/>
                </a:lnTo>
                <a:lnTo>
                  <a:pt x="0" y="20044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5" id="35"/>
          <p:cNvSpPr/>
          <p:nvPr/>
        </p:nvSpPr>
        <p:spPr>
          <a:xfrm flipH="true" flipV="true" rot="0">
            <a:off x="0" y="9154188"/>
            <a:ext cx="1145306" cy="1132812"/>
          </a:xfrm>
          <a:custGeom>
            <a:avLst/>
            <a:gdLst/>
            <a:ahLst/>
            <a:cxnLst/>
            <a:rect r="r" b="b" t="t" l="l"/>
            <a:pathLst>
              <a:path h="1132812" w="1145306">
                <a:moveTo>
                  <a:pt x="1145306" y="1132812"/>
                </a:moveTo>
                <a:lnTo>
                  <a:pt x="0" y="1132812"/>
                </a:lnTo>
                <a:lnTo>
                  <a:pt x="0" y="0"/>
                </a:lnTo>
                <a:lnTo>
                  <a:pt x="1145306" y="0"/>
                </a:lnTo>
                <a:lnTo>
                  <a:pt x="1145306" y="113281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6" id="36"/>
          <p:cNvSpPr txBox="true"/>
          <p:nvPr/>
        </p:nvSpPr>
        <p:spPr>
          <a:xfrm rot="0">
            <a:off x="819469" y="6508663"/>
            <a:ext cx="5615588" cy="455343"/>
          </a:xfrm>
          <a:prstGeom prst="rect">
            <a:avLst/>
          </a:prstGeom>
        </p:spPr>
        <p:txBody>
          <a:bodyPr anchor="t" rtlCol="false" tIns="0" lIns="0" bIns="0" rIns="0">
            <a:spAutoFit/>
          </a:bodyPr>
          <a:lstStyle/>
          <a:p>
            <a:pPr algn="ctr" marL="0" indent="0" lvl="0">
              <a:lnSpc>
                <a:spcPts val="3777"/>
              </a:lnSpc>
            </a:pPr>
            <a:r>
              <a:rPr lang="en-US" b="true" sz="2698">
                <a:solidFill>
                  <a:srgbClr val="FFFFFF"/>
                </a:solidFill>
                <a:latin typeface="Nunito Semi-Bold"/>
                <a:ea typeface="Nunito Semi-Bold"/>
                <a:cs typeface="Nunito Semi-Bold"/>
                <a:sym typeface="Nunito Semi-Bold"/>
              </a:rPr>
              <a:t>D</a:t>
            </a:r>
            <a:r>
              <a:rPr lang="en-US" b="true" sz="2698">
                <a:solidFill>
                  <a:srgbClr val="FFFFFF"/>
                </a:solidFill>
                <a:latin typeface="Nunito Semi-Bold"/>
                <a:ea typeface="Nunito Semi-Bold"/>
                <a:cs typeface="Nunito Semi-Bold"/>
                <a:sym typeface="Nunito Semi-Bold"/>
              </a:rPr>
              <a:t>espliegue de Edge Computing</a:t>
            </a:r>
          </a:p>
        </p:txBody>
      </p:sp>
      <p:sp>
        <p:nvSpPr>
          <p:cNvPr name="TextBox 37" id="37"/>
          <p:cNvSpPr txBox="true"/>
          <p:nvPr/>
        </p:nvSpPr>
        <p:spPr>
          <a:xfrm rot="0">
            <a:off x="10063655" y="2629840"/>
            <a:ext cx="3723907" cy="931593"/>
          </a:xfrm>
          <a:prstGeom prst="rect">
            <a:avLst/>
          </a:prstGeom>
        </p:spPr>
        <p:txBody>
          <a:bodyPr anchor="t" rtlCol="false" tIns="0" lIns="0" bIns="0" rIns="0">
            <a:spAutoFit/>
          </a:bodyPr>
          <a:lstStyle/>
          <a:p>
            <a:pPr algn="l" marL="0" indent="0" lvl="0">
              <a:lnSpc>
                <a:spcPts val="3777"/>
              </a:lnSpc>
            </a:pPr>
            <a:r>
              <a:rPr lang="en-US" b="true" sz="2698">
                <a:solidFill>
                  <a:srgbClr val="011A3C"/>
                </a:solidFill>
                <a:latin typeface="Nunito Semi-Bold"/>
                <a:ea typeface="Nunito Semi-Bold"/>
                <a:cs typeface="Nunito Semi-Bold"/>
                <a:sym typeface="Nunito Semi-Bold"/>
              </a:rPr>
              <a:t>Inteligenci</a:t>
            </a:r>
            <a:r>
              <a:rPr lang="en-US" b="true" sz="2698">
                <a:solidFill>
                  <a:srgbClr val="011A3C"/>
                </a:solidFill>
                <a:latin typeface="Nunito Semi-Bold"/>
                <a:ea typeface="Nunito Semi-Bold"/>
                <a:cs typeface="Nunito Semi-Bold"/>
                <a:sym typeface="Nunito Semi-Bold"/>
              </a:rPr>
              <a:t>a Artificial y TinyML</a:t>
            </a:r>
          </a:p>
        </p:txBody>
      </p:sp>
      <p:sp>
        <p:nvSpPr>
          <p:cNvPr name="TextBox 38" id="38"/>
          <p:cNvSpPr txBox="true"/>
          <p:nvPr/>
        </p:nvSpPr>
        <p:spPr>
          <a:xfrm rot="0">
            <a:off x="819469" y="7490783"/>
            <a:ext cx="7723773" cy="457200"/>
          </a:xfrm>
          <a:prstGeom prst="rect">
            <a:avLst/>
          </a:prstGeom>
        </p:spPr>
        <p:txBody>
          <a:bodyPr anchor="t" rtlCol="false" tIns="0" lIns="0" bIns="0" rIns="0">
            <a:spAutoFit/>
          </a:bodyPr>
          <a:lstStyle/>
          <a:p>
            <a:pPr algn="l" marL="334061" indent="-167030" lvl="1">
              <a:lnSpc>
                <a:spcPts val="1856"/>
              </a:lnSpc>
              <a:buFont typeface="Arial"/>
              <a:buChar char="•"/>
            </a:pPr>
            <a:r>
              <a:rPr lang="en-US" sz="1547">
                <a:solidFill>
                  <a:srgbClr val="011A3C"/>
                </a:solidFill>
                <a:latin typeface="Nunito"/>
                <a:ea typeface="Nunito"/>
                <a:cs typeface="Nunito"/>
                <a:sym typeface="Nunito"/>
              </a:rPr>
              <a:t>P</a:t>
            </a:r>
            <a:r>
              <a:rPr lang="en-US" sz="1547">
                <a:solidFill>
                  <a:srgbClr val="011A3C"/>
                </a:solidFill>
                <a:latin typeface="Nunito"/>
                <a:ea typeface="Nunito"/>
                <a:cs typeface="Nunito"/>
                <a:sym typeface="Nunito"/>
              </a:rPr>
              <a:t>rocesamiento Local: El microcontrolador ATmega328P procesa señales y toma decisiones en tiempo real en el perímetro (nodo local).</a:t>
            </a:r>
          </a:p>
        </p:txBody>
      </p:sp>
      <p:sp>
        <p:nvSpPr>
          <p:cNvPr name="TextBox 39" id="39"/>
          <p:cNvSpPr txBox="true"/>
          <p:nvPr/>
        </p:nvSpPr>
        <p:spPr>
          <a:xfrm rot="0">
            <a:off x="819469" y="8233014"/>
            <a:ext cx="7723773" cy="228600"/>
          </a:xfrm>
          <a:prstGeom prst="rect">
            <a:avLst/>
          </a:prstGeom>
        </p:spPr>
        <p:txBody>
          <a:bodyPr anchor="t" rtlCol="false" tIns="0" lIns="0" bIns="0" rIns="0">
            <a:spAutoFit/>
          </a:bodyPr>
          <a:lstStyle/>
          <a:p>
            <a:pPr algn="l" marL="334061" indent="-167030" lvl="1">
              <a:lnSpc>
                <a:spcPts val="1856"/>
              </a:lnSpc>
              <a:buFont typeface="Arial"/>
              <a:buChar char="•"/>
            </a:pPr>
            <a:r>
              <a:rPr lang="en-US" sz="1547">
                <a:solidFill>
                  <a:srgbClr val="011A3C"/>
                </a:solidFill>
                <a:latin typeface="Nunito"/>
                <a:ea typeface="Nunito"/>
                <a:cs typeface="Nunito"/>
                <a:sym typeface="Nunito"/>
              </a:rPr>
              <a:t>Escalab</a:t>
            </a:r>
            <a:r>
              <a:rPr lang="en-US" sz="1547">
                <a:solidFill>
                  <a:srgbClr val="011A3C"/>
                </a:solidFill>
                <a:latin typeface="Nunito"/>
                <a:ea typeface="Nunito"/>
                <a:cs typeface="Nunito"/>
                <a:sym typeface="Nunito"/>
              </a:rPr>
              <a:t>ilidad Futura: Sustitución/complemento del HC-05 por un Gateway ESP32.</a:t>
            </a:r>
          </a:p>
        </p:txBody>
      </p:sp>
      <p:sp>
        <p:nvSpPr>
          <p:cNvPr name="TextBox 40" id="40"/>
          <p:cNvSpPr txBox="true"/>
          <p:nvPr/>
        </p:nvSpPr>
        <p:spPr>
          <a:xfrm rot="0">
            <a:off x="10779400" y="4340873"/>
            <a:ext cx="4583749" cy="685800"/>
          </a:xfrm>
          <a:prstGeom prst="rect">
            <a:avLst/>
          </a:prstGeom>
        </p:spPr>
        <p:txBody>
          <a:bodyPr anchor="t" rtlCol="false" tIns="0" lIns="0" bIns="0" rIns="0">
            <a:spAutoFit/>
          </a:bodyPr>
          <a:lstStyle/>
          <a:p>
            <a:pPr algn="l" marL="334061" indent="-167030" lvl="1">
              <a:lnSpc>
                <a:spcPts val="1856"/>
              </a:lnSpc>
              <a:buFont typeface="Arial"/>
              <a:buChar char="•"/>
            </a:pPr>
            <a:r>
              <a:rPr lang="en-US" sz="1547">
                <a:solidFill>
                  <a:srgbClr val="011A3C"/>
                </a:solidFill>
                <a:latin typeface="Nunito"/>
                <a:ea typeface="Nunito"/>
                <a:cs typeface="Nunito"/>
                <a:sym typeface="Nunito"/>
              </a:rPr>
              <a:t>Core del Modelo: Integración de Inteligencia Artificial local mediante TensorFlow Lite for Microcontrollers (TinyML).</a:t>
            </a:r>
          </a:p>
        </p:txBody>
      </p:sp>
      <p:sp>
        <p:nvSpPr>
          <p:cNvPr name="TextBox 41" id="41"/>
          <p:cNvSpPr txBox="true"/>
          <p:nvPr/>
        </p:nvSpPr>
        <p:spPr>
          <a:xfrm rot="0">
            <a:off x="10779400" y="5520273"/>
            <a:ext cx="4583749" cy="457200"/>
          </a:xfrm>
          <a:prstGeom prst="rect">
            <a:avLst/>
          </a:prstGeom>
        </p:spPr>
        <p:txBody>
          <a:bodyPr anchor="t" rtlCol="false" tIns="0" lIns="0" bIns="0" rIns="0">
            <a:spAutoFit/>
          </a:bodyPr>
          <a:lstStyle/>
          <a:p>
            <a:pPr algn="l" marL="334061" indent="-167030" lvl="1">
              <a:lnSpc>
                <a:spcPts val="1856"/>
              </a:lnSpc>
              <a:buFont typeface="Arial"/>
              <a:buChar char="•"/>
            </a:pPr>
            <a:r>
              <a:rPr lang="en-US" sz="1547">
                <a:solidFill>
                  <a:srgbClr val="011A3C"/>
                </a:solidFill>
                <a:latin typeface="Nunito"/>
                <a:ea typeface="Nunito"/>
                <a:cs typeface="Nunito"/>
                <a:sym typeface="Nunito"/>
              </a:rPr>
              <a:t>Aplicac</a:t>
            </a:r>
            <a:r>
              <a:rPr lang="en-US" sz="1547">
                <a:solidFill>
                  <a:srgbClr val="011A3C"/>
                </a:solidFill>
                <a:latin typeface="Nunito"/>
                <a:ea typeface="Nunito"/>
                <a:cs typeface="Nunito"/>
                <a:sym typeface="Nunito"/>
              </a:rPr>
              <a:t>ión: Análisis del consumo eléctrico del motor DC de la bomba de agua.</a:t>
            </a:r>
          </a:p>
        </p:txBody>
      </p:sp>
      <p:sp>
        <p:nvSpPr>
          <p:cNvPr name="TextBox 42" id="42"/>
          <p:cNvSpPr txBox="true"/>
          <p:nvPr/>
        </p:nvSpPr>
        <p:spPr>
          <a:xfrm rot="0">
            <a:off x="10779400" y="6472773"/>
            <a:ext cx="4583749" cy="914400"/>
          </a:xfrm>
          <a:prstGeom prst="rect">
            <a:avLst/>
          </a:prstGeom>
        </p:spPr>
        <p:txBody>
          <a:bodyPr anchor="t" rtlCol="false" tIns="0" lIns="0" bIns="0" rIns="0">
            <a:spAutoFit/>
          </a:bodyPr>
          <a:lstStyle/>
          <a:p>
            <a:pPr algn="l" marL="334061" indent="-167030" lvl="1">
              <a:lnSpc>
                <a:spcPts val="1856"/>
              </a:lnSpc>
              <a:buFont typeface="Arial"/>
              <a:buChar char="•"/>
            </a:pPr>
            <a:r>
              <a:rPr lang="en-US" sz="1547">
                <a:solidFill>
                  <a:srgbClr val="011A3C"/>
                </a:solidFill>
                <a:latin typeface="Nunito"/>
                <a:ea typeface="Nunito"/>
                <a:cs typeface="Nunito"/>
                <a:sym typeface="Nunito"/>
              </a:rPr>
              <a:t>Mant</a:t>
            </a:r>
            <a:r>
              <a:rPr lang="en-US" sz="1547">
                <a:solidFill>
                  <a:srgbClr val="011A3C"/>
                </a:solidFill>
                <a:latin typeface="Nunito"/>
                <a:ea typeface="Nunito"/>
                <a:cs typeface="Nunito"/>
                <a:sym typeface="Nunito"/>
              </a:rPr>
              <a:t>enimiento Predictivo: Detección inteligente de patrones de corriente anómalos para predecir bloqueos mecánicos antes de que ocurra una falla crítica en el sistema.</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12701448" y="-2614982"/>
            <a:ext cx="5586552" cy="5229964"/>
            <a:chOff x="0" y="0"/>
            <a:chExt cx="596900" cy="558800"/>
          </a:xfrm>
        </p:grpSpPr>
        <p:sp>
          <p:nvSpPr>
            <p:cNvPr name="Freeform 3" id="3"/>
            <p:cNvSpPr/>
            <p:nvPr/>
          </p:nvSpPr>
          <p:spPr>
            <a:xfrm flipH="false" flipV="false" rot="0">
              <a:off x="0" y="0"/>
              <a:ext cx="596900" cy="558800"/>
            </a:xfrm>
            <a:custGeom>
              <a:avLst/>
              <a:gdLst/>
              <a:ahLst/>
              <a:cxnLst/>
              <a:rect r="r" b="b" t="t" l="l"/>
              <a:pathLst>
                <a:path h="558800" w="596900">
                  <a:moveTo>
                    <a:pt x="596900" y="16283"/>
                  </a:moveTo>
                  <a:lnTo>
                    <a:pt x="596900" y="288517"/>
                  </a:lnTo>
                  <a:cubicBezTo>
                    <a:pt x="596900" y="298915"/>
                    <a:pt x="592638" y="308859"/>
                    <a:pt x="585109" y="316030"/>
                  </a:cubicBezTo>
                  <a:lnTo>
                    <a:pt x="341991" y="547570"/>
                  </a:lnTo>
                  <a:cubicBezTo>
                    <a:pt x="334422" y="554779"/>
                    <a:pt x="324370" y="558800"/>
                    <a:pt x="313917" y="558800"/>
                  </a:cubicBezTo>
                  <a:lnTo>
                    <a:pt x="16283" y="558800"/>
                  </a:lnTo>
                  <a:cubicBezTo>
                    <a:pt x="7290" y="558800"/>
                    <a:pt x="0" y="551510"/>
                    <a:pt x="0" y="542517"/>
                  </a:cubicBezTo>
                  <a:lnTo>
                    <a:pt x="0" y="265203"/>
                  </a:lnTo>
                  <a:cubicBezTo>
                    <a:pt x="0" y="254809"/>
                    <a:pt x="4276" y="244871"/>
                    <a:pt x="11824" y="237724"/>
                  </a:cubicBezTo>
                  <a:lnTo>
                    <a:pt x="251066" y="11196"/>
                  </a:lnTo>
                  <a:cubicBezTo>
                    <a:pt x="258659" y="4007"/>
                    <a:pt x="268717" y="0"/>
                    <a:pt x="279173" y="0"/>
                  </a:cubicBezTo>
                  <a:lnTo>
                    <a:pt x="580617" y="0"/>
                  </a:lnTo>
                  <a:cubicBezTo>
                    <a:pt x="589610" y="0"/>
                    <a:pt x="596900" y="7290"/>
                    <a:pt x="596900" y="16283"/>
                  </a:cubicBezTo>
                  <a:close/>
                </a:path>
              </a:pathLst>
            </a:custGeom>
            <a:solidFill>
              <a:srgbClr val="014AAB">
                <a:alpha val="5882"/>
              </a:srgbClr>
            </a:solidFill>
          </p:spPr>
        </p:sp>
        <p:sp>
          <p:nvSpPr>
            <p:cNvPr name="TextBox 4" id="4"/>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5" id="5"/>
          <p:cNvGrpSpPr/>
          <p:nvPr/>
        </p:nvGrpSpPr>
        <p:grpSpPr>
          <a:xfrm rot="-5400000">
            <a:off x="-1887473" y="-903045"/>
            <a:ext cx="5586552" cy="5229964"/>
            <a:chOff x="0" y="0"/>
            <a:chExt cx="596900" cy="558800"/>
          </a:xfrm>
        </p:grpSpPr>
        <p:sp>
          <p:nvSpPr>
            <p:cNvPr name="Freeform 6" id="6"/>
            <p:cNvSpPr/>
            <p:nvPr/>
          </p:nvSpPr>
          <p:spPr>
            <a:xfrm flipH="false" flipV="false" rot="0">
              <a:off x="0" y="0"/>
              <a:ext cx="596900" cy="558800"/>
            </a:xfrm>
            <a:custGeom>
              <a:avLst/>
              <a:gdLst/>
              <a:ahLst/>
              <a:cxnLst/>
              <a:rect r="r" b="b" t="t" l="l"/>
              <a:pathLst>
                <a:path h="558800" w="596900">
                  <a:moveTo>
                    <a:pt x="596900" y="16283"/>
                  </a:moveTo>
                  <a:lnTo>
                    <a:pt x="596900" y="288517"/>
                  </a:lnTo>
                  <a:cubicBezTo>
                    <a:pt x="596900" y="298915"/>
                    <a:pt x="592638" y="308859"/>
                    <a:pt x="585109" y="316030"/>
                  </a:cubicBezTo>
                  <a:lnTo>
                    <a:pt x="341991" y="547570"/>
                  </a:lnTo>
                  <a:cubicBezTo>
                    <a:pt x="334422" y="554779"/>
                    <a:pt x="324370" y="558800"/>
                    <a:pt x="313917" y="558800"/>
                  </a:cubicBezTo>
                  <a:lnTo>
                    <a:pt x="16283" y="558800"/>
                  </a:lnTo>
                  <a:cubicBezTo>
                    <a:pt x="7290" y="558800"/>
                    <a:pt x="0" y="551510"/>
                    <a:pt x="0" y="542517"/>
                  </a:cubicBezTo>
                  <a:lnTo>
                    <a:pt x="0" y="265203"/>
                  </a:lnTo>
                  <a:cubicBezTo>
                    <a:pt x="0" y="254809"/>
                    <a:pt x="4276" y="244871"/>
                    <a:pt x="11824" y="237724"/>
                  </a:cubicBezTo>
                  <a:lnTo>
                    <a:pt x="251066" y="11196"/>
                  </a:lnTo>
                  <a:cubicBezTo>
                    <a:pt x="258659" y="4007"/>
                    <a:pt x="268717" y="0"/>
                    <a:pt x="279173" y="0"/>
                  </a:cubicBezTo>
                  <a:lnTo>
                    <a:pt x="580617" y="0"/>
                  </a:lnTo>
                  <a:cubicBezTo>
                    <a:pt x="589610" y="0"/>
                    <a:pt x="596900" y="7290"/>
                    <a:pt x="596900" y="16283"/>
                  </a:cubicBezTo>
                  <a:close/>
                </a:path>
              </a:pathLst>
            </a:custGeom>
            <a:solidFill>
              <a:srgbClr val="014AAB">
                <a:alpha val="5882"/>
              </a:srgbClr>
            </a:solidFill>
          </p:spPr>
        </p:sp>
        <p:sp>
          <p:nvSpPr>
            <p:cNvPr name="TextBox 7" id="7"/>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8" id="8"/>
          <p:cNvGrpSpPr/>
          <p:nvPr/>
        </p:nvGrpSpPr>
        <p:grpSpPr>
          <a:xfrm rot="0">
            <a:off x="-2185303" y="4504771"/>
            <a:ext cx="10433951" cy="9767954"/>
            <a:chOff x="0" y="0"/>
            <a:chExt cx="596900" cy="558800"/>
          </a:xfrm>
        </p:grpSpPr>
        <p:sp>
          <p:nvSpPr>
            <p:cNvPr name="Freeform 9" id="9"/>
            <p:cNvSpPr/>
            <p:nvPr/>
          </p:nvSpPr>
          <p:spPr>
            <a:xfrm flipH="false" flipV="false" rot="0">
              <a:off x="0" y="0"/>
              <a:ext cx="596900" cy="558800"/>
            </a:xfrm>
            <a:custGeom>
              <a:avLst/>
              <a:gdLst/>
              <a:ahLst/>
              <a:cxnLst/>
              <a:rect r="r" b="b" t="t" l="l"/>
              <a:pathLst>
                <a:path h="558800" w="596900">
                  <a:moveTo>
                    <a:pt x="596900" y="17437"/>
                  </a:moveTo>
                  <a:lnTo>
                    <a:pt x="596900" y="287363"/>
                  </a:lnTo>
                  <a:cubicBezTo>
                    <a:pt x="596900" y="298498"/>
                    <a:pt x="592336" y="309146"/>
                    <a:pt x="584273" y="316825"/>
                  </a:cubicBezTo>
                  <a:lnTo>
                    <a:pt x="342827" y="546775"/>
                  </a:lnTo>
                  <a:cubicBezTo>
                    <a:pt x="334721" y="554494"/>
                    <a:pt x="323957" y="558800"/>
                    <a:pt x="312763" y="558800"/>
                  </a:cubicBezTo>
                  <a:lnTo>
                    <a:pt x="17437" y="558800"/>
                  </a:lnTo>
                  <a:cubicBezTo>
                    <a:pt x="7807" y="558800"/>
                    <a:pt x="0" y="550993"/>
                    <a:pt x="0" y="541363"/>
                  </a:cubicBezTo>
                  <a:lnTo>
                    <a:pt x="0" y="266357"/>
                  </a:lnTo>
                  <a:cubicBezTo>
                    <a:pt x="0" y="255226"/>
                    <a:pt x="4579" y="244585"/>
                    <a:pt x="12662" y="236931"/>
                  </a:cubicBezTo>
                  <a:lnTo>
                    <a:pt x="250228" y="11989"/>
                  </a:lnTo>
                  <a:cubicBezTo>
                    <a:pt x="258359" y="4290"/>
                    <a:pt x="269130" y="0"/>
                    <a:pt x="280327" y="0"/>
                  </a:cubicBezTo>
                  <a:lnTo>
                    <a:pt x="579463" y="0"/>
                  </a:lnTo>
                  <a:cubicBezTo>
                    <a:pt x="589093" y="0"/>
                    <a:pt x="596900" y="7807"/>
                    <a:pt x="596900" y="17437"/>
                  </a:cubicBezTo>
                  <a:close/>
                </a:path>
              </a:pathLst>
            </a:custGeom>
            <a:solidFill>
              <a:srgbClr val="014AAB"/>
            </a:solidFill>
          </p:spPr>
        </p:sp>
        <p:sp>
          <p:nvSpPr>
            <p:cNvPr name="TextBox 10" id="10"/>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1" id="11"/>
          <p:cNvGrpSpPr/>
          <p:nvPr/>
        </p:nvGrpSpPr>
        <p:grpSpPr>
          <a:xfrm rot="5400000">
            <a:off x="14333257" y="3352274"/>
            <a:ext cx="10433951" cy="9767954"/>
            <a:chOff x="0" y="0"/>
            <a:chExt cx="596900" cy="558800"/>
          </a:xfrm>
        </p:grpSpPr>
        <p:sp>
          <p:nvSpPr>
            <p:cNvPr name="Freeform 12" id="12"/>
            <p:cNvSpPr/>
            <p:nvPr/>
          </p:nvSpPr>
          <p:spPr>
            <a:xfrm flipH="false" flipV="false" rot="0">
              <a:off x="0" y="0"/>
              <a:ext cx="596900" cy="558800"/>
            </a:xfrm>
            <a:custGeom>
              <a:avLst/>
              <a:gdLst/>
              <a:ahLst/>
              <a:cxnLst/>
              <a:rect r="r" b="b" t="t" l="l"/>
              <a:pathLst>
                <a:path h="558800" w="596900">
                  <a:moveTo>
                    <a:pt x="596900" y="17437"/>
                  </a:moveTo>
                  <a:lnTo>
                    <a:pt x="596900" y="287363"/>
                  </a:lnTo>
                  <a:cubicBezTo>
                    <a:pt x="596900" y="298498"/>
                    <a:pt x="592336" y="309146"/>
                    <a:pt x="584273" y="316825"/>
                  </a:cubicBezTo>
                  <a:lnTo>
                    <a:pt x="342827" y="546775"/>
                  </a:lnTo>
                  <a:cubicBezTo>
                    <a:pt x="334721" y="554494"/>
                    <a:pt x="323957" y="558800"/>
                    <a:pt x="312763" y="558800"/>
                  </a:cubicBezTo>
                  <a:lnTo>
                    <a:pt x="17437" y="558800"/>
                  </a:lnTo>
                  <a:cubicBezTo>
                    <a:pt x="7807" y="558800"/>
                    <a:pt x="0" y="550993"/>
                    <a:pt x="0" y="541363"/>
                  </a:cubicBezTo>
                  <a:lnTo>
                    <a:pt x="0" y="266357"/>
                  </a:lnTo>
                  <a:cubicBezTo>
                    <a:pt x="0" y="255226"/>
                    <a:pt x="4579" y="244585"/>
                    <a:pt x="12662" y="236931"/>
                  </a:cubicBezTo>
                  <a:lnTo>
                    <a:pt x="250228" y="11989"/>
                  </a:lnTo>
                  <a:cubicBezTo>
                    <a:pt x="258359" y="4290"/>
                    <a:pt x="269130" y="0"/>
                    <a:pt x="280327" y="0"/>
                  </a:cubicBezTo>
                  <a:lnTo>
                    <a:pt x="579463" y="0"/>
                  </a:lnTo>
                  <a:cubicBezTo>
                    <a:pt x="589093" y="0"/>
                    <a:pt x="596900" y="7807"/>
                    <a:pt x="596900" y="17437"/>
                  </a:cubicBezTo>
                  <a:close/>
                </a:path>
              </a:pathLst>
            </a:custGeom>
            <a:solidFill>
              <a:srgbClr val="8DABD2"/>
            </a:solidFill>
          </p:spPr>
        </p:sp>
        <p:sp>
          <p:nvSpPr>
            <p:cNvPr name="TextBox 13" id="13"/>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4" id="14"/>
          <p:cNvGrpSpPr/>
          <p:nvPr/>
        </p:nvGrpSpPr>
        <p:grpSpPr>
          <a:xfrm rot="0">
            <a:off x="1028700" y="3423573"/>
            <a:ext cx="16230600" cy="6170299"/>
            <a:chOff x="0" y="0"/>
            <a:chExt cx="4274726" cy="1625099"/>
          </a:xfrm>
        </p:grpSpPr>
        <p:sp>
          <p:nvSpPr>
            <p:cNvPr name="Freeform 15" id="15"/>
            <p:cNvSpPr/>
            <p:nvPr/>
          </p:nvSpPr>
          <p:spPr>
            <a:xfrm flipH="false" flipV="false" rot="0">
              <a:off x="0" y="0"/>
              <a:ext cx="4274726" cy="1625099"/>
            </a:xfrm>
            <a:custGeom>
              <a:avLst/>
              <a:gdLst/>
              <a:ahLst/>
              <a:cxnLst/>
              <a:rect r="r" b="b" t="t" l="l"/>
              <a:pathLst>
                <a:path h="1625099" w="4274726">
                  <a:moveTo>
                    <a:pt x="20988" y="0"/>
                  </a:moveTo>
                  <a:lnTo>
                    <a:pt x="4253738" y="0"/>
                  </a:lnTo>
                  <a:cubicBezTo>
                    <a:pt x="4265329" y="0"/>
                    <a:pt x="4274726" y="9397"/>
                    <a:pt x="4274726" y="20988"/>
                  </a:cubicBezTo>
                  <a:lnTo>
                    <a:pt x="4274726" y="1604112"/>
                  </a:lnTo>
                  <a:cubicBezTo>
                    <a:pt x="4274726" y="1609678"/>
                    <a:pt x="4272515" y="1615016"/>
                    <a:pt x="4268579" y="1618952"/>
                  </a:cubicBezTo>
                  <a:cubicBezTo>
                    <a:pt x="4264643" y="1622888"/>
                    <a:pt x="4259304" y="1625099"/>
                    <a:pt x="4253738" y="1625099"/>
                  </a:cubicBezTo>
                  <a:lnTo>
                    <a:pt x="20988" y="1625099"/>
                  </a:lnTo>
                  <a:cubicBezTo>
                    <a:pt x="9397" y="1625099"/>
                    <a:pt x="0" y="1615703"/>
                    <a:pt x="0" y="1604112"/>
                  </a:cubicBezTo>
                  <a:lnTo>
                    <a:pt x="0" y="20988"/>
                  </a:lnTo>
                  <a:cubicBezTo>
                    <a:pt x="0" y="9397"/>
                    <a:pt x="9397" y="0"/>
                    <a:pt x="20988" y="0"/>
                  </a:cubicBezTo>
                  <a:close/>
                </a:path>
              </a:pathLst>
            </a:custGeom>
            <a:solidFill>
              <a:srgbClr val="FFFFFF"/>
            </a:solidFill>
          </p:spPr>
        </p:sp>
        <p:sp>
          <p:nvSpPr>
            <p:cNvPr name="TextBox 16" id="16"/>
            <p:cNvSpPr txBox="true"/>
            <p:nvPr/>
          </p:nvSpPr>
          <p:spPr>
            <a:xfrm>
              <a:off x="0" y="-57150"/>
              <a:ext cx="4274726" cy="1682249"/>
            </a:xfrm>
            <a:prstGeom prst="rect">
              <a:avLst/>
            </a:prstGeom>
          </p:spPr>
          <p:txBody>
            <a:bodyPr anchor="ctr" rtlCol="false" tIns="50800" lIns="50800" bIns="50800" rIns="50800"/>
            <a:lstStyle/>
            <a:p>
              <a:pPr algn="ctr" marL="0" indent="0" lvl="0">
                <a:lnSpc>
                  <a:spcPts val="3220"/>
                </a:lnSpc>
              </a:pPr>
            </a:p>
          </p:txBody>
        </p:sp>
      </p:grpSp>
      <p:sp>
        <p:nvSpPr>
          <p:cNvPr name="AutoShape 17" id="17"/>
          <p:cNvSpPr/>
          <p:nvPr/>
        </p:nvSpPr>
        <p:spPr>
          <a:xfrm flipV="true">
            <a:off x="6064121" y="3069287"/>
            <a:ext cx="6159759" cy="0"/>
          </a:xfrm>
          <a:prstGeom prst="line">
            <a:avLst/>
          </a:prstGeom>
          <a:ln cap="rnd" w="38100">
            <a:solidFill>
              <a:srgbClr val="8DABD2"/>
            </a:solidFill>
            <a:prstDash val="solid"/>
            <a:headEnd type="none" len="sm" w="sm"/>
            <a:tailEnd type="none" len="sm" w="sm"/>
          </a:ln>
        </p:spPr>
      </p:sp>
      <p:grpSp>
        <p:nvGrpSpPr>
          <p:cNvPr name="Group 18" id="18"/>
          <p:cNvGrpSpPr/>
          <p:nvPr/>
        </p:nvGrpSpPr>
        <p:grpSpPr>
          <a:xfrm rot="0">
            <a:off x="1690366" y="3975908"/>
            <a:ext cx="6244109" cy="1014107"/>
            <a:chOff x="0" y="0"/>
            <a:chExt cx="1644539" cy="267090"/>
          </a:xfrm>
        </p:grpSpPr>
        <p:sp>
          <p:nvSpPr>
            <p:cNvPr name="Freeform 19" id="19"/>
            <p:cNvSpPr/>
            <p:nvPr/>
          </p:nvSpPr>
          <p:spPr>
            <a:xfrm flipH="false" flipV="false" rot="0">
              <a:off x="0" y="0"/>
              <a:ext cx="1644539" cy="267090"/>
            </a:xfrm>
            <a:custGeom>
              <a:avLst/>
              <a:gdLst/>
              <a:ahLst/>
              <a:cxnLst/>
              <a:rect r="r" b="b" t="t" l="l"/>
              <a:pathLst>
                <a:path h="267090" w="1644539">
                  <a:moveTo>
                    <a:pt x="123988" y="0"/>
                  </a:moveTo>
                  <a:lnTo>
                    <a:pt x="1520551" y="0"/>
                  </a:lnTo>
                  <a:cubicBezTo>
                    <a:pt x="1589028" y="0"/>
                    <a:pt x="1644539" y="55511"/>
                    <a:pt x="1644539" y="123988"/>
                  </a:cubicBezTo>
                  <a:lnTo>
                    <a:pt x="1644539" y="143102"/>
                  </a:lnTo>
                  <a:cubicBezTo>
                    <a:pt x="1644539" y="211579"/>
                    <a:pt x="1589028" y="267090"/>
                    <a:pt x="1520551" y="267090"/>
                  </a:cubicBezTo>
                  <a:lnTo>
                    <a:pt x="123988" y="267090"/>
                  </a:lnTo>
                  <a:cubicBezTo>
                    <a:pt x="55511" y="267090"/>
                    <a:pt x="0" y="211579"/>
                    <a:pt x="0" y="143102"/>
                  </a:cubicBezTo>
                  <a:lnTo>
                    <a:pt x="0" y="123988"/>
                  </a:lnTo>
                  <a:cubicBezTo>
                    <a:pt x="0" y="55511"/>
                    <a:pt x="55511" y="0"/>
                    <a:pt x="123988" y="0"/>
                  </a:cubicBezTo>
                  <a:close/>
                </a:path>
              </a:pathLst>
            </a:custGeom>
            <a:solidFill>
              <a:srgbClr val="FFFFFF"/>
            </a:solidFill>
            <a:ln w="38100" cap="rnd">
              <a:solidFill>
                <a:srgbClr val="8DABD2"/>
              </a:solidFill>
              <a:prstDash val="solid"/>
              <a:round/>
            </a:ln>
          </p:spPr>
        </p:sp>
        <p:sp>
          <p:nvSpPr>
            <p:cNvPr name="TextBox 20" id="20"/>
            <p:cNvSpPr txBox="true"/>
            <p:nvPr/>
          </p:nvSpPr>
          <p:spPr>
            <a:xfrm>
              <a:off x="0" y="-57150"/>
              <a:ext cx="1644539" cy="324240"/>
            </a:xfrm>
            <a:prstGeom prst="rect">
              <a:avLst/>
            </a:prstGeom>
          </p:spPr>
          <p:txBody>
            <a:bodyPr anchor="ctr" rtlCol="false" tIns="50800" lIns="50800" bIns="50800" rIns="50800"/>
            <a:lstStyle/>
            <a:p>
              <a:pPr algn="ctr" marL="0" indent="0" lvl="0">
                <a:lnSpc>
                  <a:spcPts val="3220"/>
                </a:lnSpc>
              </a:pPr>
              <a:r>
                <a:rPr lang="en-US" sz="2300">
                  <a:solidFill>
                    <a:srgbClr val="000000"/>
                  </a:solidFill>
                  <a:latin typeface="Poppins Light"/>
                  <a:ea typeface="Poppins Light"/>
                  <a:cs typeface="Poppins Light"/>
                  <a:sym typeface="Poppins Light"/>
                </a:rPr>
                <a:t>Estabilidad de Hardware y Aislamiento</a:t>
              </a:r>
            </a:p>
          </p:txBody>
        </p:sp>
      </p:grpSp>
      <p:sp>
        <p:nvSpPr>
          <p:cNvPr name="TextBox 21" id="21"/>
          <p:cNvSpPr txBox="true"/>
          <p:nvPr/>
        </p:nvSpPr>
        <p:spPr>
          <a:xfrm rot="0">
            <a:off x="3031672" y="1950267"/>
            <a:ext cx="12224655" cy="752103"/>
          </a:xfrm>
          <a:prstGeom prst="rect">
            <a:avLst/>
          </a:prstGeom>
        </p:spPr>
        <p:txBody>
          <a:bodyPr anchor="t" rtlCol="false" tIns="0" lIns="0" bIns="0" rIns="0">
            <a:spAutoFit/>
          </a:bodyPr>
          <a:lstStyle/>
          <a:p>
            <a:pPr algn="ctr" marL="0" indent="0" lvl="0">
              <a:lnSpc>
                <a:spcPts val="5610"/>
              </a:lnSpc>
            </a:pPr>
            <a:r>
              <a:rPr lang="en-US" b="true" sz="5610" spc="112">
                <a:solidFill>
                  <a:srgbClr val="011A3C"/>
                </a:solidFill>
                <a:latin typeface="Gotham Bold"/>
                <a:ea typeface="Gotham Bold"/>
                <a:cs typeface="Gotham Bold"/>
                <a:sym typeface="Gotham Bold"/>
              </a:rPr>
              <a:t>Resultados</a:t>
            </a:r>
          </a:p>
        </p:txBody>
      </p:sp>
      <p:sp>
        <p:nvSpPr>
          <p:cNvPr name="TextBox 22" id="22"/>
          <p:cNvSpPr txBox="true"/>
          <p:nvPr/>
        </p:nvSpPr>
        <p:spPr>
          <a:xfrm rot="0">
            <a:off x="1332406" y="5304341"/>
            <a:ext cx="6825652" cy="4323194"/>
          </a:xfrm>
          <a:prstGeom prst="rect">
            <a:avLst/>
          </a:prstGeom>
        </p:spPr>
        <p:txBody>
          <a:bodyPr anchor="t" rtlCol="false" tIns="0" lIns="0" bIns="0" rIns="0">
            <a:spAutoFit/>
          </a:bodyPr>
          <a:lstStyle/>
          <a:p>
            <a:pPr algn="l" marL="414636" indent="-207318" lvl="1">
              <a:lnSpc>
                <a:spcPts val="2688"/>
              </a:lnSpc>
              <a:buFont typeface="Arial"/>
              <a:buChar char="•"/>
            </a:pPr>
            <a:r>
              <a:rPr lang="en-US" b="true" sz="1920">
                <a:solidFill>
                  <a:srgbClr val="011A3C"/>
                </a:solidFill>
                <a:latin typeface="Nunito Bold"/>
                <a:ea typeface="Nunito Bold"/>
                <a:cs typeface="Nunito Bold"/>
                <a:sym typeface="Nunito Bold"/>
              </a:rPr>
              <a:t>1: Divisor de Tensión (1kΩ y 2kΩ)</a:t>
            </a:r>
          </a:p>
          <a:p>
            <a:pPr algn="l" marL="414636" indent="-207318" lvl="1">
              <a:lnSpc>
                <a:spcPts val="2688"/>
              </a:lnSpc>
              <a:buFont typeface="Arial"/>
              <a:buChar char="•"/>
            </a:pPr>
            <a:r>
              <a:rPr lang="en-US" sz="1920">
                <a:solidFill>
                  <a:srgbClr val="011A3C"/>
                </a:solidFill>
                <a:latin typeface="Nunito"/>
                <a:ea typeface="Nunito"/>
                <a:cs typeface="Nunito"/>
                <a:sym typeface="Nunito"/>
              </a:rPr>
              <a:t>Mantuvo el puerto RXD del módulo HC-05 a 3.3V estables.</a:t>
            </a:r>
          </a:p>
          <a:p>
            <a:pPr algn="l" marL="414636" indent="-207318" lvl="1">
              <a:lnSpc>
                <a:spcPts val="2688"/>
              </a:lnSpc>
              <a:buFont typeface="Arial"/>
              <a:buChar char="•"/>
            </a:pPr>
            <a:r>
              <a:rPr lang="en-US" sz="1920">
                <a:solidFill>
                  <a:srgbClr val="011A3C"/>
                </a:solidFill>
                <a:latin typeface="Nunito"/>
                <a:ea typeface="Nunito"/>
                <a:cs typeface="Nunito"/>
                <a:sym typeface="Nunito"/>
              </a:rPr>
              <a:t>Se protegió con éxito el chip frente a las señales lógicas de 5V emitidas por el ATmega328P.</a:t>
            </a:r>
          </a:p>
          <a:p>
            <a:pPr algn="l">
              <a:lnSpc>
                <a:spcPts val="2688"/>
              </a:lnSpc>
            </a:pPr>
          </a:p>
          <a:p>
            <a:pPr algn="l" marL="414636" indent="-207318" lvl="1">
              <a:lnSpc>
                <a:spcPts val="2688"/>
              </a:lnSpc>
              <a:buFont typeface="Arial"/>
              <a:buChar char="•"/>
            </a:pPr>
            <a:r>
              <a:rPr lang="en-US" b="true" sz="1920">
                <a:solidFill>
                  <a:srgbClr val="011A3C"/>
                </a:solidFill>
                <a:latin typeface="Nunito Bold"/>
                <a:ea typeface="Nunito Bold"/>
                <a:cs typeface="Nunito Bold"/>
                <a:sym typeface="Nunito Bold"/>
              </a:rPr>
              <a:t>2: Aislamiento Galvánico (Relé)</a:t>
            </a:r>
          </a:p>
          <a:p>
            <a:pPr algn="l" marL="414636" indent="-207318" lvl="1">
              <a:lnSpc>
                <a:spcPts val="2688"/>
              </a:lnSpc>
              <a:buFont typeface="Arial"/>
              <a:buChar char="•"/>
            </a:pPr>
            <a:r>
              <a:rPr lang="en-US" sz="1920">
                <a:solidFill>
                  <a:srgbClr val="011A3C"/>
                </a:solidFill>
                <a:latin typeface="Nunito"/>
                <a:ea typeface="Nunito"/>
                <a:cs typeface="Nunito"/>
                <a:sym typeface="Nunito"/>
              </a:rPr>
              <a:t>Separó eficazmente la etapa de control de la etapa de potencia.</a:t>
            </a:r>
          </a:p>
          <a:p>
            <a:pPr algn="l" marL="414636" indent="-207318" lvl="1">
              <a:lnSpc>
                <a:spcPts val="2688"/>
              </a:lnSpc>
              <a:buFont typeface="Arial"/>
              <a:buChar char="•"/>
            </a:pPr>
            <a:r>
              <a:rPr lang="en-US" sz="1920">
                <a:solidFill>
                  <a:srgbClr val="011A3C"/>
                </a:solidFill>
                <a:latin typeface="Nunito"/>
                <a:ea typeface="Nunito"/>
                <a:cs typeface="Nunito"/>
                <a:sym typeface="Nunito"/>
              </a:rPr>
              <a:t>Resultado: Cero caídas de tensión o reinicios en la placa base durante los picos de arranque de la bomba (fuente externa de 9V).</a:t>
            </a:r>
          </a:p>
          <a:p>
            <a:pPr algn="l" marL="0" indent="0" lvl="0">
              <a:lnSpc>
                <a:spcPts val="2688"/>
              </a:lnSpc>
            </a:pPr>
          </a:p>
        </p:txBody>
      </p:sp>
      <p:grpSp>
        <p:nvGrpSpPr>
          <p:cNvPr name="Group 23" id="23"/>
          <p:cNvGrpSpPr/>
          <p:nvPr/>
        </p:nvGrpSpPr>
        <p:grpSpPr>
          <a:xfrm rot="0">
            <a:off x="-954618" y="641415"/>
            <a:ext cx="2287024" cy="2141044"/>
            <a:chOff x="0" y="0"/>
            <a:chExt cx="596900" cy="558800"/>
          </a:xfrm>
        </p:grpSpPr>
        <p:sp>
          <p:nvSpPr>
            <p:cNvPr name="Freeform 24" id="24"/>
            <p:cNvSpPr/>
            <p:nvPr/>
          </p:nvSpPr>
          <p:spPr>
            <a:xfrm flipH="false" flipV="false" rot="0">
              <a:off x="0" y="0"/>
              <a:ext cx="596900" cy="558800"/>
            </a:xfrm>
            <a:custGeom>
              <a:avLst/>
              <a:gdLst/>
              <a:ahLst/>
              <a:cxnLst/>
              <a:rect r="r" b="b" t="t" l="l"/>
              <a:pathLst>
                <a:path h="558800" w="596900">
                  <a:moveTo>
                    <a:pt x="596900" y="39776"/>
                  </a:moveTo>
                  <a:lnTo>
                    <a:pt x="596900" y="265024"/>
                  </a:lnTo>
                  <a:cubicBezTo>
                    <a:pt x="596900" y="290424"/>
                    <a:pt x="586490" y="314714"/>
                    <a:pt x="568097" y="332231"/>
                  </a:cubicBezTo>
                  <a:lnTo>
                    <a:pt x="359003" y="531369"/>
                  </a:lnTo>
                  <a:cubicBezTo>
                    <a:pt x="340513" y="548978"/>
                    <a:pt x="315958" y="558800"/>
                    <a:pt x="290424" y="558800"/>
                  </a:cubicBezTo>
                  <a:lnTo>
                    <a:pt x="39776" y="558800"/>
                  </a:lnTo>
                  <a:cubicBezTo>
                    <a:pt x="29226" y="558800"/>
                    <a:pt x="19109" y="554609"/>
                    <a:pt x="11650" y="547150"/>
                  </a:cubicBezTo>
                  <a:cubicBezTo>
                    <a:pt x="4191" y="539691"/>
                    <a:pt x="0" y="529574"/>
                    <a:pt x="0" y="519024"/>
                  </a:cubicBezTo>
                  <a:lnTo>
                    <a:pt x="0" y="288696"/>
                  </a:lnTo>
                  <a:cubicBezTo>
                    <a:pt x="0" y="263304"/>
                    <a:pt x="10445" y="239030"/>
                    <a:pt x="28882" y="221572"/>
                  </a:cubicBezTo>
                  <a:lnTo>
                    <a:pt x="234008" y="27348"/>
                  </a:lnTo>
                  <a:cubicBezTo>
                    <a:pt x="252554" y="9787"/>
                    <a:pt x="277124" y="0"/>
                    <a:pt x="302666" y="0"/>
                  </a:cubicBezTo>
                  <a:lnTo>
                    <a:pt x="557124" y="0"/>
                  </a:lnTo>
                  <a:cubicBezTo>
                    <a:pt x="567674" y="0"/>
                    <a:pt x="577791" y="4191"/>
                    <a:pt x="585250" y="11650"/>
                  </a:cubicBezTo>
                  <a:cubicBezTo>
                    <a:pt x="592709" y="19109"/>
                    <a:pt x="596900" y="29226"/>
                    <a:pt x="596900" y="39776"/>
                  </a:cubicBezTo>
                  <a:close/>
                </a:path>
              </a:pathLst>
            </a:custGeom>
            <a:solidFill>
              <a:srgbClr val="8DABD2"/>
            </a:solidFill>
          </p:spPr>
        </p:sp>
        <p:sp>
          <p:nvSpPr>
            <p:cNvPr name="TextBox 25" id="25"/>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sp>
        <p:nvSpPr>
          <p:cNvPr name="Freeform 26" id="26"/>
          <p:cNvSpPr/>
          <p:nvPr/>
        </p:nvSpPr>
        <p:spPr>
          <a:xfrm flipH="false" flipV="false" rot="0">
            <a:off x="9046754" y="9610199"/>
            <a:ext cx="1014107" cy="167789"/>
          </a:xfrm>
          <a:custGeom>
            <a:avLst/>
            <a:gdLst/>
            <a:ahLst/>
            <a:cxnLst/>
            <a:rect r="r" b="b" t="t" l="l"/>
            <a:pathLst>
              <a:path h="167789" w="1014107">
                <a:moveTo>
                  <a:pt x="0" y="0"/>
                </a:moveTo>
                <a:lnTo>
                  <a:pt x="1014107" y="0"/>
                </a:lnTo>
                <a:lnTo>
                  <a:pt x="1014107" y="167789"/>
                </a:lnTo>
                <a:lnTo>
                  <a:pt x="0" y="1677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7" id="27"/>
          <p:cNvSpPr/>
          <p:nvPr/>
        </p:nvSpPr>
        <p:spPr>
          <a:xfrm flipH="false" flipV="false" rot="0">
            <a:off x="14100195" y="692058"/>
            <a:ext cx="1211471" cy="200443"/>
          </a:xfrm>
          <a:custGeom>
            <a:avLst/>
            <a:gdLst/>
            <a:ahLst/>
            <a:cxnLst/>
            <a:rect r="r" b="b" t="t" l="l"/>
            <a:pathLst>
              <a:path h="200443" w="1211471">
                <a:moveTo>
                  <a:pt x="0" y="0"/>
                </a:moveTo>
                <a:lnTo>
                  <a:pt x="1211471" y="0"/>
                </a:lnTo>
                <a:lnTo>
                  <a:pt x="1211471" y="200444"/>
                </a:lnTo>
                <a:lnTo>
                  <a:pt x="0" y="2004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8" id="28"/>
          <p:cNvSpPr/>
          <p:nvPr/>
        </p:nvSpPr>
        <p:spPr>
          <a:xfrm flipH="true" flipV="false" rot="0">
            <a:off x="1526322" y="660866"/>
            <a:ext cx="963084" cy="952578"/>
          </a:xfrm>
          <a:custGeom>
            <a:avLst/>
            <a:gdLst/>
            <a:ahLst/>
            <a:cxnLst/>
            <a:rect r="r" b="b" t="t" l="l"/>
            <a:pathLst>
              <a:path h="952578" w="963084">
                <a:moveTo>
                  <a:pt x="963084" y="0"/>
                </a:moveTo>
                <a:lnTo>
                  <a:pt x="0" y="0"/>
                </a:lnTo>
                <a:lnTo>
                  <a:pt x="0" y="952578"/>
                </a:lnTo>
                <a:lnTo>
                  <a:pt x="963084" y="952578"/>
                </a:lnTo>
                <a:lnTo>
                  <a:pt x="963084"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9" id="29"/>
          <p:cNvGrpSpPr/>
          <p:nvPr/>
        </p:nvGrpSpPr>
        <p:grpSpPr>
          <a:xfrm rot="0">
            <a:off x="10060861" y="3975908"/>
            <a:ext cx="6244109" cy="1014107"/>
            <a:chOff x="0" y="0"/>
            <a:chExt cx="1644539" cy="267090"/>
          </a:xfrm>
        </p:grpSpPr>
        <p:sp>
          <p:nvSpPr>
            <p:cNvPr name="Freeform 30" id="30"/>
            <p:cNvSpPr/>
            <p:nvPr/>
          </p:nvSpPr>
          <p:spPr>
            <a:xfrm flipH="false" flipV="false" rot="0">
              <a:off x="0" y="0"/>
              <a:ext cx="1644539" cy="267090"/>
            </a:xfrm>
            <a:custGeom>
              <a:avLst/>
              <a:gdLst/>
              <a:ahLst/>
              <a:cxnLst/>
              <a:rect r="r" b="b" t="t" l="l"/>
              <a:pathLst>
                <a:path h="267090" w="1644539">
                  <a:moveTo>
                    <a:pt x="123988" y="0"/>
                  </a:moveTo>
                  <a:lnTo>
                    <a:pt x="1520551" y="0"/>
                  </a:lnTo>
                  <a:cubicBezTo>
                    <a:pt x="1589028" y="0"/>
                    <a:pt x="1644539" y="55511"/>
                    <a:pt x="1644539" y="123988"/>
                  </a:cubicBezTo>
                  <a:lnTo>
                    <a:pt x="1644539" y="143102"/>
                  </a:lnTo>
                  <a:cubicBezTo>
                    <a:pt x="1644539" y="211579"/>
                    <a:pt x="1589028" y="267090"/>
                    <a:pt x="1520551" y="267090"/>
                  </a:cubicBezTo>
                  <a:lnTo>
                    <a:pt x="123988" y="267090"/>
                  </a:lnTo>
                  <a:cubicBezTo>
                    <a:pt x="55511" y="267090"/>
                    <a:pt x="0" y="211579"/>
                    <a:pt x="0" y="143102"/>
                  </a:cubicBezTo>
                  <a:lnTo>
                    <a:pt x="0" y="123988"/>
                  </a:lnTo>
                  <a:cubicBezTo>
                    <a:pt x="0" y="55511"/>
                    <a:pt x="55511" y="0"/>
                    <a:pt x="123988" y="0"/>
                  </a:cubicBezTo>
                  <a:close/>
                </a:path>
              </a:pathLst>
            </a:custGeom>
            <a:solidFill>
              <a:srgbClr val="FFFFFF"/>
            </a:solidFill>
            <a:ln w="38100" cap="rnd">
              <a:solidFill>
                <a:srgbClr val="8DABD2"/>
              </a:solidFill>
              <a:prstDash val="solid"/>
              <a:round/>
            </a:ln>
          </p:spPr>
        </p:sp>
        <p:sp>
          <p:nvSpPr>
            <p:cNvPr name="TextBox 31" id="31"/>
            <p:cNvSpPr txBox="true"/>
            <p:nvPr/>
          </p:nvSpPr>
          <p:spPr>
            <a:xfrm>
              <a:off x="0" y="-57150"/>
              <a:ext cx="1644539" cy="324240"/>
            </a:xfrm>
            <a:prstGeom prst="rect">
              <a:avLst/>
            </a:prstGeom>
          </p:spPr>
          <p:txBody>
            <a:bodyPr anchor="ctr" rtlCol="false" tIns="50800" lIns="50800" bIns="50800" rIns="50800"/>
            <a:lstStyle/>
            <a:p>
              <a:pPr algn="ctr" marL="0" indent="0" lvl="0">
                <a:lnSpc>
                  <a:spcPts val="3220"/>
                </a:lnSpc>
              </a:pPr>
              <a:r>
                <a:rPr lang="en-US" sz="2300">
                  <a:solidFill>
                    <a:srgbClr val="000000"/>
                  </a:solidFill>
                  <a:latin typeface="Poppins Light"/>
                  <a:ea typeface="Poppins Light"/>
                  <a:cs typeface="Poppins Light"/>
                  <a:sym typeface="Poppins Light"/>
                </a:rPr>
                <a:t>Latencia y Comunicación Bidireccional</a:t>
              </a:r>
            </a:p>
          </p:txBody>
        </p:sp>
      </p:grpSp>
      <p:sp>
        <p:nvSpPr>
          <p:cNvPr name="TextBox 32" id="32"/>
          <p:cNvSpPr txBox="true"/>
          <p:nvPr/>
        </p:nvSpPr>
        <p:spPr>
          <a:xfrm rot="0">
            <a:off x="9770090" y="5119461"/>
            <a:ext cx="6825652" cy="3989819"/>
          </a:xfrm>
          <a:prstGeom prst="rect">
            <a:avLst/>
          </a:prstGeom>
        </p:spPr>
        <p:txBody>
          <a:bodyPr anchor="t" rtlCol="false" tIns="0" lIns="0" bIns="0" rIns="0">
            <a:spAutoFit/>
          </a:bodyPr>
          <a:lstStyle/>
          <a:p>
            <a:pPr algn="l" marL="414636" indent="-207318" lvl="1">
              <a:lnSpc>
                <a:spcPts val="2688"/>
              </a:lnSpc>
              <a:buFont typeface="Arial"/>
              <a:buChar char="•"/>
            </a:pPr>
            <a:r>
              <a:rPr lang="en-US" b="true" sz="1920">
                <a:solidFill>
                  <a:srgbClr val="011A3C"/>
                </a:solidFill>
                <a:latin typeface="Nunito Bold"/>
                <a:ea typeface="Nunito Bold"/>
                <a:cs typeface="Nunito Bold"/>
                <a:sym typeface="Nunito Bold"/>
              </a:rPr>
              <a:t>E</a:t>
            </a:r>
            <a:r>
              <a:rPr lang="en-US" b="true" sz="1920">
                <a:solidFill>
                  <a:srgbClr val="011A3C"/>
                </a:solidFill>
                <a:latin typeface="Nunito Bold"/>
                <a:ea typeface="Nunito Bold"/>
                <a:cs typeface="Nunito Bold"/>
                <a:sym typeface="Nunito Bold"/>
              </a:rPr>
              <a:t>dge Computing Validado: </a:t>
            </a:r>
            <a:r>
              <a:rPr lang="en-US" sz="1920">
                <a:solidFill>
                  <a:srgbClr val="011A3C"/>
                </a:solidFill>
                <a:latin typeface="Nunito"/>
                <a:ea typeface="Nunito"/>
                <a:cs typeface="Nunito"/>
                <a:sym typeface="Nunito"/>
              </a:rPr>
              <a:t>El microcontrolador procesa las señales y mapea los datos analógicos localmente.</a:t>
            </a:r>
          </a:p>
          <a:p>
            <a:pPr algn="l">
              <a:lnSpc>
                <a:spcPts val="2688"/>
              </a:lnSpc>
            </a:pPr>
          </a:p>
          <a:p>
            <a:pPr algn="l" marL="414636" indent="-207318" lvl="1">
              <a:lnSpc>
                <a:spcPts val="2688"/>
              </a:lnSpc>
              <a:buFont typeface="Arial"/>
              <a:buChar char="•"/>
            </a:pPr>
            <a:r>
              <a:rPr lang="en-US" b="true" sz="1920">
                <a:solidFill>
                  <a:srgbClr val="011A3C"/>
                </a:solidFill>
                <a:latin typeface="Nunito Bold"/>
                <a:ea typeface="Nunito Bold"/>
                <a:cs typeface="Nunito Bold"/>
                <a:sym typeface="Nunito Bold"/>
              </a:rPr>
              <a:t>Eficiencia UART-BT:</a:t>
            </a:r>
            <a:r>
              <a:rPr lang="en-US" sz="1920">
                <a:solidFill>
                  <a:srgbClr val="011A3C"/>
                </a:solidFill>
                <a:latin typeface="Nunito"/>
                <a:ea typeface="Nunito"/>
                <a:cs typeface="Nunito"/>
                <a:sym typeface="Nunito"/>
              </a:rPr>
              <a:t> Transmisión de la trama CSV cada 2000 ms sin pérdida de paquetes (distancias de hasta 10 metros).</a:t>
            </a:r>
          </a:p>
          <a:p>
            <a:pPr algn="l">
              <a:lnSpc>
                <a:spcPts val="2688"/>
              </a:lnSpc>
            </a:pPr>
          </a:p>
          <a:p>
            <a:pPr algn="l" marL="414636" indent="-207318" lvl="1">
              <a:lnSpc>
                <a:spcPts val="2688"/>
              </a:lnSpc>
              <a:buFont typeface="Arial"/>
              <a:buChar char="•"/>
            </a:pPr>
            <a:r>
              <a:rPr lang="en-US" b="true" sz="1920">
                <a:solidFill>
                  <a:srgbClr val="011A3C"/>
                </a:solidFill>
                <a:latin typeface="Nunito Bold"/>
                <a:ea typeface="Nunito Bold"/>
                <a:cs typeface="Nunito Bold"/>
                <a:sym typeface="Nunito Bold"/>
              </a:rPr>
              <a:t>Control Remoto (100% de </a:t>
            </a:r>
            <a:r>
              <a:rPr lang="en-US" b="true" sz="1920">
                <a:solidFill>
                  <a:srgbClr val="011A3C"/>
                </a:solidFill>
                <a:latin typeface="Nunito Bold"/>
                <a:ea typeface="Nunito Bold"/>
                <a:cs typeface="Nunito Bold"/>
                <a:sym typeface="Nunito Bold"/>
              </a:rPr>
              <a:t>Respuesta): </a:t>
            </a:r>
            <a:r>
              <a:rPr lang="en-US" sz="1920">
                <a:solidFill>
                  <a:srgbClr val="011A3C"/>
                </a:solidFill>
                <a:latin typeface="Nunito"/>
                <a:ea typeface="Nunito"/>
                <a:cs typeface="Nunito"/>
                <a:sym typeface="Nunito"/>
              </a:rPr>
              <a:t>La arquitectura MVVM de la App Android permite la inyección de comandos para reajustar los umbrales de humedad de forma instantánea.</a:t>
            </a:r>
          </a:p>
          <a:p>
            <a:pPr algn="l" marL="0" indent="0" lvl="0">
              <a:lnSpc>
                <a:spcPts val="2688"/>
              </a:lnSpc>
            </a:pPr>
          </a:p>
        </p:txBody>
      </p:sp>
      <p:sp>
        <p:nvSpPr>
          <p:cNvPr name="TextBox 33" id="33"/>
          <p:cNvSpPr txBox="true"/>
          <p:nvPr/>
        </p:nvSpPr>
        <p:spPr>
          <a:xfrm rot="0">
            <a:off x="2785486" y="3478862"/>
            <a:ext cx="3919492" cy="385709"/>
          </a:xfrm>
          <a:prstGeom prst="rect">
            <a:avLst/>
          </a:prstGeom>
        </p:spPr>
        <p:txBody>
          <a:bodyPr anchor="t" rtlCol="false" tIns="0" lIns="0" bIns="0" rIns="0">
            <a:spAutoFit/>
          </a:bodyPr>
          <a:lstStyle/>
          <a:p>
            <a:pPr algn="ctr" marL="0" indent="0" lvl="0">
              <a:lnSpc>
                <a:spcPts val="2810"/>
              </a:lnSpc>
            </a:pPr>
            <a:r>
              <a:rPr lang="en-US" b="true" sz="2810" spc="56">
                <a:solidFill>
                  <a:srgbClr val="011A3C"/>
                </a:solidFill>
                <a:latin typeface="Gotham Bold"/>
                <a:ea typeface="Gotham Bold"/>
                <a:cs typeface="Gotham Bold"/>
                <a:sym typeface="Gotham Bold"/>
              </a:rPr>
              <a:t>Hardware</a:t>
            </a:r>
          </a:p>
        </p:txBody>
      </p:sp>
      <p:sp>
        <p:nvSpPr>
          <p:cNvPr name="TextBox 34" id="34"/>
          <p:cNvSpPr txBox="true"/>
          <p:nvPr/>
        </p:nvSpPr>
        <p:spPr>
          <a:xfrm rot="0">
            <a:off x="11223170" y="3478862"/>
            <a:ext cx="3919492" cy="385709"/>
          </a:xfrm>
          <a:prstGeom prst="rect">
            <a:avLst/>
          </a:prstGeom>
        </p:spPr>
        <p:txBody>
          <a:bodyPr anchor="t" rtlCol="false" tIns="0" lIns="0" bIns="0" rIns="0">
            <a:spAutoFit/>
          </a:bodyPr>
          <a:lstStyle/>
          <a:p>
            <a:pPr algn="ctr" marL="0" indent="0" lvl="0">
              <a:lnSpc>
                <a:spcPts val="2810"/>
              </a:lnSpc>
            </a:pPr>
            <a:r>
              <a:rPr lang="en-US" b="true" sz="2810" spc="56">
                <a:solidFill>
                  <a:srgbClr val="011A3C"/>
                </a:solidFill>
                <a:latin typeface="Gotham Bold"/>
                <a:ea typeface="Gotham Bold"/>
                <a:cs typeface="Gotham Bold"/>
                <a:sym typeface="Gotham Bold"/>
              </a:rPr>
              <a:t>Software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1516820" y="2789656"/>
            <a:ext cx="7123315" cy="6668635"/>
            <a:chOff x="0" y="0"/>
            <a:chExt cx="596900" cy="558800"/>
          </a:xfrm>
        </p:grpSpPr>
        <p:sp>
          <p:nvSpPr>
            <p:cNvPr name="Freeform 3" id="3"/>
            <p:cNvSpPr/>
            <p:nvPr/>
          </p:nvSpPr>
          <p:spPr>
            <a:xfrm flipH="false" flipV="false" rot="0">
              <a:off x="0" y="0"/>
              <a:ext cx="596900" cy="558800"/>
            </a:xfrm>
            <a:custGeom>
              <a:avLst/>
              <a:gdLst/>
              <a:ahLst/>
              <a:cxnLst/>
              <a:rect r="r" b="b" t="t" l="l"/>
              <a:pathLst>
                <a:path h="558800" w="596900">
                  <a:moveTo>
                    <a:pt x="596900" y="12770"/>
                  </a:moveTo>
                  <a:lnTo>
                    <a:pt x="596900" y="292030"/>
                  </a:lnTo>
                  <a:cubicBezTo>
                    <a:pt x="596900" y="300185"/>
                    <a:pt x="593558" y="307983"/>
                    <a:pt x="587652" y="313607"/>
                  </a:cubicBezTo>
                  <a:lnTo>
                    <a:pt x="339448" y="549993"/>
                  </a:lnTo>
                  <a:cubicBezTo>
                    <a:pt x="333511" y="555647"/>
                    <a:pt x="325627" y="558800"/>
                    <a:pt x="317430" y="558800"/>
                  </a:cubicBezTo>
                  <a:lnTo>
                    <a:pt x="12770" y="558800"/>
                  </a:lnTo>
                  <a:cubicBezTo>
                    <a:pt x="5718" y="558800"/>
                    <a:pt x="0" y="553083"/>
                    <a:pt x="0" y="546030"/>
                  </a:cubicBezTo>
                  <a:lnTo>
                    <a:pt x="0" y="261690"/>
                  </a:lnTo>
                  <a:cubicBezTo>
                    <a:pt x="0" y="253538"/>
                    <a:pt x="3353" y="245745"/>
                    <a:pt x="9273" y="240140"/>
                  </a:cubicBezTo>
                  <a:lnTo>
                    <a:pt x="253617" y="8780"/>
                  </a:lnTo>
                  <a:cubicBezTo>
                    <a:pt x="259572" y="3142"/>
                    <a:pt x="267460" y="0"/>
                    <a:pt x="275660" y="0"/>
                  </a:cubicBezTo>
                  <a:lnTo>
                    <a:pt x="584130" y="0"/>
                  </a:lnTo>
                  <a:cubicBezTo>
                    <a:pt x="591183" y="0"/>
                    <a:pt x="596900" y="5718"/>
                    <a:pt x="596900" y="12770"/>
                  </a:cubicBezTo>
                  <a:close/>
                </a:path>
              </a:pathLst>
            </a:custGeom>
            <a:solidFill>
              <a:srgbClr val="014AAB">
                <a:alpha val="5882"/>
              </a:srgbClr>
            </a:solidFill>
          </p:spPr>
        </p:sp>
        <p:sp>
          <p:nvSpPr>
            <p:cNvPr name="TextBox 4" id="4"/>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5" id="5"/>
          <p:cNvGrpSpPr/>
          <p:nvPr/>
        </p:nvGrpSpPr>
        <p:grpSpPr>
          <a:xfrm rot="-10800000">
            <a:off x="11672748" y="-2698351"/>
            <a:ext cx="4732342" cy="4430278"/>
            <a:chOff x="0" y="0"/>
            <a:chExt cx="596900" cy="558800"/>
          </a:xfrm>
        </p:grpSpPr>
        <p:sp>
          <p:nvSpPr>
            <p:cNvPr name="Freeform 6" id="6"/>
            <p:cNvSpPr/>
            <p:nvPr/>
          </p:nvSpPr>
          <p:spPr>
            <a:xfrm flipH="false" flipV="false" rot="0">
              <a:off x="0" y="0"/>
              <a:ext cx="596900" cy="558800"/>
            </a:xfrm>
            <a:custGeom>
              <a:avLst/>
              <a:gdLst/>
              <a:ahLst/>
              <a:cxnLst/>
              <a:rect r="r" b="b" t="t" l="l"/>
              <a:pathLst>
                <a:path h="558800" w="596900">
                  <a:moveTo>
                    <a:pt x="596900" y="19223"/>
                  </a:moveTo>
                  <a:lnTo>
                    <a:pt x="596900" y="285577"/>
                  </a:lnTo>
                  <a:cubicBezTo>
                    <a:pt x="596900" y="297853"/>
                    <a:pt x="591869" y="309591"/>
                    <a:pt x="582980" y="318057"/>
                  </a:cubicBezTo>
                  <a:lnTo>
                    <a:pt x="344120" y="545543"/>
                  </a:lnTo>
                  <a:cubicBezTo>
                    <a:pt x="335184" y="554053"/>
                    <a:pt x="323317" y="558800"/>
                    <a:pt x="310977" y="558800"/>
                  </a:cubicBezTo>
                  <a:lnTo>
                    <a:pt x="19223" y="558800"/>
                  </a:lnTo>
                  <a:cubicBezTo>
                    <a:pt x="14124" y="558800"/>
                    <a:pt x="9235" y="556775"/>
                    <a:pt x="5630" y="553170"/>
                  </a:cubicBezTo>
                  <a:cubicBezTo>
                    <a:pt x="2025" y="549565"/>
                    <a:pt x="0" y="544676"/>
                    <a:pt x="0" y="539577"/>
                  </a:cubicBezTo>
                  <a:lnTo>
                    <a:pt x="0" y="268143"/>
                  </a:lnTo>
                  <a:cubicBezTo>
                    <a:pt x="0" y="255871"/>
                    <a:pt x="5048" y="244141"/>
                    <a:pt x="13958" y="235704"/>
                  </a:cubicBezTo>
                  <a:lnTo>
                    <a:pt x="248932" y="13216"/>
                  </a:lnTo>
                  <a:cubicBezTo>
                    <a:pt x="257895" y="4730"/>
                    <a:pt x="269769" y="0"/>
                    <a:pt x="282113" y="0"/>
                  </a:cubicBezTo>
                  <a:lnTo>
                    <a:pt x="577677" y="0"/>
                  </a:lnTo>
                  <a:cubicBezTo>
                    <a:pt x="582776" y="0"/>
                    <a:pt x="587665" y="2025"/>
                    <a:pt x="591270" y="5630"/>
                  </a:cubicBezTo>
                  <a:cubicBezTo>
                    <a:pt x="594875" y="9235"/>
                    <a:pt x="596900" y="14124"/>
                    <a:pt x="596900" y="19223"/>
                  </a:cubicBezTo>
                  <a:close/>
                </a:path>
              </a:pathLst>
            </a:custGeom>
            <a:solidFill>
              <a:srgbClr val="014AAB">
                <a:alpha val="5882"/>
              </a:srgbClr>
            </a:solidFill>
          </p:spPr>
        </p:sp>
        <p:sp>
          <p:nvSpPr>
            <p:cNvPr name="TextBox 7" id="7"/>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sp>
        <p:nvSpPr>
          <p:cNvPr name="TextBox 8" id="8"/>
          <p:cNvSpPr txBox="true"/>
          <p:nvPr/>
        </p:nvSpPr>
        <p:spPr>
          <a:xfrm rot="0">
            <a:off x="8051245" y="2365443"/>
            <a:ext cx="8787529" cy="999991"/>
          </a:xfrm>
          <a:prstGeom prst="rect">
            <a:avLst/>
          </a:prstGeom>
        </p:spPr>
        <p:txBody>
          <a:bodyPr anchor="t" rtlCol="false" tIns="0" lIns="0" bIns="0" rIns="0">
            <a:spAutoFit/>
          </a:bodyPr>
          <a:lstStyle/>
          <a:p>
            <a:pPr algn="r" marL="0" indent="0" lvl="0">
              <a:lnSpc>
                <a:spcPts val="7494"/>
              </a:lnSpc>
            </a:pPr>
            <a:r>
              <a:rPr lang="en-US" b="true" sz="7494" spc="149">
                <a:solidFill>
                  <a:srgbClr val="011A3C"/>
                </a:solidFill>
                <a:latin typeface="Gotham Bold"/>
                <a:ea typeface="Gotham Bold"/>
                <a:cs typeface="Gotham Bold"/>
                <a:sym typeface="Gotham Bold"/>
              </a:rPr>
              <a:t>C</a:t>
            </a:r>
            <a:r>
              <a:rPr lang="en-US" b="true" sz="7494" spc="149">
                <a:solidFill>
                  <a:srgbClr val="011A3C"/>
                </a:solidFill>
                <a:latin typeface="Gotham Bold"/>
                <a:ea typeface="Gotham Bold"/>
                <a:cs typeface="Gotham Bold"/>
                <a:sym typeface="Gotham Bold"/>
              </a:rPr>
              <a:t>asos de Prueba</a:t>
            </a:r>
          </a:p>
        </p:txBody>
      </p:sp>
      <p:grpSp>
        <p:nvGrpSpPr>
          <p:cNvPr name="Group 9" id="9"/>
          <p:cNvGrpSpPr/>
          <p:nvPr/>
        </p:nvGrpSpPr>
        <p:grpSpPr>
          <a:xfrm rot="0">
            <a:off x="-8289632" y="-946951"/>
            <a:ext cx="14820677" cy="13874676"/>
            <a:chOff x="0" y="0"/>
            <a:chExt cx="596900" cy="558800"/>
          </a:xfrm>
        </p:grpSpPr>
        <p:sp>
          <p:nvSpPr>
            <p:cNvPr name="Freeform 10" id="10"/>
            <p:cNvSpPr/>
            <p:nvPr/>
          </p:nvSpPr>
          <p:spPr>
            <a:xfrm flipH="false" flipV="false" rot="0">
              <a:off x="0" y="0"/>
              <a:ext cx="596900" cy="558800"/>
            </a:xfrm>
            <a:custGeom>
              <a:avLst/>
              <a:gdLst/>
              <a:ahLst/>
              <a:cxnLst/>
              <a:rect r="r" b="b" t="t" l="l"/>
              <a:pathLst>
                <a:path h="558800" w="596900">
                  <a:moveTo>
                    <a:pt x="596900" y="6138"/>
                  </a:moveTo>
                  <a:lnTo>
                    <a:pt x="596900" y="298662"/>
                  </a:lnTo>
                  <a:cubicBezTo>
                    <a:pt x="596900" y="302582"/>
                    <a:pt x="595294" y="306330"/>
                    <a:pt x="592455" y="309033"/>
                  </a:cubicBezTo>
                  <a:lnTo>
                    <a:pt x="334645" y="554567"/>
                  </a:lnTo>
                  <a:cubicBezTo>
                    <a:pt x="331791" y="557284"/>
                    <a:pt x="328002" y="558800"/>
                    <a:pt x="324062" y="558800"/>
                  </a:cubicBezTo>
                  <a:lnTo>
                    <a:pt x="6138" y="558800"/>
                  </a:lnTo>
                  <a:cubicBezTo>
                    <a:pt x="4510" y="558800"/>
                    <a:pt x="2949" y="558153"/>
                    <a:pt x="1798" y="557002"/>
                  </a:cubicBezTo>
                  <a:cubicBezTo>
                    <a:pt x="647" y="555851"/>
                    <a:pt x="0" y="554290"/>
                    <a:pt x="0" y="552662"/>
                  </a:cubicBezTo>
                  <a:lnTo>
                    <a:pt x="0" y="255058"/>
                  </a:lnTo>
                  <a:cubicBezTo>
                    <a:pt x="0" y="251140"/>
                    <a:pt x="1612" y="247394"/>
                    <a:pt x="4457" y="244700"/>
                  </a:cubicBezTo>
                  <a:lnTo>
                    <a:pt x="258433" y="4220"/>
                  </a:lnTo>
                  <a:cubicBezTo>
                    <a:pt x="261295" y="1510"/>
                    <a:pt x="265087" y="0"/>
                    <a:pt x="269028" y="0"/>
                  </a:cubicBezTo>
                  <a:lnTo>
                    <a:pt x="590762" y="0"/>
                  </a:lnTo>
                  <a:cubicBezTo>
                    <a:pt x="592390" y="0"/>
                    <a:pt x="593951" y="647"/>
                    <a:pt x="595102" y="1798"/>
                  </a:cubicBezTo>
                  <a:cubicBezTo>
                    <a:pt x="596253" y="2949"/>
                    <a:pt x="596900" y="4510"/>
                    <a:pt x="596900" y="6138"/>
                  </a:cubicBezTo>
                  <a:close/>
                </a:path>
              </a:pathLst>
            </a:custGeom>
            <a:ln w="190500" cap="sq">
              <a:solidFill>
                <a:srgbClr val="8DABD2"/>
              </a:solidFill>
              <a:prstDash val="solid"/>
              <a:miter/>
            </a:ln>
          </p:spPr>
        </p:sp>
        <p:sp>
          <p:nvSpPr>
            <p:cNvPr name="TextBox 11" id="11"/>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2" id="12"/>
          <p:cNvGrpSpPr/>
          <p:nvPr/>
        </p:nvGrpSpPr>
        <p:grpSpPr>
          <a:xfrm rot="0">
            <a:off x="-7592208" y="-294043"/>
            <a:ext cx="13425829" cy="12568861"/>
            <a:chOff x="0" y="0"/>
            <a:chExt cx="596900" cy="558800"/>
          </a:xfrm>
        </p:grpSpPr>
        <p:sp>
          <p:nvSpPr>
            <p:cNvPr name="Freeform 13" id="13"/>
            <p:cNvSpPr/>
            <p:nvPr/>
          </p:nvSpPr>
          <p:spPr>
            <a:xfrm flipH="false" flipV="false" rot="0">
              <a:off x="0" y="0"/>
              <a:ext cx="596900" cy="558800"/>
            </a:xfrm>
            <a:custGeom>
              <a:avLst/>
              <a:gdLst/>
              <a:ahLst/>
              <a:cxnLst/>
              <a:rect r="r" b="b" t="t" l="l"/>
              <a:pathLst>
                <a:path h="558800" w="596900">
                  <a:moveTo>
                    <a:pt x="596900" y="6776"/>
                  </a:moveTo>
                  <a:lnTo>
                    <a:pt x="596900" y="298024"/>
                  </a:lnTo>
                  <a:cubicBezTo>
                    <a:pt x="596900" y="302351"/>
                    <a:pt x="595127" y="306489"/>
                    <a:pt x="591994" y="309473"/>
                  </a:cubicBezTo>
                  <a:lnTo>
                    <a:pt x="335106" y="554127"/>
                  </a:lnTo>
                  <a:cubicBezTo>
                    <a:pt x="331957" y="557127"/>
                    <a:pt x="327774" y="558800"/>
                    <a:pt x="323424" y="558800"/>
                  </a:cubicBezTo>
                  <a:lnTo>
                    <a:pt x="6776" y="558800"/>
                  </a:lnTo>
                  <a:cubicBezTo>
                    <a:pt x="3034" y="558800"/>
                    <a:pt x="0" y="555766"/>
                    <a:pt x="0" y="552024"/>
                  </a:cubicBezTo>
                  <a:lnTo>
                    <a:pt x="0" y="255696"/>
                  </a:lnTo>
                  <a:cubicBezTo>
                    <a:pt x="0" y="251370"/>
                    <a:pt x="1779" y="247235"/>
                    <a:pt x="4920" y="244261"/>
                  </a:cubicBezTo>
                  <a:lnTo>
                    <a:pt x="257970" y="4659"/>
                  </a:lnTo>
                  <a:cubicBezTo>
                    <a:pt x="261129" y="1667"/>
                    <a:pt x="265315" y="0"/>
                    <a:pt x="269666" y="0"/>
                  </a:cubicBezTo>
                  <a:lnTo>
                    <a:pt x="590124" y="0"/>
                  </a:lnTo>
                  <a:cubicBezTo>
                    <a:pt x="593866" y="0"/>
                    <a:pt x="596900" y="3034"/>
                    <a:pt x="596900" y="6776"/>
                  </a:cubicBezTo>
                  <a:close/>
                </a:path>
              </a:pathLst>
            </a:custGeom>
            <a:solidFill>
              <a:srgbClr val="014AAB"/>
            </a:solidFill>
          </p:spPr>
        </p:sp>
        <p:sp>
          <p:nvSpPr>
            <p:cNvPr name="TextBox 14" id="14"/>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5" id="15"/>
          <p:cNvGrpSpPr/>
          <p:nvPr/>
        </p:nvGrpSpPr>
        <p:grpSpPr>
          <a:xfrm rot="0">
            <a:off x="5499881" y="6928863"/>
            <a:ext cx="2062328" cy="1930690"/>
            <a:chOff x="0" y="0"/>
            <a:chExt cx="596900" cy="558800"/>
          </a:xfrm>
        </p:grpSpPr>
        <p:sp>
          <p:nvSpPr>
            <p:cNvPr name="Freeform 16" id="16"/>
            <p:cNvSpPr/>
            <p:nvPr/>
          </p:nvSpPr>
          <p:spPr>
            <a:xfrm flipH="false" flipV="false" rot="0">
              <a:off x="0" y="0"/>
              <a:ext cx="596900" cy="558800"/>
            </a:xfrm>
            <a:custGeom>
              <a:avLst/>
              <a:gdLst/>
              <a:ahLst/>
              <a:cxnLst/>
              <a:rect r="r" b="b" t="t" l="l"/>
              <a:pathLst>
                <a:path h="558800" w="596900">
                  <a:moveTo>
                    <a:pt x="596900" y="44109"/>
                  </a:moveTo>
                  <a:lnTo>
                    <a:pt x="596900" y="260691"/>
                  </a:lnTo>
                  <a:cubicBezTo>
                    <a:pt x="596900" y="288858"/>
                    <a:pt x="585356" y="315794"/>
                    <a:pt x="564959" y="335220"/>
                  </a:cubicBezTo>
                  <a:lnTo>
                    <a:pt x="362141" y="528380"/>
                  </a:lnTo>
                  <a:cubicBezTo>
                    <a:pt x="341637" y="547908"/>
                    <a:pt x="314406" y="558800"/>
                    <a:pt x="286091" y="558800"/>
                  </a:cubicBezTo>
                  <a:lnTo>
                    <a:pt x="44109" y="558800"/>
                  </a:lnTo>
                  <a:cubicBezTo>
                    <a:pt x="19748" y="558800"/>
                    <a:pt x="0" y="539052"/>
                    <a:pt x="0" y="514691"/>
                  </a:cubicBezTo>
                  <a:lnTo>
                    <a:pt x="0" y="293029"/>
                  </a:lnTo>
                  <a:cubicBezTo>
                    <a:pt x="0" y="264871"/>
                    <a:pt x="11583" y="237953"/>
                    <a:pt x="32029" y="218593"/>
                  </a:cubicBezTo>
                  <a:lnTo>
                    <a:pt x="230861" y="30327"/>
                  </a:lnTo>
                  <a:cubicBezTo>
                    <a:pt x="251428" y="10853"/>
                    <a:pt x="278675" y="0"/>
                    <a:pt x="306999" y="0"/>
                  </a:cubicBezTo>
                  <a:lnTo>
                    <a:pt x="552791" y="0"/>
                  </a:lnTo>
                  <a:cubicBezTo>
                    <a:pt x="577152" y="0"/>
                    <a:pt x="596900" y="19748"/>
                    <a:pt x="596900" y="44109"/>
                  </a:cubicBezTo>
                  <a:close/>
                </a:path>
              </a:pathLst>
            </a:custGeom>
            <a:solidFill>
              <a:srgbClr val="8DABD2"/>
            </a:solidFill>
          </p:spPr>
        </p:sp>
        <p:sp>
          <p:nvSpPr>
            <p:cNvPr name="TextBox 17" id="17"/>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8" id="18"/>
          <p:cNvGrpSpPr/>
          <p:nvPr/>
        </p:nvGrpSpPr>
        <p:grpSpPr>
          <a:xfrm rot="-5400000">
            <a:off x="15047370" y="9566560"/>
            <a:ext cx="2392343" cy="2239640"/>
            <a:chOff x="0" y="0"/>
            <a:chExt cx="596900" cy="558800"/>
          </a:xfrm>
        </p:grpSpPr>
        <p:sp>
          <p:nvSpPr>
            <p:cNvPr name="Freeform 19" id="19"/>
            <p:cNvSpPr/>
            <p:nvPr/>
          </p:nvSpPr>
          <p:spPr>
            <a:xfrm flipH="false" flipV="false" rot="0">
              <a:off x="0" y="0"/>
              <a:ext cx="596900" cy="558800"/>
            </a:xfrm>
            <a:custGeom>
              <a:avLst/>
              <a:gdLst/>
              <a:ahLst/>
              <a:cxnLst/>
              <a:rect r="r" b="b" t="t" l="l"/>
              <a:pathLst>
                <a:path h="558800" w="596900">
                  <a:moveTo>
                    <a:pt x="596900" y="38024"/>
                  </a:moveTo>
                  <a:lnTo>
                    <a:pt x="596900" y="266776"/>
                  </a:lnTo>
                  <a:cubicBezTo>
                    <a:pt x="596900" y="291057"/>
                    <a:pt x="586948" y="314278"/>
                    <a:pt x="569365" y="331024"/>
                  </a:cubicBezTo>
                  <a:lnTo>
                    <a:pt x="357735" y="532576"/>
                  </a:lnTo>
                  <a:cubicBezTo>
                    <a:pt x="340059" y="549410"/>
                    <a:pt x="316585" y="558800"/>
                    <a:pt x="292176" y="558800"/>
                  </a:cubicBezTo>
                  <a:lnTo>
                    <a:pt x="38024" y="558800"/>
                  </a:lnTo>
                  <a:cubicBezTo>
                    <a:pt x="17024" y="558800"/>
                    <a:pt x="0" y="541776"/>
                    <a:pt x="0" y="520776"/>
                  </a:cubicBezTo>
                  <a:lnTo>
                    <a:pt x="0" y="286944"/>
                  </a:lnTo>
                  <a:cubicBezTo>
                    <a:pt x="0" y="262671"/>
                    <a:pt x="9985" y="239466"/>
                    <a:pt x="27611" y="222776"/>
                  </a:cubicBezTo>
                  <a:lnTo>
                    <a:pt x="235279" y="26144"/>
                  </a:lnTo>
                  <a:cubicBezTo>
                    <a:pt x="253009" y="9356"/>
                    <a:pt x="276498" y="0"/>
                    <a:pt x="300914" y="0"/>
                  </a:cubicBezTo>
                  <a:lnTo>
                    <a:pt x="558876" y="0"/>
                  </a:lnTo>
                  <a:cubicBezTo>
                    <a:pt x="579876" y="0"/>
                    <a:pt x="596900" y="17024"/>
                    <a:pt x="596900" y="38024"/>
                  </a:cubicBezTo>
                  <a:close/>
                </a:path>
              </a:pathLst>
            </a:custGeom>
            <a:solidFill>
              <a:srgbClr val="8DABD2"/>
            </a:solidFill>
          </p:spPr>
        </p:sp>
        <p:sp>
          <p:nvSpPr>
            <p:cNvPr name="TextBox 20" id="20"/>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21" id="21"/>
          <p:cNvGrpSpPr/>
          <p:nvPr/>
        </p:nvGrpSpPr>
        <p:grpSpPr>
          <a:xfrm rot="-5400000">
            <a:off x="5663731" y="1920409"/>
            <a:ext cx="2297642" cy="2150984"/>
            <a:chOff x="0" y="0"/>
            <a:chExt cx="596900" cy="558800"/>
          </a:xfrm>
        </p:grpSpPr>
        <p:sp>
          <p:nvSpPr>
            <p:cNvPr name="Freeform 22" id="22"/>
            <p:cNvSpPr/>
            <p:nvPr/>
          </p:nvSpPr>
          <p:spPr>
            <a:xfrm flipH="false" flipV="false" rot="0">
              <a:off x="0" y="0"/>
              <a:ext cx="596900" cy="558800"/>
            </a:xfrm>
            <a:custGeom>
              <a:avLst/>
              <a:gdLst/>
              <a:ahLst/>
              <a:cxnLst/>
              <a:rect r="r" b="b" t="t" l="l"/>
              <a:pathLst>
                <a:path h="558800" w="596900">
                  <a:moveTo>
                    <a:pt x="596900" y="39592"/>
                  </a:moveTo>
                  <a:lnTo>
                    <a:pt x="596900" y="265208"/>
                  </a:lnTo>
                  <a:cubicBezTo>
                    <a:pt x="596900" y="290491"/>
                    <a:pt x="586538" y="314668"/>
                    <a:pt x="568230" y="332105"/>
                  </a:cubicBezTo>
                  <a:lnTo>
                    <a:pt x="358870" y="531495"/>
                  </a:lnTo>
                  <a:cubicBezTo>
                    <a:pt x="340465" y="549023"/>
                    <a:pt x="316024" y="558800"/>
                    <a:pt x="290608" y="558800"/>
                  </a:cubicBezTo>
                  <a:lnTo>
                    <a:pt x="39592" y="558800"/>
                  </a:lnTo>
                  <a:cubicBezTo>
                    <a:pt x="29091" y="558800"/>
                    <a:pt x="19021" y="554629"/>
                    <a:pt x="11596" y="547204"/>
                  </a:cubicBezTo>
                  <a:cubicBezTo>
                    <a:pt x="4171" y="539779"/>
                    <a:pt x="0" y="529709"/>
                    <a:pt x="0" y="519208"/>
                  </a:cubicBezTo>
                  <a:lnTo>
                    <a:pt x="0" y="288512"/>
                  </a:lnTo>
                  <a:cubicBezTo>
                    <a:pt x="0" y="263237"/>
                    <a:pt x="10396" y="239076"/>
                    <a:pt x="28749" y="221699"/>
                  </a:cubicBezTo>
                  <a:lnTo>
                    <a:pt x="234141" y="27221"/>
                  </a:lnTo>
                  <a:cubicBezTo>
                    <a:pt x="252602" y="9742"/>
                    <a:pt x="277059" y="0"/>
                    <a:pt x="302482" y="0"/>
                  </a:cubicBezTo>
                  <a:lnTo>
                    <a:pt x="557308" y="0"/>
                  </a:lnTo>
                  <a:cubicBezTo>
                    <a:pt x="567809" y="0"/>
                    <a:pt x="577879" y="4171"/>
                    <a:pt x="585304" y="11596"/>
                  </a:cubicBezTo>
                  <a:cubicBezTo>
                    <a:pt x="592729" y="19021"/>
                    <a:pt x="596900" y="29091"/>
                    <a:pt x="596900" y="39592"/>
                  </a:cubicBezTo>
                  <a:close/>
                </a:path>
              </a:pathLst>
            </a:custGeom>
            <a:solidFill>
              <a:srgbClr val="8DABD2"/>
            </a:solidFill>
          </p:spPr>
        </p:sp>
        <p:sp>
          <p:nvSpPr>
            <p:cNvPr name="TextBox 23" id="23"/>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24" id="24"/>
          <p:cNvGrpSpPr/>
          <p:nvPr/>
        </p:nvGrpSpPr>
        <p:grpSpPr>
          <a:xfrm rot="0">
            <a:off x="1123391" y="2392792"/>
            <a:ext cx="4451744" cy="5501416"/>
            <a:chOff x="0" y="0"/>
            <a:chExt cx="1460623" cy="1805022"/>
          </a:xfrm>
        </p:grpSpPr>
        <p:sp>
          <p:nvSpPr>
            <p:cNvPr name="Freeform 25" id="25"/>
            <p:cNvSpPr/>
            <p:nvPr/>
          </p:nvSpPr>
          <p:spPr>
            <a:xfrm flipH="false" flipV="false" rot="0">
              <a:off x="0" y="0"/>
              <a:ext cx="1460627" cy="1805022"/>
            </a:xfrm>
            <a:custGeom>
              <a:avLst/>
              <a:gdLst/>
              <a:ahLst/>
              <a:cxnLst/>
              <a:rect r="r" b="b" t="t" l="l"/>
              <a:pathLst>
                <a:path h="1805022" w="1460627">
                  <a:moveTo>
                    <a:pt x="1460627" y="1189424"/>
                  </a:moveTo>
                  <a:lnTo>
                    <a:pt x="1460627" y="561989"/>
                  </a:lnTo>
                  <a:cubicBezTo>
                    <a:pt x="1460629" y="522853"/>
                    <a:pt x="1446205" y="485089"/>
                    <a:pt x="1420114" y="455919"/>
                  </a:cubicBezTo>
                  <a:lnTo>
                    <a:pt x="1046362" y="38122"/>
                  </a:lnTo>
                  <a:cubicBezTo>
                    <a:pt x="1024662" y="13865"/>
                    <a:pt x="993657" y="0"/>
                    <a:pt x="961111" y="0"/>
                  </a:cubicBezTo>
                  <a:lnTo>
                    <a:pt x="114384" y="0"/>
                  </a:lnTo>
                  <a:cubicBezTo>
                    <a:pt x="51211" y="0"/>
                    <a:pt x="0" y="51211"/>
                    <a:pt x="0" y="114384"/>
                  </a:cubicBezTo>
                  <a:lnTo>
                    <a:pt x="0" y="501214"/>
                  </a:lnTo>
                  <a:lnTo>
                    <a:pt x="0" y="1234766"/>
                  </a:lnTo>
                  <a:cubicBezTo>
                    <a:pt x="0" y="1279232"/>
                    <a:pt x="16390" y="1322137"/>
                    <a:pt x="46036" y="1355277"/>
                  </a:cubicBezTo>
                  <a:lnTo>
                    <a:pt x="414263" y="1766900"/>
                  </a:lnTo>
                  <a:cubicBezTo>
                    <a:pt x="435962" y="1791157"/>
                    <a:pt x="466967" y="1805022"/>
                    <a:pt x="499514" y="1805022"/>
                  </a:cubicBezTo>
                  <a:lnTo>
                    <a:pt x="944739" y="1805022"/>
                  </a:lnTo>
                  <a:cubicBezTo>
                    <a:pt x="975076" y="1805022"/>
                    <a:pt x="1004170" y="1792971"/>
                    <a:pt x="1025621" y="1771520"/>
                  </a:cubicBezTo>
                  <a:cubicBezTo>
                    <a:pt x="1047073" y="1750069"/>
                    <a:pt x="1059124" y="1720975"/>
                    <a:pt x="1059124" y="1690638"/>
                  </a:cubicBezTo>
                  <a:lnTo>
                    <a:pt x="1059124" y="1418193"/>
                  </a:lnTo>
                  <a:cubicBezTo>
                    <a:pt x="1059124" y="1355019"/>
                    <a:pt x="1110336" y="1303808"/>
                    <a:pt x="1173509" y="1303808"/>
                  </a:cubicBezTo>
                  <a:lnTo>
                    <a:pt x="1346241" y="1303808"/>
                  </a:lnTo>
                  <a:cubicBezTo>
                    <a:pt x="1376578" y="1303808"/>
                    <a:pt x="1405672" y="1291757"/>
                    <a:pt x="1427124" y="1270306"/>
                  </a:cubicBezTo>
                  <a:cubicBezTo>
                    <a:pt x="1448576" y="1248855"/>
                    <a:pt x="1460627" y="1219761"/>
                    <a:pt x="1460627" y="1189424"/>
                  </a:cubicBezTo>
                  <a:close/>
                </a:path>
              </a:pathLst>
            </a:custGeom>
            <a:blipFill>
              <a:blip r:embed="rId2"/>
              <a:stretch>
                <a:fillRect l="0" t="-27" r="0" b="-27"/>
              </a:stretch>
            </a:blipFill>
            <a:ln w="152400" cap="sq">
              <a:solidFill>
                <a:srgbClr val="FFFFFF"/>
              </a:solidFill>
              <a:prstDash val="solid"/>
              <a:miter/>
            </a:ln>
          </p:spPr>
        </p:sp>
      </p:grpSp>
      <p:sp>
        <p:nvSpPr>
          <p:cNvPr name="Freeform 26" id="26"/>
          <p:cNvSpPr/>
          <p:nvPr/>
        </p:nvSpPr>
        <p:spPr>
          <a:xfrm flipH="true" flipV="true" rot="0">
            <a:off x="839656" y="7316412"/>
            <a:ext cx="1588642" cy="1571311"/>
          </a:xfrm>
          <a:custGeom>
            <a:avLst/>
            <a:gdLst/>
            <a:ahLst/>
            <a:cxnLst/>
            <a:rect r="r" b="b" t="t" l="l"/>
            <a:pathLst>
              <a:path h="1571311" w="1588642">
                <a:moveTo>
                  <a:pt x="1588642" y="1571311"/>
                </a:moveTo>
                <a:lnTo>
                  <a:pt x="0" y="1571311"/>
                </a:lnTo>
                <a:lnTo>
                  <a:pt x="0" y="0"/>
                </a:lnTo>
                <a:lnTo>
                  <a:pt x="1588642" y="0"/>
                </a:lnTo>
                <a:lnTo>
                  <a:pt x="1588642" y="1571311"/>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7" id="27"/>
          <p:cNvSpPr/>
          <p:nvPr/>
        </p:nvSpPr>
        <p:spPr>
          <a:xfrm flipH="false" flipV="false" rot="0">
            <a:off x="931024" y="532300"/>
            <a:ext cx="1401730" cy="231923"/>
          </a:xfrm>
          <a:custGeom>
            <a:avLst/>
            <a:gdLst/>
            <a:ahLst/>
            <a:cxnLst/>
            <a:rect r="r" b="b" t="t" l="l"/>
            <a:pathLst>
              <a:path h="231923" w="1401730">
                <a:moveTo>
                  <a:pt x="0" y="0"/>
                </a:moveTo>
                <a:lnTo>
                  <a:pt x="1401731" y="0"/>
                </a:lnTo>
                <a:lnTo>
                  <a:pt x="1401731" y="231922"/>
                </a:lnTo>
                <a:lnTo>
                  <a:pt x="0" y="23192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8" id="28"/>
          <p:cNvSpPr/>
          <p:nvPr/>
        </p:nvSpPr>
        <p:spPr>
          <a:xfrm flipH="false" flipV="false" rot="0">
            <a:off x="16243541" y="9816080"/>
            <a:ext cx="1211471" cy="200443"/>
          </a:xfrm>
          <a:custGeom>
            <a:avLst/>
            <a:gdLst/>
            <a:ahLst/>
            <a:cxnLst/>
            <a:rect r="r" b="b" t="t" l="l"/>
            <a:pathLst>
              <a:path h="200443" w="1211471">
                <a:moveTo>
                  <a:pt x="0" y="0"/>
                </a:moveTo>
                <a:lnTo>
                  <a:pt x="1211471" y="0"/>
                </a:lnTo>
                <a:lnTo>
                  <a:pt x="1211471" y="200443"/>
                </a:lnTo>
                <a:lnTo>
                  <a:pt x="0" y="20044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9" id="29"/>
          <p:cNvSpPr/>
          <p:nvPr/>
        </p:nvSpPr>
        <p:spPr>
          <a:xfrm flipH="false" flipV="false" rot="0">
            <a:off x="11292003" y="609463"/>
            <a:ext cx="935360" cy="154760"/>
          </a:xfrm>
          <a:custGeom>
            <a:avLst/>
            <a:gdLst/>
            <a:ahLst/>
            <a:cxnLst/>
            <a:rect r="r" b="b" t="t" l="l"/>
            <a:pathLst>
              <a:path h="154760" w="935360">
                <a:moveTo>
                  <a:pt x="0" y="0"/>
                </a:moveTo>
                <a:lnTo>
                  <a:pt x="935360" y="0"/>
                </a:lnTo>
                <a:lnTo>
                  <a:pt x="935360" y="154759"/>
                </a:lnTo>
                <a:lnTo>
                  <a:pt x="0" y="15475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AutoShape 30" id="30"/>
          <p:cNvSpPr/>
          <p:nvPr/>
        </p:nvSpPr>
        <p:spPr>
          <a:xfrm>
            <a:off x="11498540" y="4144722"/>
            <a:ext cx="8461486" cy="0"/>
          </a:xfrm>
          <a:prstGeom prst="line">
            <a:avLst/>
          </a:prstGeom>
          <a:ln cap="rnd" w="38100">
            <a:solidFill>
              <a:srgbClr val="8DABD2"/>
            </a:solidFill>
            <a:prstDash val="solid"/>
            <a:headEnd type="none" len="sm" w="sm"/>
            <a:tailEnd type="none" len="sm" w="sm"/>
          </a:ln>
        </p:spPr>
      </p:sp>
      <p:sp>
        <p:nvSpPr>
          <p:cNvPr name="TextBox 31" id="31"/>
          <p:cNvSpPr txBox="true"/>
          <p:nvPr/>
        </p:nvSpPr>
        <p:spPr>
          <a:xfrm rot="0">
            <a:off x="9369013" y="4287597"/>
            <a:ext cx="7328203" cy="1070913"/>
          </a:xfrm>
          <a:prstGeom prst="rect">
            <a:avLst/>
          </a:prstGeom>
        </p:spPr>
        <p:txBody>
          <a:bodyPr anchor="t" rtlCol="false" tIns="0" lIns="0" bIns="0" rIns="0">
            <a:spAutoFit/>
          </a:bodyPr>
          <a:lstStyle/>
          <a:p>
            <a:pPr algn="just" marL="0" indent="0" lvl="0">
              <a:lnSpc>
                <a:spcPts val="2923"/>
              </a:lnSpc>
            </a:pPr>
            <a:r>
              <a:rPr lang="en-US" sz="2088">
                <a:solidFill>
                  <a:srgbClr val="011A3C"/>
                </a:solidFill>
                <a:latin typeface="Nunito"/>
                <a:ea typeface="Nunito"/>
                <a:cs typeface="Nunito"/>
                <a:sym typeface="Nunito"/>
              </a:rPr>
              <a:t>Se ejecutaron pruebas con 5 escenarios extremos del ADC para verificar la robustez del sistema de riego automatizado bajo condiciones límite y variaciones de señal.</a:t>
            </a:r>
          </a:p>
        </p:txBody>
      </p:sp>
      <p:sp>
        <p:nvSpPr>
          <p:cNvPr name="TextBox 32" id="32"/>
          <p:cNvSpPr txBox="true"/>
          <p:nvPr/>
        </p:nvSpPr>
        <p:spPr>
          <a:xfrm rot="0">
            <a:off x="9144000" y="5968790"/>
            <a:ext cx="7328203" cy="3242613"/>
          </a:xfrm>
          <a:prstGeom prst="rect">
            <a:avLst/>
          </a:prstGeom>
        </p:spPr>
        <p:txBody>
          <a:bodyPr anchor="t" rtlCol="false" tIns="0" lIns="0" bIns="0" rIns="0">
            <a:spAutoFit/>
          </a:bodyPr>
          <a:lstStyle/>
          <a:p>
            <a:pPr algn="just" marL="450814" indent="-225407" lvl="1">
              <a:lnSpc>
                <a:spcPts val="2923"/>
              </a:lnSpc>
              <a:buFont typeface="Arial"/>
              <a:buChar char="•"/>
            </a:pPr>
            <a:r>
              <a:rPr lang="en-US" b="true" sz="2088">
                <a:solidFill>
                  <a:srgbClr val="011A3C"/>
                </a:solidFill>
                <a:latin typeface="Nunito Bold"/>
                <a:ea typeface="Nunito Bold"/>
                <a:cs typeface="Nunito Bold"/>
                <a:sym typeface="Nunito Bold"/>
              </a:rPr>
              <a:t>Tasa d</a:t>
            </a:r>
            <a:r>
              <a:rPr lang="en-US" b="true" sz="2088">
                <a:solidFill>
                  <a:srgbClr val="011A3C"/>
                </a:solidFill>
                <a:latin typeface="Nunito Bold"/>
                <a:ea typeface="Nunito Bold"/>
                <a:cs typeface="Nunito Bold"/>
                <a:sym typeface="Nunito Bold"/>
              </a:rPr>
              <a:t>e Acierto del 100%:</a:t>
            </a:r>
            <a:r>
              <a:rPr lang="en-US" sz="2088">
                <a:solidFill>
                  <a:srgbClr val="011A3C"/>
                </a:solidFill>
                <a:latin typeface="Nunito"/>
                <a:ea typeface="Nunito"/>
                <a:cs typeface="Nunito"/>
                <a:sym typeface="Nunito"/>
              </a:rPr>
              <a:t> El sistema respondió de manera infalible ante simulación de valores extremos (saturación de agua y estrés hídrico severo).</a:t>
            </a:r>
          </a:p>
          <a:p>
            <a:pPr algn="just">
              <a:lnSpc>
                <a:spcPts val="2923"/>
              </a:lnSpc>
            </a:pPr>
          </a:p>
          <a:p>
            <a:pPr algn="just" marL="450814" indent="-225407" lvl="1">
              <a:lnSpc>
                <a:spcPts val="2923"/>
              </a:lnSpc>
              <a:buFont typeface="Arial"/>
              <a:buChar char="•"/>
            </a:pPr>
            <a:r>
              <a:rPr lang="en-US" b="true" sz="2088">
                <a:solidFill>
                  <a:srgbClr val="011A3C"/>
                </a:solidFill>
                <a:latin typeface="Nunito Bold"/>
                <a:ea typeface="Nunito Bold"/>
                <a:cs typeface="Nunito Bold"/>
                <a:sym typeface="Nunito Bold"/>
              </a:rPr>
              <a:t>Sobrescritura y Prioridad: </a:t>
            </a:r>
            <a:r>
              <a:rPr lang="en-US" sz="2088">
                <a:solidFill>
                  <a:srgbClr val="011A3C"/>
                </a:solidFill>
                <a:latin typeface="Nunito"/>
                <a:ea typeface="Nunito"/>
                <a:cs typeface="Nunito"/>
                <a:sym typeface="Nunito"/>
              </a:rPr>
              <a:t>El cambio de estado (Manual/Auto) suspende el bucle de decisión. Los comandos inyectados desde la App tienen prioridad absoluta sobre la FSM local.</a:t>
            </a:r>
          </a:p>
          <a:p>
            <a:pPr algn="just" marL="0" indent="0" lvl="0">
              <a:lnSpc>
                <a:spcPts val="2923"/>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14372557" y="-522625"/>
            <a:ext cx="5586552" cy="5229964"/>
            <a:chOff x="0" y="0"/>
            <a:chExt cx="596900" cy="558800"/>
          </a:xfrm>
        </p:grpSpPr>
        <p:sp>
          <p:nvSpPr>
            <p:cNvPr name="Freeform 3" id="3"/>
            <p:cNvSpPr/>
            <p:nvPr/>
          </p:nvSpPr>
          <p:spPr>
            <a:xfrm flipH="false" flipV="false" rot="0">
              <a:off x="0" y="0"/>
              <a:ext cx="596900" cy="558800"/>
            </a:xfrm>
            <a:custGeom>
              <a:avLst/>
              <a:gdLst/>
              <a:ahLst/>
              <a:cxnLst/>
              <a:rect r="r" b="b" t="t" l="l"/>
              <a:pathLst>
                <a:path h="558800" w="596900">
                  <a:moveTo>
                    <a:pt x="596900" y="16283"/>
                  </a:moveTo>
                  <a:lnTo>
                    <a:pt x="596900" y="288517"/>
                  </a:lnTo>
                  <a:cubicBezTo>
                    <a:pt x="596900" y="298915"/>
                    <a:pt x="592638" y="308859"/>
                    <a:pt x="585109" y="316030"/>
                  </a:cubicBezTo>
                  <a:lnTo>
                    <a:pt x="341991" y="547570"/>
                  </a:lnTo>
                  <a:cubicBezTo>
                    <a:pt x="334422" y="554779"/>
                    <a:pt x="324370" y="558800"/>
                    <a:pt x="313917" y="558800"/>
                  </a:cubicBezTo>
                  <a:lnTo>
                    <a:pt x="16283" y="558800"/>
                  </a:lnTo>
                  <a:cubicBezTo>
                    <a:pt x="7290" y="558800"/>
                    <a:pt x="0" y="551510"/>
                    <a:pt x="0" y="542517"/>
                  </a:cubicBezTo>
                  <a:lnTo>
                    <a:pt x="0" y="265203"/>
                  </a:lnTo>
                  <a:cubicBezTo>
                    <a:pt x="0" y="254809"/>
                    <a:pt x="4276" y="244871"/>
                    <a:pt x="11824" y="237724"/>
                  </a:cubicBezTo>
                  <a:lnTo>
                    <a:pt x="251066" y="11196"/>
                  </a:lnTo>
                  <a:cubicBezTo>
                    <a:pt x="258659" y="4007"/>
                    <a:pt x="268717" y="0"/>
                    <a:pt x="279173" y="0"/>
                  </a:cubicBezTo>
                  <a:lnTo>
                    <a:pt x="580617" y="0"/>
                  </a:lnTo>
                  <a:cubicBezTo>
                    <a:pt x="589610" y="0"/>
                    <a:pt x="596900" y="7290"/>
                    <a:pt x="596900" y="16283"/>
                  </a:cubicBezTo>
                  <a:close/>
                </a:path>
              </a:pathLst>
            </a:custGeom>
            <a:solidFill>
              <a:srgbClr val="014AAB">
                <a:alpha val="5882"/>
              </a:srgbClr>
            </a:solidFill>
          </p:spPr>
        </p:sp>
        <p:sp>
          <p:nvSpPr>
            <p:cNvPr name="TextBox 4" id="4"/>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5" id="5"/>
          <p:cNvGrpSpPr/>
          <p:nvPr/>
        </p:nvGrpSpPr>
        <p:grpSpPr>
          <a:xfrm rot="-5400000">
            <a:off x="-1951372" y="-821553"/>
            <a:ext cx="5308335" cy="4969505"/>
            <a:chOff x="0" y="0"/>
            <a:chExt cx="596900" cy="558800"/>
          </a:xfrm>
        </p:grpSpPr>
        <p:sp>
          <p:nvSpPr>
            <p:cNvPr name="Freeform 6" id="6"/>
            <p:cNvSpPr/>
            <p:nvPr/>
          </p:nvSpPr>
          <p:spPr>
            <a:xfrm flipH="false" flipV="false" rot="0">
              <a:off x="0" y="0"/>
              <a:ext cx="596900" cy="558800"/>
            </a:xfrm>
            <a:custGeom>
              <a:avLst/>
              <a:gdLst/>
              <a:ahLst/>
              <a:cxnLst/>
              <a:rect r="r" b="b" t="t" l="l"/>
              <a:pathLst>
                <a:path h="558800" w="596900">
                  <a:moveTo>
                    <a:pt x="596900" y="17137"/>
                  </a:moveTo>
                  <a:lnTo>
                    <a:pt x="596900" y="287663"/>
                  </a:lnTo>
                  <a:cubicBezTo>
                    <a:pt x="596900" y="298606"/>
                    <a:pt x="592415" y="309071"/>
                    <a:pt x="584491" y="316618"/>
                  </a:cubicBezTo>
                  <a:lnTo>
                    <a:pt x="342609" y="546982"/>
                  </a:lnTo>
                  <a:cubicBezTo>
                    <a:pt x="334643" y="554568"/>
                    <a:pt x="324064" y="558800"/>
                    <a:pt x="313063" y="558800"/>
                  </a:cubicBezTo>
                  <a:lnTo>
                    <a:pt x="17137" y="558800"/>
                  </a:lnTo>
                  <a:cubicBezTo>
                    <a:pt x="12592" y="558800"/>
                    <a:pt x="8233" y="556995"/>
                    <a:pt x="5019" y="553781"/>
                  </a:cubicBezTo>
                  <a:cubicBezTo>
                    <a:pt x="1805" y="550567"/>
                    <a:pt x="0" y="546208"/>
                    <a:pt x="0" y="541663"/>
                  </a:cubicBezTo>
                  <a:lnTo>
                    <a:pt x="0" y="266057"/>
                  </a:lnTo>
                  <a:cubicBezTo>
                    <a:pt x="0" y="255117"/>
                    <a:pt x="4500" y="244659"/>
                    <a:pt x="12444" y="237138"/>
                  </a:cubicBezTo>
                  <a:lnTo>
                    <a:pt x="250446" y="11782"/>
                  </a:lnTo>
                  <a:cubicBezTo>
                    <a:pt x="258437" y="4217"/>
                    <a:pt x="269023" y="0"/>
                    <a:pt x="280027" y="0"/>
                  </a:cubicBezTo>
                  <a:lnTo>
                    <a:pt x="579763" y="0"/>
                  </a:lnTo>
                  <a:cubicBezTo>
                    <a:pt x="584308" y="0"/>
                    <a:pt x="588667" y="1805"/>
                    <a:pt x="591881" y="5019"/>
                  </a:cubicBezTo>
                  <a:cubicBezTo>
                    <a:pt x="595095" y="8233"/>
                    <a:pt x="596900" y="12592"/>
                    <a:pt x="596900" y="17137"/>
                  </a:cubicBezTo>
                  <a:close/>
                </a:path>
              </a:pathLst>
            </a:custGeom>
            <a:solidFill>
              <a:srgbClr val="014AAB">
                <a:alpha val="5882"/>
              </a:srgbClr>
            </a:solidFill>
          </p:spPr>
        </p:sp>
        <p:sp>
          <p:nvSpPr>
            <p:cNvPr name="TextBox 7" id="7"/>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8" id="8"/>
          <p:cNvGrpSpPr/>
          <p:nvPr/>
        </p:nvGrpSpPr>
        <p:grpSpPr>
          <a:xfrm rot="0">
            <a:off x="10987743" y="0"/>
            <a:ext cx="9949049" cy="9314003"/>
            <a:chOff x="0" y="0"/>
            <a:chExt cx="596900" cy="558800"/>
          </a:xfrm>
        </p:grpSpPr>
        <p:sp>
          <p:nvSpPr>
            <p:cNvPr name="Freeform 9" id="9"/>
            <p:cNvSpPr/>
            <p:nvPr/>
          </p:nvSpPr>
          <p:spPr>
            <a:xfrm flipH="false" flipV="false" rot="0">
              <a:off x="0" y="0"/>
              <a:ext cx="596900" cy="558800"/>
            </a:xfrm>
            <a:custGeom>
              <a:avLst/>
              <a:gdLst/>
              <a:ahLst/>
              <a:cxnLst/>
              <a:rect r="r" b="b" t="t" l="l"/>
              <a:pathLst>
                <a:path h="558800" w="596900">
                  <a:moveTo>
                    <a:pt x="596900" y="9143"/>
                  </a:moveTo>
                  <a:lnTo>
                    <a:pt x="596900" y="295657"/>
                  </a:lnTo>
                  <a:cubicBezTo>
                    <a:pt x="596900" y="301495"/>
                    <a:pt x="594507" y="307079"/>
                    <a:pt x="590279" y="311106"/>
                  </a:cubicBezTo>
                  <a:lnTo>
                    <a:pt x="336821" y="552494"/>
                  </a:lnTo>
                  <a:cubicBezTo>
                    <a:pt x="332571" y="556542"/>
                    <a:pt x="326926" y="558800"/>
                    <a:pt x="321057" y="558800"/>
                  </a:cubicBezTo>
                  <a:lnTo>
                    <a:pt x="9143" y="558800"/>
                  </a:lnTo>
                  <a:cubicBezTo>
                    <a:pt x="4094" y="558800"/>
                    <a:pt x="0" y="554706"/>
                    <a:pt x="0" y="549657"/>
                  </a:cubicBezTo>
                  <a:lnTo>
                    <a:pt x="0" y="258063"/>
                  </a:lnTo>
                  <a:cubicBezTo>
                    <a:pt x="0" y="252226"/>
                    <a:pt x="2401" y="246647"/>
                    <a:pt x="6639" y="242633"/>
                  </a:cubicBezTo>
                  <a:lnTo>
                    <a:pt x="256251" y="6287"/>
                  </a:lnTo>
                  <a:cubicBezTo>
                    <a:pt x="260514" y="2250"/>
                    <a:pt x="266162" y="0"/>
                    <a:pt x="272033" y="0"/>
                  </a:cubicBezTo>
                  <a:lnTo>
                    <a:pt x="587757" y="0"/>
                  </a:lnTo>
                  <a:cubicBezTo>
                    <a:pt x="592806" y="0"/>
                    <a:pt x="596900" y="4094"/>
                    <a:pt x="596900" y="9143"/>
                  </a:cubicBezTo>
                  <a:close/>
                </a:path>
              </a:pathLst>
            </a:custGeom>
            <a:ln w="142875" cap="sq">
              <a:solidFill>
                <a:srgbClr val="8DABD2"/>
              </a:solidFill>
              <a:prstDash val="solid"/>
              <a:miter/>
            </a:ln>
          </p:spPr>
        </p:sp>
        <p:sp>
          <p:nvSpPr>
            <p:cNvPr name="TextBox 10" id="10"/>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1" id="11"/>
          <p:cNvGrpSpPr/>
          <p:nvPr/>
        </p:nvGrpSpPr>
        <p:grpSpPr>
          <a:xfrm rot="0">
            <a:off x="11455920" y="438294"/>
            <a:ext cx="9012694" cy="8437416"/>
            <a:chOff x="0" y="0"/>
            <a:chExt cx="596900" cy="558800"/>
          </a:xfrm>
        </p:grpSpPr>
        <p:sp>
          <p:nvSpPr>
            <p:cNvPr name="Freeform 12" id="12"/>
            <p:cNvSpPr/>
            <p:nvPr/>
          </p:nvSpPr>
          <p:spPr>
            <a:xfrm flipH="false" flipV="false" rot="0">
              <a:off x="0" y="0"/>
              <a:ext cx="596900" cy="558800"/>
            </a:xfrm>
            <a:custGeom>
              <a:avLst/>
              <a:gdLst/>
              <a:ahLst/>
              <a:cxnLst/>
              <a:rect r="r" b="b" t="t" l="l"/>
              <a:pathLst>
                <a:path h="558800" w="596900">
                  <a:moveTo>
                    <a:pt x="596900" y="10093"/>
                  </a:moveTo>
                  <a:lnTo>
                    <a:pt x="596900" y="294707"/>
                  </a:lnTo>
                  <a:cubicBezTo>
                    <a:pt x="596900" y="301152"/>
                    <a:pt x="594258" y="307316"/>
                    <a:pt x="589591" y="311761"/>
                  </a:cubicBezTo>
                  <a:lnTo>
                    <a:pt x="337509" y="551839"/>
                  </a:lnTo>
                  <a:cubicBezTo>
                    <a:pt x="332817" y="556308"/>
                    <a:pt x="326586" y="558800"/>
                    <a:pt x="320107" y="558800"/>
                  </a:cubicBezTo>
                  <a:lnTo>
                    <a:pt x="10093" y="558800"/>
                  </a:lnTo>
                  <a:cubicBezTo>
                    <a:pt x="7416" y="558800"/>
                    <a:pt x="4849" y="557737"/>
                    <a:pt x="2956" y="555844"/>
                  </a:cubicBezTo>
                  <a:cubicBezTo>
                    <a:pt x="1063" y="553951"/>
                    <a:pt x="0" y="551384"/>
                    <a:pt x="0" y="548707"/>
                  </a:cubicBezTo>
                  <a:lnTo>
                    <a:pt x="0" y="259013"/>
                  </a:lnTo>
                  <a:cubicBezTo>
                    <a:pt x="0" y="252570"/>
                    <a:pt x="2650" y="246410"/>
                    <a:pt x="7329" y="241980"/>
                  </a:cubicBezTo>
                  <a:lnTo>
                    <a:pt x="255561" y="6940"/>
                  </a:lnTo>
                  <a:cubicBezTo>
                    <a:pt x="260267" y="2483"/>
                    <a:pt x="266502" y="0"/>
                    <a:pt x="272983" y="0"/>
                  </a:cubicBezTo>
                  <a:lnTo>
                    <a:pt x="586807" y="0"/>
                  </a:lnTo>
                  <a:cubicBezTo>
                    <a:pt x="589484" y="0"/>
                    <a:pt x="592051" y="1063"/>
                    <a:pt x="593944" y="2956"/>
                  </a:cubicBezTo>
                  <a:cubicBezTo>
                    <a:pt x="595837" y="4849"/>
                    <a:pt x="596900" y="7416"/>
                    <a:pt x="596900" y="10093"/>
                  </a:cubicBezTo>
                  <a:close/>
                </a:path>
              </a:pathLst>
            </a:custGeom>
            <a:solidFill>
              <a:srgbClr val="014AAB"/>
            </a:solidFill>
          </p:spPr>
        </p:sp>
        <p:sp>
          <p:nvSpPr>
            <p:cNvPr name="TextBox 13" id="13"/>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4" id="14"/>
          <p:cNvGrpSpPr/>
          <p:nvPr/>
        </p:nvGrpSpPr>
        <p:grpSpPr>
          <a:xfrm rot="0">
            <a:off x="12180050" y="1404182"/>
            <a:ext cx="5547029" cy="6854956"/>
            <a:chOff x="0" y="0"/>
            <a:chExt cx="1460623" cy="1805022"/>
          </a:xfrm>
        </p:grpSpPr>
        <p:sp>
          <p:nvSpPr>
            <p:cNvPr name="Freeform 15" id="15"/>
            <p:cNvSpPr/>
            <p:nvPr/>
          </p:nvSpPr>
          <p:spPr>
            <a:xfrm flipH="false" flipV="false" rot="0">
              <a:off x="0" y="0"/>
              <a:ext cx="1460627" cy="1805022"/>
            </a:xfrm>
            <a:custGeom>
              <a:avLst/>
              <a:gdLst/>
              <a:ahLst/>
              <a:cxnLst/>
              <a:rect r="r" b="b" t="t" l="l"/>
              <a:pathLst>
                <a:path h="1805022" w="1460627">
                  <a:moveTo>
                    <a:pt x="1460627" y="1189424"/>
                  </a:moveTo>
                  <a:lnTo>
                    <a:pt x="1460627" y="561989"/>
                  </a:lnTo>
                  <a:cubicBezTo>
                    <a:pt x="1460629" y="522853"/>
                    <a:pt x="1446205" y="485089"/>
                    <a:pt x="1420114" y="455919"/>
                  </a:cubicBezTo>
                  <a:lnTo>
                    <a:pt x="1046362" y="38122"/>
                  </a:lnTo>
                  <a:cubicBezTo>
                    <a:pt x="1024662" y="13865"/>
                    <a:pt x="993657" y="0"/>
                    <a:pt x="961111" y="0"/>
                  </a:cubicBezTo>
                  <a:lnTo>
                    <a:pt x="114384" y="0"/>
                  </a:lnTo>
                  <a:cubicBezTo>
                    <a:pt x="51211" y="0"/>
                    <a:pt x="0" y="51211"/>
                    <a:pt x="0" y="114384"/>
                  </a:cubicBezTo>
                  <a:lnTo>
                    <a:pt x="0" y="501214"/>
                  </a:lnTo>
                  <a:lnTo>
                    <a:pt x="0" y="1234766"/>
                  </a:lnTo>
                  <a:cubicBezTo>
                    <a:pt x="0" y="1279232"/>
                    <a:pt x="16390" y="1322137"/>
                    <a:pt x="46036" y="1355277"/>
                  </a:cubicBezTo>
                  <a:lnTo>
                    <a:pt x="414263" y="1766900"/>
                  </a:lnTo>
                  <a:cubicBezTo>
                    <a:pt x="435962" y="1791157"/>
                    <a:pt x="466967" y="1805022"/>
                    <a:pt x="499514" y="1805022"/>
                  </a:cubicBezTo>
                  <a:lnTo>
                    <a:pt x="944739" y="1805022"/>
                  </a:lnTo>
                  <a:cubicBezTo>
                    <a:pt x="975076" y="1805022"/>
                    <a:pt x="1004170" y="1792971"/>
                    <a:pt x="1025621" y="1771520"/>
                  </a:cubicBezTo>
                  <a:cubicBezTo>
                    <a:pt x="1047073" y="1750069"/>
                    <a:pt x="1059124" y="1720975"/>
                    <a:pt x="1059124" y="1690638"/>
                  </a:cubicBezTo>
                  <a:lnTo>
                    <a:pt x="1059124" y="1418193"/>
                  </a:lnTo>
                  <a:cubicBezTo>
                    <a:pt x="1059124" y="1355019"/>
                    <a:pt x="1110336" y="1303808"/>
                    <a:pt x="1173509" y="1303808"/>
                  </a:cubicBezTo>
                  <a:lnTo>
                    <a:pt x="1346241" y="1303808"/>
                  </a:lnTo>
                  <a:cubicBezTo>
                    <a:pt x="1376578" y="1303808"/>
                    <a:pt x="1405672" y="1291757"/>
                    <a:pt x="1427124" y="1270306"/>
                  </a:cubicBezTo>
                  <a:cubicBezTo>
                    <a:pt x="1448576" y="1248855"/>
                    <a:pt x="1460627" y="1219761"/>
                    <a:pt x="1460627" y="1189424"/>
                  </a:cubicBezTo>
                  <a:close/>
                </a:path>
              </a:pathLst>
            </a:custGeom>
            <a:blipFill>
              <a:blip r:embed="rId2"/>
              <a:stretch>
                <a:fillRect l="0" t="-27" r="0" b="-27"/>
              </a:stretch>
            </a:blipFill>
            <a:ln w="152400" cap="sq">
              <a:solidFill>
                <a:srgbClr val="FFFFFF"/>
              </a:solidFill>
              <a:prstDash val="solid"/>
              <a:miter/>
            </a:ln>
          </p:spPr>
        </p:sp>
      </p:grpSp>
      <p:grpSp>
        <p:nvGrpSpPr>
          <p:cNvPr name="Group 16" id="16"/>
          <p:cNvGrpSpPr/>
          <p:nvPr/>
        </p:nvGrpSpPr>
        <p:grpSpPr>
          <a:xfrm rot="0">
            <a:off x="6344311" y="6940650"/>
            <a:ext cx="6885531" cy="3577552"/>
            <a:chOff x="0" y="0"/>
            <a:chExt cx="1657619" cy="861258"/>
          </a:xfrm>
        </p:grpSpPr>
        <p:sp>
          <p:nvSpPr>
            <p:cNvPr name="Freeform 17" id="17"/>
            <p:cNvSpPr/>
            <p:nvPr/>
          </p:nvSpPr>
          <p:spPr>
            <a:xfrm flipH="false" flipV="false" rot="0">
              <a:off x="0" y="0"/>
              <a:ext cx="1657622" cy="861258"/>
            </a:xfrm>
            <a:custGeom>
              <a:avLst/>
              <a:gdLst/>
              <a:ahLst/>
              <a:cxnLst/>
              <a:rect r="r" b="b" t="t" l="l"/>
              <a:pathLst>
                <a:path h="861258" w="1657622">
                  <a:moveTo>
                    <a:pt x="1310663" y="0"/>
                  </a:moveTo>
                  <a:lnTo>
                    <a:pt x="148415" y="0"/>
                  </a:lnTo>
                  <a:cubicBezTo>
                    <a:pt x="66448" y="0"/>
                    <a:pt x="0" y="66448"/>
                    <a:pt x="0" y="148415"/>
                  </a:cubicBezTo>
                  <a:lnTo>
                    <a:pt x="0" y="581866"/>
                  </a:lnTo>
                  <a:cubicBezTo>
                    <a:pt x="0" y="618376"/>
                    <a:pt x="13458" y="653606"/>
                    <a:pt x="37800" y="680818"/>
                  </a:cubicBezTo>
                  <a:lnTo>
                    <a:pt x="154967" y="811794"/>
                  </a:lnTo>
                  <a:cubicBezTo>
                    <a:pt x="183122" y="843269"/>
                    <a:pt x="223353" y="861259"/>
                    <a:pt x="265584" y="861258"/>
                  </a:cubicBezTo>
                  <a:lnTo>
                    <a:pt x="1509206" y="861258"/>
                  </a:lnTo>
                  <a:cubicBezTo>
                    <a:pt x="1548568" y="861258"/>
                    <a:pt x="1586318" y="845622"/>
                    <a:pt x="1614152" y="817789"/>
                  </a:cubicBezTo>
                  <a:cubicBezTo>
                    <a:pt x="1641985" y="789956"/>
                    <a:pt x="1657622" y="752206"/>
                    <a:pt x="1657622" y="712843"/>
                  </a:cubicBezTo>
                  <a:lnTo>
                    <a:pt x="1657622" y="366141"/>
                  </a:lnTo>
                  <a:cubicBezTo>
                    <a:pt x="1657622" y="329143"/>
                    <a:pt x="1643803" y="293478"/>
                    <a:pt x="1618873" y="266140"/>
                  </a:cubicBezTo>
                  <a:lnTo>
                    <a:pt x="1420330" y="48414"/>
                  </a:lnTo>
                  <a:cubicBezTo>
                    <a:pt x="1392207" y="17574"/>
                    <a:pt x="1352400" y="0"/>
                    <a:pt x="1310663" y="0"/>
                  </a:cubicBezTo>
                  <a:close/>
                </a:path>
              </a:pathLst>
            </a:custGeom>
            <a:blipFill>
              <a:blip r:embed="rId3"/>
              <a:stretch>
                <a:fillRect l="0" t="-401" r="0" b="-401"/>
              </a:stretch>
            </a:blipFill>
            <a:ln w="142875" cap="sq">
              <a:solidFill>
                <a:srgbClr val="FFFFFF"/>
              </a:solidFill>
              <a:prstDash val="solid"/>
              <a:miter/>
            </a:ln>
          </p:spPr>
        </p:sp>
      </p:grpSp>
      <p:grpSp>
        <p:nvGrpSpPr>
          <p:cNvPr name="Group 18" id="18"/>
          <p:cNvGrpSpPr/>
          <p:nvPr/>
        </p:nvGrpSpPr>
        <p:grpSpPr>
          <a:xfrm rot="-5400000">
            <a:off x="556994" y="6621083"/>
            <a:ext cx="4568455" cy="4276852"/>
            <a:chOff x="0" y="0"/>
            <a:chExt cx="596900" cy="558800"/>
          </a:xfrm>
        </p:grpSpPr>
        <p:sp>
          <p:nvSpPr>
            <p:cNvPr name="Freeform 19" id="19"/>
            <p:cNvSpPr/>
            <p:nvPr/>
          </p:nvSpPr>
          <p:spPr>
            <a:xfrm flipH="false" flipV="false" rot="0">
              <a:off x="0" y="0"/>
              <a:ext cx="596900" cy="558800"/>
            </a:xfrm>
            <a:custGeom>
              <a:avLst/>
              <a:gdLst/>
              <a:ahLst/>
              <a:cxnLst/>
              <a:rect r="r" b="b" t="t" l="l"/>
              <a:pathLst>
                <a:path h="558800" w="596900">
                  <a:moveTo>
                    <a:pt x="596900" y="21157"/>
                  </a:moveTo>
                  <a:lnTo>
                    <a:pt x="596900" y="283643"/>
                  </a:lnTo>
                  <a:cubicBezTo>
                    <a:pt x="596900" y="297154"/>
                    <a:pt x="591363" y="310073"/>
                    <a:pt x="581580" y="319391"/>
                  </a:cubicBezTo>
                  <a:lnTo>
                    <a:pt x="345520" y="544209"/>
                  </a:lnTo>
                  <a:cubicBezTo>
                    <a:pt x="335686" y="553576"/>
                    <a:pt x="322625" y="558800"/>
                    <a:pt x="309043" y="558800"/>
                  </a:cubicBezTo>
                  <a:lnTo>
                    <a:pt x="21157" y="558800"/>
                  </a:lnTo>
                  <a:cubicBezTo>
                    <a:pt x="9472" y="558800"/>
                    <a:pt x="0" y="549328"/>
                    <a:pt x="0" y="537643"/>
                  </a:cubicBezTo>
                  <a:lnTo>
                    <a:pt x="0" y="270077"/>
                  </a:lnTo>
                  <a:cubicBezTo>
                    <a:pt x="0" y="256571"/>
                    <a:pt x="5556" y="243660"/>
                    <a:pt x="15363" y="234374"/>
                  </a:cubicBezTo>
                  <a:lnTo>
                    <a:pt x="247527" y="14546"/>
                  </a:lnTo>
                  <a:cubicBezTo>
                    <a:pt x="257392" y="5206"/>
                    <a:pt x="270461" y="0"/>
                    <a:pt x="284047" y="0"/>
                  </a:cubicBezTo>
                  <a:lnTo>
                    <a:pt x="575743" y="0"/>
                  </a:lnTo>
                  <a:cubicBezTo>
                    <a:pt x="587428" y="0"/>
                    <a:pt x="596900" y="9472"/>
                    <a:pt x="596900" y="21157"/>
                  </a:cubicBezTo>
                  <a:close/>
                </a:path>
              </a:pathLst>
            </a:custGeom>
            <a:solidFill>
              <a:srgbClr val="8DABD2"/>
            </a:solidFill>
          </p:spPr>
        </p:sp>
        <p:sp>
          <p:nvSpPr>
            <p:cNvPr name="TextBox 20" id="20"/>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21" id="21"/>
          <p:cNvGrpSpPr/>
          <p:nvPr/>
        </p:nvGrpSpPr>
        <p:grpSpPr>
          <a:xfrm rot="-5400000">
            <a:off x="9035539" y="-3630374"/>
            <a:ext cx="4568455" cy="4276852"/>
            <a:chOff x="0" y="0"/>
            <a:chExt cx="596900" cy="558800"/>
          </a:xfrm>
        </p:grpSpPr>
        <p:sp>
          <p:nvSpPr>
            <p:cNvPr name="Freeform 22" id="22"/>
            <p:cNvSpPr/>
            <p:nvPr/>
          </p:nvSpPr>
          <p:spPr>
            <a:xfrm flipH="false" flipV="false" rot="0">
              <a:off x="0" y="0"/>
              <a:ext cx="596900" cy="558800"/>
            </a:xfrm>
            <a:custGeom>
              <a:avLst/>
              <a:gdLst/>
              <a:ahLst/>
              <a:cxnLst/>
              <a:rect r="r" b="b" t="t" l="l"/>
              <a:pathLst>
                <a:path h="558800" w="596900">
                  <a:moveTo>
                    <a:pt x="596900" y="21157"/>
                  </a:moveTo>
                  <a:lnTo>
                    <a:pt x="596900" y="283643"/>
                  </a:lnTo>
                  <a:cubicBezTo>
                    <a:pt x="596900" y="297154"/>
                    <a:pt x="591363" y="310073"/>
                    <a:pt x="581580" y="319391"/>
                  </a:cubicBezTo>
                  <a:lnTo>
                    <a:pt x="345520" y="544209"/>
                  </a:lnTo>
                  <a:cubicBezTo>
                    <a:pt x="335686" y="553576"/>
                    <a:pt x="322625" y="558800"/>
                    <a:pt x="309043" y="558800"/>
                  </a:cubicBezTo>
                  <a:lnTo>
                    <a:pt x="21157" y="558800"/>
                  </a:lnTo>
                  <a:cubicBezTo>
                    <a:pt x="9472" y="558800"/>
                    <a:pt x="0" y="549328"/>
                    <a:pt x="0" y="537643"/>
                  </a:cubicBezTo>
                  <a:lnTo>
                    <a:pt x="0" y="270077"/>
                  </a:lnTo>
                  <a:cubicBezTo>
                    <a:pt x="0" y="256571"/>
                    <a:pt x="5556" y="243660"/>
                    <a:pt x="15363" y="234374"/>
                  </a:cubicBezTo>
                  <a:lnTo>
                    <a:pt x="247527" y="14546"/>
                  </a:lnTo>
                  <a:cubicBezTo>
                    <a:pt x="257392" y="5206"/>
                    <a:pt x="270461" y="0"/>
                    <a:pt x="284047" y="0"/>
                  </a:cubicBezTo>
                  <a:lnTo>
                    <a:pt x="575743" y="0"/>
                  </a:lnTo>
                  <a:cubicBezTo>
                    <a:pt x="587428" y="0"/>
                    <a:pt x="596900" y="9472"/>
                    <a:pt x="596900" y="21157"/>
                  </a:cubicBezTo>
                  <a:close/>
                </a:path>
              </a:pathLst>
            </a:custGeom>
            <a:solidFill>
              <a:srgbClr val="014AAB"/>
            </a:solidFill>
          </p:spPr>
        </p:sp>
        <p:sp>
          <p:nvSpPr>
            <p:cNvPr name="TextBox 23" id="23"/>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24" id="24"/>
          <p:cNvGrpSpPr/>
          <p:nvPr/>
        </p:nvGrpSpPr>
        <p:grpSpPr>
          <a:xfrm rot="0">
            <a:off x="-912428" y="6940650"/>
            <a:ext cx="6885531" cy="3577552"/>
            <a:chOff x="0" y="0"/>
            <a:chExt cx="1657619" cy="861258"/>
          </a:xfrm>
        </p:grpSpPr>
        <p:sp>
          <p:nvSpPr>
            <p:cNvPr name="Freeform 25" id="25"/>
            <p:cNvSpPr/>
            <p:nvPr/>
          </p:nvSpPr>
          <p:spPr>
            <a:xfrm flipH="false" flipV="false" rot="0">
              <a:off x="0" y="0"/>
              <a:ext cx="1657622" cy="861258"/>
            </a:xfrm>
            <a:custGeom>
              <a:avLst/>
              <a:gdLst/>
              <a:ahLst/>
              <a:cxnLst/>
              <a:rect r="r" b="b" t="t" l="l"/>
              <a:pathLst>
                <a:path h="861258" w="1657622">
                  <a:moveTo>
                    <a:pt x="1310663" y="0"/>
                  </a:moveTo>
                  <a:lnTo>
                    <a:pt x="148415" y="0"/>
                  </a:lnTo>
                  <a:cubicBezTo>
                    <a:pt x="66448" y="0"/>
                    <a:pt x="0" y="66448"/>
                    <a:pt x="0" y="148415"/>
                  </a:cubicBezTo>
                  <a:lnTo>
                    <a:pt x="0" y="581866"/>
                  </a:lnTo>
                  <a:cubicBezTo>
                    <a:pt x="0" y="618376"/>
                    <a:pt x="13458" y="653606"/>
                    <a:pt x="37800" y="680818"/>
                  </a:cubicBezTo>
                  <a:lnTo>
                    <a:pt x="154967" y="811794"/>
                  </a:lnTo>
                  <a:cubicBezTo>
                    <a:pt x="183122" y="843269"/>
                    <a:pt x="223353" y="861259"/>
                    <a:pt x="265584" y="861258"/>
                  </a:cubicBezTo>
                  <a:lnTo>
                    <a:pt x="1509206" y="861258"/>
                  </a:lnTo>
                  <a:cubicBezTo>
                    <a:pt x="1548568" y="861258"/>
                    <a:pt x="1586318" y="845622"/>
                    <a:pt x="1614152" y="817789"/>
                  </a:cubicBezTo>
                  <a:cubicBezTo>
                    <a:pt x="1641985" y="789956"/>
                    <a:pt x="1657622" y="752206"/>
                    <a:pt x="1657622" y="712843"/>
                  </a:cubicBezTo>
                  <a:lnTo>
                    <a:pt x="1657622" y="366141"/>
                  </a:lnTo>
                  <a:cubicBezTo>
                    <a:pt x="1657622" y="329143"/>
                    <a:pt x="1643803" y="293478"/>
                    <a:pt x="1618873" y="266140"/>
                  </a:cubicBezTo>
                  <a:lnTo>
                    <a:pt x="1420330" y="48414"/>
                  </a:lnTo>
                  <a:cubicBezTo>
                    <a:pt x="1392207" y="17574"/>
                    <a:pt x="1352400" y="0"/>
                    <a:pt x="1310663" y="0"/>
                  </a:cubicBezTo>
                  <a:close/>
                </a:path>
              </a:pathLst>
            </a:custGeom>
            <a:blipFill>
              <a:blip r:embed="rId4"/>
              <a:stretch>
                <a:fillRect l="0" t="-401" r="0" b="-401"/>
              </a:stretch>
            </a:blipFill>
            <a:ln w="142875" cap="sq">
              <a:solidFill>
                <a:srgbClr val="FFFFFF"/>
              </a:solidFill>
              <a:prstDash val="solid"/>
              <a:miter/>
            </a:ln>
          </p:spPr>
        </p:sp>
      </p:grpSp>
      <p:sp>
        <p:nvSpPr>
          <p:cNvPr name="Freeform 26" id="26"/>
          <p:cNvSpPr/>
          <p:nvPr/>
        </p:nvSpPr>
        <p:spPr>
          <a:xfrm flipH="false" flipV="true" rot="0">
            <a:off x="16638425" y="7798931"/>
            <a:ext cx="2177309" cy="2153557"/>
          </a:xfrm>
          <a:custGeom>
            <a:avLst/>
            <a:gdLst/>
            <a:ahLst/>
            <a:cxnLst/>
            <a:rect r="r" b="b" t="t" l="l"/>
            <a:pathLst>
              <a:path h="2153557" w="2177309">
                <a:moveTo>
                  <a:pt x="0" y="2153557"/>
                </a:moveTo>
                <a:lnTo>
                  <a:pt x="2177309" y="2153557"/>
                </a:lnTo>
                <a:lnTo>
                  <a:pt x="2177309" y="0"/>
                </a:lnTo>
                <a:lnTo>
                  <a:pt x="0" y="0"/>
                </a:lnTo>
                <a:lnTo>
                  <a:pt x="0" y="2153557"/>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7" id="27"/>
          <p:cNvSpPr/>
          <p:nvPr/>
        </p:nvSpPr>
        <p:spPr>
          <a:xfrm flipH="false" flipV="false" rot="0">
            <a:off x="9181341" y="6513687"/>
            <a:ext cx="1211471" cy="200443"/>
          </a:xfrm>
          <a:custGeom>
            <a:avLst/>
            <a:gdLst/>
            <a:ahLst/>
            <a:cxnLst/>
            <a:rect r="r" b="b" t="t" l="l"/>
            <a:pathLst>
              <a:path h="200443" w="1211471">
                <a:moveTo>
                  <a:pt x="0" y="0"/>
                </a:moveTo>
                <a:lnTo>
                  <a:pt x="1211471" y="0"/>
                </a:lnTo>
                <a:lnTo>
                  <a:pt x="1211471" y="200444"/>
                </a:lnTo>
                <a:lnTo>
                  <a:pt x="0" y="20044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8" id="28"/>
          <p:cNvSpPr txBox="true"/>
          <p:nvPr/>
        </p:nvSpPr>
        <p:spPr>
          <a:xfrm rot="0">
            <a:off x="1202761" y="1947107"/>
            <a:ext cx="9718307" cy="660945"/>
          </a:xfrm>
          <a:prstGeom prst="rect">
            <a:avLst/>
          </a:prstGeom>
        </p:spPr>
        <p:txBody>
          <a:bodyPr anchor="t" rtlCol="false" tIns="0" lIns="0" bIns="0" rIns="0">
            <a:spAutoFit/>
          </a:bodyPr>
          <a:lstStyle/>
          <a:p>
            <a:pPr algn="l" marL="0" indent="0" lvl="0">
              <a:lnSpc>
                <a:spcPts val="5021"/>
              </a:lnSpc>
            </a:pPr>
            <a:r>
              <a:rPr lang="en-US" b="true" sz="5021" spc="100">
                <a:solidFill>
                  <a:srgbClr val="011A3C"/>
                </a:solidFill>
                <a:latin typeface="Gotham Bold"/>
                <a:ea typeface="Gotham Bold"/>
                <a:cs typeface="Gotham Bold"/>
                <a:sym typeface="Gotham Bold"/>
              </a:rPr>
              <a:t>Conclusión </a:t>
            </a:r>
          </a:p>
        </p:txBody>
      </p:sp>
      <p:sp>
        <p:nvSpPr>
          <p:cNvPr name="TextBox 29" id="29"/>
          <p:cNvSpPr txBox="true"/>
          <p:nvPr/>
        </p:nvSpPr>
        <p:spPr>
          <a:xfrm rot="0">
            <a:off x="1202761" y="3014155"/>
            <a:ext cx="9560324" cy="1369102"/>
          </a:xfrm>
          <a:prstGeom prst="rect">
            <a:avLst/>
          </a:prstGeom>
        </p:spPr>
        <p:txBody>
          <a:bodyPr anchor="t" rtlCol="false" tIns="0" lIns="0" bIns="0" rIns="0">
            <a:spAutoFit/>
          </a:bodyPr>
          <a:lstStyle/>
          <a:p>
            <a:pPr algn="l" marL="0" indent="0" lvl="0">
              <a:lnSpc>
                <a:spcPts val="2762"/>
              </a:lnSpc>
            </a:pPr>
            <a:r>
              <a:rPr lang="en-US" sz="1973">
                <a:solidFill>
                  <a:srgbClr val="011A3C"/>
                </a:solidFill>
                <a:latin typeface="Nunito"/>
                <a:ea typeface="Nunito"/>
                <a:cs typeface="Nunito"/>
                <a:sym typeface="Nunito"/>
              </a:rPr>
              <a:t>El sistema de riego automatizado multivariable demuestra que es posible desarrollar soluciones de bajo costo con Arduino Uno, sensores resistivos y comunicación Bluetooth, logrando una tasa de acierto del 100% en la actuación del relé y latencia estable de 2000ms sin pérdida de paquetes hasta 10 metros de distancia.</a:t>
            </a:r>
          </a:p>
        </p:txBody>
      </p:sp>
      <p:sp>
        <p:nvSpPr>
          <p:cNvPr name="TextBox 30" id="30"/>
          <p:cNvSpPr txBox="true"/>
          <p:nvPr/>
        </p:nvSpPr>
        <p:spPr>
          <a:xfrm rot="0">
            <a:off x="1202761" y="4886099"/>
            <a:ext cx="9560324" cy="1026202"/>
          </a:xfrm>
          <a:prstGeom prst="rect">
            <a:avLst/>
          </a:prstGeom>
        </p:spPr>
        <p:txBody>
          <a:bodyPr anchor="t" rtlCol="false" tIns="0" lIns="0" bIns="0" rIns="0">
            <a:spAutoFit/>
          </a:bodyPr>
          <a:lstStyle/>
          <a:p>
            <a:pPr algn="l" marL="0" indent="0" lvl="0">
              <a:lnSpc>
                <a:spcPts val="2762"/>
              </a:lnSpc>
            </a:pPr>
            <a:r>
              <a:rPr lang="en-US" sz="1973">
                <a:solidFill>
                  <a:srgbClr val="011A3C"/>
                </a:solidFill>
                <a:latin typeface="Nunito"/>
                <a:ea typeface="Nunito"/>
                <a:cs typeface="Nunito"/>
                <a:sym typeface="Nunito"/>
              </a:rPr>
              <a:t>La arquitectura modular y el enfoque de Edge Computing sientan las bases para una escalabilidad hacia IoT con ESP32 y MQTT, TinyML para mantenimiento predictivo y almacenamiento histórico con SQLite. </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430768" y="4646344"/>
            <a:ext cx="5455035" cy="5106842"/>
            <a:chOff x="0" y="0"/>
            <a:chExt cx="596900" cy="558800"/>
          </a:xfrm>
        </p:grpSpPr>
        <p:sp>
          <p:nvSpPr>
            <p:cNvPr name="Freeform 3" id="3"/>
            <p:cNvSpPr/>
            <p:nvPr/>
          </p:nvSpPr>
          <p:spPr>
            <a:xfrm flipH="false" flipV="false" rot="0">
              <a:off x="0" y="0"/>
              <a:ext cx="596900" cy="558800"/>
            </a:xfrm>
            <a:custGeom>
              <a:avLst/>
              <a:gdLst/>
              <a:ahLst/>
              <a:cxnLst/>
              <a:rect r="r" b="b" t="t" l="l"/>
              <a:pathLst>
                <a:path h="558800" w="596900">
                  <a:moveTo>
                    <a:pt x="596900" y="16676"/>
                  </a:moveTo>
                  <a:lnTo>
                    <a:pt x="596900" y="288124"/>
                  </a:lnTo>
                  <a:cubicBezTo>
                    <a:pt x="596900" y="298773"/>
                    <a:pt x="592536" y="308957"/>
                    <a:pt x="584824" y="316301"/>
                  </a:cubicBezTo>
                  <a:lnTo>
                    <a:pt x="342276" y="547299"/>
                  </a:lnTo>
                  <a:cubicBezTo>
                    <a:pt x="334524" y="554682"/>
                    <a:pt x="324229" y="558800"/>
                    <a:pt x="313524" y="558800"/>
                  </a:cubicBezTo>
                  <a:lnTo>
                    <a:pt x="16676" y="558800"/>
                  </a:lnTo>
                  <a:cubicBezTo>
                    <a:pt x="12253" y="558800"/>
                    <a:pt x="8012" y="557043"/>
                    <a:pt x="4884" y="553916"/>
                  </a:cubicBezTo>
                  <a:cubicBezTo>
                    <a:pt x="1757" y="550788"/>
                    <a:pt x="0" y="546547"/>
                    <a:pt x="0" y="542124"/>
                  </a:cubicBezTo>
                  <a:lnTo>
                    <a:pt x="0" y="265596"/>
                  </a:lnTo>
                  <a:cubicBezTo>
                    <a:pt x="0" y="254950"/>
                    <a:pt x="4379" y="244774"/>
                    <a:pt x="12109" y="237454"/>
                  </a:cubicBezTo>
                  <a:lnTo>
                    <a:pt x="250781" y="11466"/>
                  </a:lnTo>
                  <a:cubicBezTo>
                    <a:pt x="258557" y="4103"/>
                    <a:pt x="268858" y="0"/>
                    <a:pt x="279566" y="0"/>
                  </a:cubicBezTo>
                  <a:lnTo>
                    <a:pt x="580224" y="0"/>
                  </a:lnTo>
                  <a:cubicBezTo>
                    <a:pt x="584647" y="0"/>
                    <a:pt x="588888" y="1757"/>
                    <a:pt x="592016" y="4884"/>
                  </a:cubicBezTo>
                  <a:cubicBezTo>
                    <a:pt x="595143" y="8012"/>
                    <a:pt x="596900" y="12253"/>
                    <a:pt x="596900" y="16676"/>
                  </a:cubicBezTo>
                  <a:close/>
                </a:path>
              </a:pathLst>
            </a:custGeom>
            <a:solidFill>
              <a:srgbClr val="014AAB"/>
            </a:solidFill>
          </p:spPr>
        </p:sp>
        <p:sp>
          <p:nvSpPr>
            <p:cNvPr name="TextBox 4" id="4"/>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5" id="5"/>
          <p:cNvGrpSpPr/>
          <p:nvPr/>
        </p:nvGrpSpPr>
        <p:grpSpPr>
          <a:xfrm rot="0">
            <a:off x="14626760" y="5534027"/>
            <a:ext cx="2765738" cy="2589201"/>
            <a:chOff x="0" y="0"/>
            <a:chExt cx="596900" cy="558800"/>
          </a:xfrm>
        </p:grpSpPr>
        <p:sp>
          <p:nvSpPr>
            <p:cNvPr name="Freeform 6" id="6"/>
            <p:cNvSpPr/>
            <p:nvPr/>
          </p:nvSpPr>
          <p:spPr>
            <a:xfrm flipH="false" flipV="false" rot="0">
              <a:off x="0" y="0"/>
              <a:ext cx="596900" cy="558800"/>
            </a:xfrm>
            <a:custGeom>
              <a:avLst/>
              <a:gdLst/>
              <a:ahLst/>
              <a:cxnLst/>
              <a:rect r="r" b="b" t="t" l="l"/>
              <a:pathLst>
                <a:path h="558800" w="596900">
                  <a:moveTo>
                    <a:pt x="596900" y="32891"/>
                  </a:moveTo>
                  <a:lnTo>
                    <a:pt x="596900" y="271909"/>
                  </a:lnTo>
                  <a:cubicBezTo>
                    <a:pt x="596900" y="292913"/>
                    <a:pt x="588292" y="312998"/>
                    <a:pt x="573082" y="327483"/>
                  </a:cubicBezTo>
                  <a:lnTo>
                    <a:pt x="354018" y="536117"/>
                  </a:lnTo>
                  <a:cubicBezTo>
                    <a:pt x="338728" y="550678"/>
                    <a:pt x="318423" y="558800"/>
                    <a:pt x="297309" y="558800"/>
                  </a:cubicBezTo>
                  <a:lnTo>
                    <a:pt x="32891" y="558800"/>
                  </a:lnTo>
                  <a:cubicBezTo>
                    <a:pt x="14726" y="558800"/>
                    <a:pt x="0" y="544074"/>
                    <a:pt x="0" y="525909"/>
                  </a:cubicBezTo>
                  <a:lnTo>
                    <a:pt x="0" y="281811"/>
                  </a:lnTo>
                  <a:cubicBezTo>
                    <a:pt x="0" y="260814"/>
                    <a:pt x="8637" y="240742"/>
                    <a:pt x="23883" y="226306"/>
                  </a:cubicBezTo>
                  <a:lnTo>
                    <a:pt x="239007" y="22614"/>
                  </a:lnTo>
                  <a:cubicBezTo>
                    <a:pt x="254343" y="8093"/>
                    <a:pt x="274661" y="0"/>
                    <a:pt x="295781" y="0"/>
                  </a:cubicBezTo>
                  <a:lnTo>
                    <a:pt x="564009" y="0"/>
                  </a:lnTo>
                  <a:cubicBezTo>
                    <a:pt x="582174" y="0"/>
                    <a:pt x="596900" y="14726"/>
                    <a:pt x="596900" y="32891"/>
                  </a:cubicBezTo>
                  <a:close/>
                </a:path>
              </a:pathLst>
            </a:custGeom>
            <a:solidFill>
              <a:srgbClr val="FFFFFF"/>
            </a:solidFill>
          </p:spPr>
        </p:sp>
        <p:sp>
          <p:nvSpPr>
            <p:cNvPr name="TextBox 7" id="7"/>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8" id="8"/>
          <p:cNvGrpSpPr/>
          <p:nvPr/>
        </p:nvGrpSpPr>
        <p:grpSpPr>
          <a:xfrm rot="0">
            <a:off x="4225979" y="8542449"/>
            <a:ext cx="4218545" cy="3949276"/>
            <a:chOff x="0" y="0"/>
            <a:chExt cx="596900" cy="558800"/>
          </a:xfrm>
        </p:grpSpPr>
        <p:sp>
          <p:nvSpPr>
            <p:cNvPr name="Freeform 9" id="9"/>
            <p:cNvSpPr/>
            <p:nvPr/>
          </p:nvSpPr>
          <p:spPr>
            <a:xfrm flipH="false" flipV="false" rot="0">
              <a:off x="0" y="0"/>
              <a:ext cx="596900" cy="558800"/>
            </a:xfrm>
            <a:custGeom>
              <a:avLst/>
              <a:gdLst/>
              <a:ahLst/>
              <a:cxnLst/>
              <a:rect r="r" b="b" t="t" l="l"/>
              <a:pathLst>
                <a:path h="558800" w="596900">
                  <a:moveTo>
                    <a:pt x="596900" y="21564"/>
                  </a:moveTo>
                  <a:lnTo>
                    <a:pt x="596900" y="283236"/>
                  </a:lnTo>
                  <a:cubicBezTo>
                    <a:pt x="596900" y="297006"/>
                    <a:pt x="591256" y="310175"/>
                    <a:pt x="581285" y="319672"/>
                  </a:cubicBezTo>
                  <a:lnTo>
                    <a:pt x="345815" y="543928"/>
                  </a:lnTo>
                  <a:cubicBezTo>
                    <a:pt x="335791" y="553475"/>
                    <a:pt x="322479" y="558800"/>
                    <a:pt x="308636" y="558800"/>
                  </a:cubicBezTo>
                  <a:lnTo>
                    <a:pt x="21564" y="558800"/>
                  </a:lnTo>
                  <a:cubicBezTo>
                    <a:pt x="9654" y="558800"/>
                    <a:pt x="0" y="549146"/>
                    <a:pt x="0" y="537236"/>
                  </a:cubicBezTo>
                  <a:lnTo>
                    <a:pt x="0" y="270484"/>
                  </a:lnTo>
                  <a:cubicBezTo>
                    <a:pt x="0" y="256718"/>
                    <a:pt x="5662" y="243558"/>
                    <a:pt x="15658" y="234094"/>
                  </a:cubicBezTo>
                  <a:lnTo>
                    <a:pt x="247232" y="14826"/>
                  </a:lnTo>
                  <a:cubicBezTo>
                    <a:pt x="257286" y="5306"/>
                    <a:pt x="270607" y="0"/>
                    <a:pt x="284454" y="0"/>
                  </a:cubicBezTo>
                  <a:lnTo>
                    <a:pt x="575336" y="0"/>
                  </a:lnTo>
                  <a:cubicBezTo>
                    <a:pt x="587246" y="0"/>
                    <a:pt x="596900" y="9654"/>
                    <a:pt x="596900" y="21564"/>
                  </a:cubicBezTo>
                  <a:close/>
                </a:path>
              </a:pathLst>
            </a:custGeom>
            <a:solidFill>
              <a:srgbClr val="014AAB">
                <a:alpha val="5882"/>
              </a:srgbClr>
            </a:solidFill>
          </p:spPr>
        </p:sp>
        <p:sp>
          <p:nvSpPr>
            <p:cNvPr name="TextBox 10" id="10"/>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1" id="11"/>
          <p:cNvGrpSpPr/>
          <p:nvPr/>
        </p:nvGrpSpPr>
        <p:grpSpPr>
          <a:xfrm rot="5400000">
            <a:off x="-536217" y="-2958766"/>
            <a:ext cx="6321001" cy="5917533"/>
            <a:chOff x="0" y="0"/>
            <a:chExt cx="596900" cy="558800"/>
          </a:xfrm>
        </p:grpSpPr>
        <p:sp>
          <p:nvSpPr>
            <p:cNvPr name="Freeform 12" id="12"/>
            <p:cNvSpPr/>
            <p:nvPr/>
          </p:nvSpPr>
          <p:spPr>
            <a:xfrm flipH="false" flipV="false" rot="0">
              <a:off x="0" y="0"/>
              <a:ext cx="596900" cy="558800"/>
            </a:xfrm>
            <a:custGeom>
              <a:avLst/>
              <a:gdLst/>
              <a:ahLst/>
              <a:cxnLst/>
              <a:rect r="r" b="b" t="t" l="l"/>
              <a:pathLst>
                <a:path h="558800" w="596900">
                  <a:moveTo>
                    <a:pt x="596900" y="14391"/>
                  </a:moveTo>
                  <a:lnTo>
                    <a:pt x="596900" y="290409"/>
                  </a:lnTo>
                  <a:cubicBezTo>
                    <a:pt x="596900" y="299599"/>
                    <a:pt x="593134" y="308387"/>
                    <a:pt x="586479" y="314725"/>
                  </a:cubicBezTo>
                  <a:lnTo>
                    <a:pt x="340621" y="548875"/>
                  </a:lnTo>
                  <a:cubicBezTo>
                    <a:pt x="333931" y="555246"/>
                    <a:pt x="325047" y="558800"/>
                    <a:pt x="315809" y="558800"/>
                  </a:cubicBezTo>
                  <a:lnTo>
                    <a:pt x="14391" y="558800"/>
                  </a:lnTo>
                  <a:cubicBezTo>
                    <a:pt x="10575" y="558800"/>
                    <a:pt x="6914" y="557284"/>
                    <a:pt x="4215" y="554585"/>
                  </a:cubicBezTo>
                  <a:cubicBezTo>
                    <a:pt x="1516" y="551886"/>
                    <a:pt x="0" y="548226"/>
                    <a:pt x="0" y="544409"/>
                  </a:cubicBezTo>
                  <a:lnTo>
                    <a:pt x="0" y="263311"/>
                  </a:lnTo>
                  <a:cubicBezTo>
                    <a:pt x="0" y="254124"/>
                    <a:pt x="3779" y="245342"/>
                    <a:pt x="10450" y="239025"/>
                  </a:cubicBezTo>
                  <a:lnTo>
                    <a:pt x="252440" y="9895"/>
                  </a:lnTo>
                  <a:cubicBezTo>
                    <a:pt x="259150" y="3541"/>
                    <a:pt x="268040" y="0"/>
                    <a:pt x="277281" y="0"/>
                  </a:cubicBezTo>
                  <a:lnTo>
                    <a:pt x="582509" y="0"/>
                  </a:lnTo>
                  <a:cubicBezTo>
                    <a:pt x="586326" y="0"/>
                    <a:pt x="589986" y="1516"/>
                    <a:pt x="592685" y="4215"/>
                  </a:cubicBezTo>
                  <a:cubicBezTo>
                    <a:pt x="595384" y="6914"/>
                    <a:pt x="596900" y="10575"/>
                    <a:pt x="596900" y="14391"/>
                  </a:cubicBezTo>
                  <a:close/>
                </a:path>
              </a:pathLst>
            </a:custGeom>
            <a:solidFill>
              <a:srgbClr val="014AAB">
                <a:alpha val="5882"/>
              </a:srgbClr>
            </a:solidFill>
          </p:spPr>
        </p:sp>
        <p:sp>
          <p:nvSpPr>
            <p:cNvPr name="TextBox 13" id="13"/>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4" id="14"/>
          <p:cNvGrpSpPr/>
          <p:nvPr/>
        </p:nvGrpSpPr>
        <p:grpSpPr>
          <a:xfrm rot="-10800000">
            <a:off x="13810359" y="-3147653"/>
            <a:ext cx="4531224" cy="4241997"/>
            <a:chOff x="0" y="0"/>
            <a:chExt cx="596900" cy="558800"/>
          </a:xfrm>
        </p:grpSpPr>
        <p:sp>
          <p:nvSpPr>
            <p:cNvPr name="Freeform 15" id="15"/>
            <p:cNvSpPr/>
            <p:nvPr/>
          </p:nvSpPr>
          <p:spPr>
            <a:xfrm flipH="false" flipV="false" rot="0">
              <a:off x="0" y="0"/>
              <a:ext cx="596900" cy="558800"/>
            </a:xfrm>
            <a:custGeom>
              <a:avLst/>
              <a:gdLst/>
              <a:ahLst/>
              <a:cxnLst/>
              <a:rect r="r" b="b" t="t" l="l"/>
              <a:pathLst>
                <a:path h="558800" w="596900">
                  <a:moveTo>
                    <a:pt x="596900" y="20076"/>
                  </a:moveTo>
                  <a:lnTo>
                    <a:pt x="596900" y="284724"/>
                  </a:lnTo>
                  <a:cubicBezTo>
                    <a:pt x="596900" y="297544"/>
                    <a:pt x="591646" y="309804"/>
                    <a:pt x="582362" y="318645"/>
                  </a:cubicBezTo>
                  <a:lnTo>
                    <a:pt x="344738" y="544955"/>
                  </a:lnTo>
                  <a:cubicBezTo>
                    <a:pt x="335405" y="553843"/>
                    <a:pt x="323012" y="558800"/>
                    <a:pt x="310124" y="558800"/>
                  </a:cubicBezTo>
                  <a:lnTo>
                    <a:pt x="20076" y="558800"/>
                  </a:lnTo>
                  <a:cubicBezTo>
                    <a:pt x="8988" y="558800"/>
                    <a:pt x="0" y="549812"/>
                    <a:pt x="0" y="538724"/>
                  </a:cubicBezTo>
                  <a:lnTo>
                    <a:pt x="0" y="268996"/>
                  </a:lnTo>
                  <a:cubicBezTo>
                    <a:pt x="0" y="256180"/>
                    <a:pt x="5272" y="243928"/>
                    <a:pt x="14578" y="235117"/>
                  </a:cubicBezTo>
                  <a:lnTo>
                    <a:pt x="248312" y="13803"/>
                  </a:lnTo>
                  <a:cubicBezTo>
                    <a:pt x="257673" y="4940"/>
                    <a:pt x="270074" y="0"/>
                    <a:pt x="282966" y="0"/>
                  </a:cubicBezTo>
                  <a:lnTo>
                    <a:pt x="576824" y="0"/>
                  </a:lnTo>
                  <a:cubicBezTo>
                    <a:pt x="587912" y="0"/>
                    <a:pt x="596900" y="8988"/>
                    <a:pt x="596900" y="20076"/>
                  </a:cubicBezTo>
                  <a:close/>
                </a:path>
              </a:pathLst>
            </a:custGeom>
            <a:solidFill>
              <a:srgbClr val="014AAB">
                <a:alpha val="5882"/>
              </a:srgbClr>
            </a:solidFill>
          </p:spPr>
        </p:sp>
        <p:sp>
          <p:nvSpPr>
            <p:cNvPr name="TextBox 16" id="16"/>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7" id="17"/>
          <p:cNvGrpSpPr/>
          <p:nvPr/>
        </p:nvGrpSpPr>
        <p:grpSpPr>
          <a:xfrm rot="0">
            <a:off x="9634197" y="543858"/>
            <a:ext cx="3762996" cy="3522804"/>
            <a:chOff x="0" y="0"/>
            <a:chExt cx="596900" cy="558800"/>
          </a:xfrm>
        </p:grpSpPr>
        <p:sp>
          <p:nvSpPr>
            <p:cNvPr name="Freeform 18" id="18"/>
            <p:cNvSpPr/>
            <p:nvPr/>
          </p:nvSpPr>
          <p:spPr>
            <a:xfrm flipH="false" flipV="false" rot="0">
              <a:off x="0" y="0"/>
              <a:ext cx="596900" cy="558800"/>
            </a:xfrm>
            <a:custGeom>
              <a:avLst/>
              <a:gdLst/>
              <a:ahLst/>
              <a:cxnLst/>
              <a:rect r="r" b="b" t="t" l="l"/>
              <a:pathLst>
                <a:path h="558800" w="596900">
                  <a:moveTo>
                    <a:pt x="596900" y="24174"/>
                  </a:moveTo>
                  <a:lnTo>
                    <a:pt x="596900" y="280626"/>
                  </a:lnTo>
                  <a:cubicBezTo>
                    <a:pt x="596900" y="296063"/>
                    <a:pt x="590573" y="310826"/>
                    <a:pt x="579395" y="321472"/>
                  </a:cubicBezTo>
                  <a:lnTo>
                    <a:pt x="347705" y="542128"/>
                  </a:lnTo>
                  <a:cubicBezTo>
                    <a:pt x="336468" y="552831"/>
                    <a:pt x="321544" y="558800"/>
                    <a:pt x="306026" y="558800"/>
                  </a:cubicBezTo>
                  <a:lnTo>
                    <a:pt x="24174" y="558800"/>
                  </a:lnTo>
                  <a:cubicBezTo>
                    <a:pt x="17763" y="558800"/>
                    <a:pt x="11614" y="556253"/>
                    <a:pt x="7080" y="551720"/>
                  </a:cubicBezTo>
                  <a:cubicBezTo>
                    <a:pt x="2547" y="547186"/>
                    <a:pt x="0" y="541037"/>
                    <a:pt x="0" y="534626"/>
                  </a:cubicBezTo>
                  <a:lnTo>
                    <a:pt x="0" y="273094"/>
                  </a:lnTo>
                  <a:cubicBezTo>
                    <a:pt x="0" y="257662"/>
                    <a:pt x="6348" y="242909"/>
                    <a:pt x="17554" y="232299"/>
                  </a:cubicBezTo>
                  <a:lnTo>
                    <a:pt x="245336" y="16621"/>
                  </a:lnTo>
                  <a:cubicBezTo>
                    <a:pt x="256608" y="5948"/>
                    <a:pt x="271541" y="0"/>
                    <a:pt x="287064" y="0"/>
                  </a:cubicBezTo>
                  <a:lnTo>
                    <a:pt x="572726" y="0"/>
                  </a:lnTo>
                  <a:cubicBezTo>
                    <a:pt x="579137" y="0"/>
                    <a:pt x="585286" y="2547"/>
                    <a:pt x="589820" y="7080"/>
                  </a:cubicBezTo>
                  <a:cubicBezTo>
                    <a:pt x="594353" y="11614"/>
                    <a:pt x="596900" y="17763"/>
                    <a:pt x="596900" y="24174"/>
                  </a:cubicBezTo>
                  <a:close/>
                </a:path>
              </a:pathLst>
            </a:custGeom>
            <a:solidFill>
              <a:srgbClr val="8DABD2"/>
            </a:solidFill>
          </p:spPr>
        </p:sp>
        <p:sp>
          <p:nvSpPr>
            <p:cNvPr name="TextBox 19" id="19"/>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20" id="20"/>
          <p:cNvGrpSpPr/>
          <p:nvPr/>
        </p:nvGrpSpPr>
        <p:grpSpPr>
          <a:xfrm rot="0">
            <a:off x="15147937" y="1323502"/>
            <a:ext cx="2737867" cy="2563109"/>
            <a:chOff x="0" y="0"/>
            <a:chExt cx="596900" cy="558800"/>
          </a:xfrm>
        </p:grpSpPr>
        <p:sp>
          <p:nvSpPr>
            <p:cNvPr name="Freeform 21" id="21"/>
            <p:cNvSpPr/>
            <p:nvPr/>
          </p:nvSpPr>
          <p:spPr>
            <a:xfrm flipH="false" flipV="false" rot="0">
              <a:off x="0" y="0"/>
              <a:ext cx="596900" cy="558800"/>
            </a:xfrm>
            <a:custGeom>
              <a:avLst/>
              <a:gdLst/>
              <a:ahLst/>
              <a:cxnLst/>
              <a:rect r="r" b="b" t="t" l="l"/>
              <a:pathLst>
                <a:path h="558800" w="596900">
                  <a:moveTo>
                    <a:pt x="596900" y="33226"/>
                  </a:moveTo>
                  <a:lnTo>
                    <a:pt x="596900" y="271574"/>
                  </a:lnTo>
                  <a:cubicBezTo>
                    <a:pt x="596900" y="292792"/>
                    <a:pt x="588204" y="313082"/>
                    <a:pt x="572840" y="327714"/>
                  </a:cubicBezTo>
                  <a:lnTo>
                    <a:pt x="354260" y="535886"/>
                  </a:lnTo>
                  <a:cubicBezTo>
                    <a:pt x="338815" y="550595"/>
                    <a:pt x="318303" y="558800"/>
                    <a:pt x="296974" y="558800"/>
                  </a:cubicBezTo>
                  <a:lnTo>
                    <a:pt x="33226" y="558800"/>
                  </a:lnTo>
                  <a:cubicBezTo>
                    <a:pt x="14876" y="558800"/>
                    <a:pt x="0" y="543924"/>
                    <a:pt x="0" y="525574"/>
                  </a:cubicBezTo>
                  <a:lnTo>
                    <a:pt x="0" y="282146"/>
                  </a:lnTo>
                  <a:cubicBezTo>
                    <a:pt x="0" y="260935"/>
                    <a:pt x="8725" y="240659"/>
                    <a:pt x="24126" y="226076"/>
                  </a:cubicBezTo>
                  <a:lnTo>
                    <a:pt x="238764" y="22844"/>
                  </a:lnTo>
                  <a:cubicBezTo>
                    <a:pt x="254256" y="8175"/>
                    <a:pt x="274780" y="0"/>
                    <a:pt x="296116" y="0"/>
                  </a:cubicBezTo>
                  <a:lnTo>
                    <a:pt x="563674" y="0"/>
                  </a:lnTo>
                  <a:cubicBezTo>
                    <a:pt x="582024" y="0"/>
                    <a:pt x="596900" y="14876"/>
                    <a:pt x="596900" y="33226"/>
                  </a:cubicBezTo>
                  <a:close/>
                </a:path>
              </a:pathLst>
            </a:custGeom>
            <a:solidFill>
              <a:srgbClr val="014AAB"/>
            </a:solidFill>
          </p:spPr>
        </p:sp>
        <p:sp>
          <p:nvSpPr>
            <p:cNvPr name="TextBox 22" id="22"/>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23" id="23"/>
          <p:cNvGrpSpPr/>
          <p:nvPr/>
        </p:nvGrpSpPr>
        <p:grpSpPr>
          <a:xfrm rot="5400000">
            <a:off x="9551409" y="7241939"/>
            <a:ext cx="2594035" cy="2428459"/>
            <a:chOff x="0" y="0"/>
            <a:chExt cx="596900" cy="558800"/>
          </a:xfrm>
        </p:grpSpPr>
        <p:sp>
          <p:nvSpPr>
            <p:cNvPr name="Freeform 24" id="24"/>
            <p:cNvSpPr/>
            <p:nvPr/>
          </p:nvSpPr>
          <p:spPr>
            <a:xfrm flipH="false" flipV="false" rot="0">
              <a:off x="0" y="0"/>
              <a:ext cx="596900" cy="558800"/>
            </a:xfrm>
            <a:custGeom>
              <a:avLst/>
              <a:gdLst/>
              <a:ahLst/>
              <a:cxnLst/>
              <a:rect r="r" b="b" t="t" l="l"/>
              <a:pathLst>
                <a:path h="558800" w="596900">
                  <a:moveTo>
                    <a:pt x="596900" y="35068"/>
                  </a:moveTo>
                  <a:lnTo>
                    <a:pt x="596900" y="269732"/>
                  </a:lnTo>
                  <a:cubicBezTo>
                    <a:pt x="596900" y="292126"/>
                    <a:pt x="587722" y="313541"/>
                    <a:pt x="571506" y="328985"/>
                  </a:cubicBezTo>
                  <a:lnTo>
                    <a:pt x="355594" y="534615"/>
                  </a:lnTo>
                  <a:cubicBezTo>
                    <a:pt x="339293" y="550140"/>
                    <a:pt x="317644" y="558800"/>
                    <a:pt x="295132" y="558800"/>
                  </a:cubicBezTo>
                  <a:lnTo>
                    <a:pt x="35068" y="558800"/>
                  </a:lnTo>
                  <a:cubicBezTo>
                    <a:pt x="25767" y="558800"/>
                    <a:pt x="16848" y="555105"/>
                    <a:pt x="10271" y="548529"/>
                  </a:cubicBezTo>
                  <a:cubicBezTo>
                    <a:pt x="3695" y="541952"/>
                    <a:pt x="0" y="533033"/>
                    <a:pt x="0" y="523732"/>
                  </a:cubicBezTo>
                  <a:lnTo>
                    <a:pt x="0" y="283988"/>
                  </a:lnTo>
                  <a:cubicBezTo>
                    <a:pt x="0" y="261602"/>
                    <a:pt x="9209" y="240201"/>
                    <a:pt x="25464" y="224809"/>
                  </a:cubicBezTo>
                  <a:lnTo>
                    <a:pt x="237426" y="24111"/>
                  </a:lnTo>
                  <a:cubicBezTo>
                    <a:pt x="253777" y="8628"/>
                    <a:pt x="275440" y="0"/>
                    <a:pt x="297958" y="0"/>
                  </a:cubicBezTo>
                  <a:lnTo>
                    <a:pt x="561832" y="0"/>
                  </a:lnTo>
                  <a:cubicBezTo>
                    <a:pt x="571133" y="0"/>
                    <a:pt x="580052" y="3695"/>
                    <a:pt x="586629" y="10271"/>
                  </a:cubicBezTo>
                  <a:cubicBezTo>
                    <a:pt x="593205" y="16848"/>
                    <a:pt x="596900" y="25767"/>
                    <a:pt x="596900" y="35068"/>
                  </a:cubicBezTo>
                  <a:close/>
                </a:path>
              </a:pathLst>
            </a:custGeom>
            <a:solidFill>
              <a:srgbClr val="8DABD2"/>
            </a:solidFill>
          </p:spPr>
        </p:sp>
        <p:sp>
          <p:nvSpPr>
            <p:cNvPr name="TextBox 25" id="25"/>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26" id="26"/>
          <p:cNvGrpSpPr/>
          <p:nvPr/>
        </p:nvGrpSpPr>
        <p:grpSpPr>
          <a:xfrm rot="0">
            <a:off x="9034205" y="5971469"/>
            <a:ext cx="5257565" cy="2731701"/>
            <a:chOff x="0" y="0"/>
            <a:chExt cx="1657619" cy="861258"/>
          </a:xfrm>
        </p:grpSpPr>
        <p:sp>
          <p:nvSpPr>
            <p:cNvPr name="Freeform 27" id="27"/>
            <p:cNvSpPr/>
            <p:nvPr/>
          </p:nvSpPr>
          <p:spPr>
            <a:xfrm flipH="false" flipV="false" rot="0">
              <a:off x="0" y="0"/>
              <a:ext cx="1657622" cy="861258"/>
            </a:xfrm>
            <a:custGeom>
              <a:avLst/>
              <a:gdLst/>
              <a:ahLst/>
              <a:cxnLst/>
              <a:rect r="r" b="b" t="t" l="l"/>
              <a:pathLst>
                <a:path h="861258" w="1657622">
                  <a:moveTo>
                    <a:pt x="1310663" y="0"/>
                  </a:moveTo>
                  <a:lnTo>
                    <a:pt x="148415" y="0"/>
                  </a:lnTo>
                  <a:cubicBezTo>
                    <a:pt x="66448" y="0"/>
                    <a:pt x="0" y="66448"/>
                    <a:pt x="0" y="148415"/>
                  </a:cubicBezTo>
                  <a:lnTo>
                    <a:pt x="0" y="581866"/>
                  </a:lnTo>
                  <a:cubicBezTo>
                    <a:pt x="0" y="618376"/>
                    <a:pt x="13458" y="653606"/>
                    <a:pt x="37800" y="680818"/>
                  </a:cubicBezTo>
                  <a:lnTo>
                    <a:pt x="154967" y="811794"/>
                  </a:lnTo>
                  <a:cubicBezTo>
                    <a:pt x="183122" y="843269"/>
                    <a:pt x="223353" y="861259"/>
                    <a:pt x="265584" y="861258"/>
                  </a:cubicBezTo>
                  <a:lnTo>
                    <a:pt x="1509206" y="861258"/>
                  </a:lnTo>
                  <a:cubicBezTo>
                    <a:pt x="1548568" y="861258"/>
                    <a:pt x="1586318" y="845622"/>
                    <a:pt x="1614152" y="817789"/>
                  </a:cubicBezTo>
                  <a:cubicBezTo>
                    <a:pt x="1641985" y="789956"/>
                    <a:pt x="1657622" y="752206"/>
                    <a:pt x="1657622" y="712843"/>
                  </a:cubicBezTo>
                  <a:lnTo>
                    <a:pt x="1657622" y="366141"/>
                  </a:lnTo>
                  <a:cubicBezTo>
                    <a:pt x="1657622" y="329143"/>
                    <a:pt x="1643803" y="293478"/>
                    <a:pt x="1618873" y="266140"/>
                  </a:cubicBezTo>
                  <a:lnTo>
                    <a:pt x="1420330" y="48414"/>
                  </a:lnTo>
                  <a:cubicBezTo>
                    <a:pt x="1392207" y="17574"/>
                    <a:pt x="1352400" y="0"/>
                    <a:pt x="1310663" y="0"/>
                  </a:cubicBezTo>
                  <a:close/>
                </a:path>
              </a:pathLst>
            </a:custGeom>
            <a:blipFill>
              <a:blip r:embed="rId2"/>
              <a:stretch>
                <a:fillRect l="0" t="-401" r="0" b="-401"/>
              </a:stretch>
            </a:blipFill>
            <a:ln w="142875" cap="sq">
              <a:solidFill>
                <a:srgbClr val="8DABD2"/>
              </a:solidFill>
              <a:prstDash val="solid"/>
              <a:miter/>
            </a:ln>
          </p:spPr>
        </p:sp>
      </p:grpSp>
      <p:grpSp>
        <p:nvGrpSpPr>
          <p:cNvPr name="Group 28" id="28"/>
          <p:cNvGrpSpPr/>
          <p:nvPr/>
        </p:nvGrpSpPr>
        <p:grpSpPr>
          <a:xfrm rot="-10800000">
            <a:off x="1274759" y="6265139"/>
            <a:ext cx="5856018" cy="1078309"/>
            <a:chOff x="0" y="0"/>
            <a:chExt cx="1352556" cy="249055"/>
          </a:xfrm>
        </p:grpSpPr>
        <p:sp>
          <p:nvSpPr>
            <p:cNvPr name="Freeform 29" id="29"/>
            <p:cNvSpPr/>
            <p:nvPr/>
          </p:nvSpPr>
          <p:spPr>
            <a:xfrm flipH="false" flipV="false" rot="0">
              <a:off x="0" y="0"/>
              <a:ext cx="1352556" cy="249055"/>
            </a:xfrm>
            <a:custGeom>
              <a:avLst/>
              <a:gdLst/>
              <a:ahLst/>
              <a:cxnLst/>
              <a:rect r="r" b="b" t="t" l="l"/>
              <a:pathLst>
                <a:path h="249055" w="1352556">
                  <a:moveTo>
                    <a:pt x="124528" y="0"/>
                  </a:moveTo>
                  <a:lnTo>
                    <a:pt x="1228028" y="0"/>
                  </a:lnTo>
                  <a:cubicBezTo>
                    <a:pt x="1296803" y="0"/>
                    <a:pt x="1352556" y="55753"/>
                    <a:pt x="1352556" y="124528"/>
                  </a:cubicBezTo>
                  <a:lnTo>
                    <a:pt x="1352556" y="124528"/>
                  </a:lnTo>
                  <a:cubicBezTo>
                    <a:pt x="1352556" y="157555"/>
                    <a:pt x="1339436" y="189229"/>
                    <a:pt x="1316082" y="212582"/>
                  </a:cubicBezTo>
                  <a:cubicBezTo>
                    <a:pt x="1292729" y="235936"/>
                    <a:pt x="1261055" y="249055"/>
                    <a:pt x="1228028" y="249055"/>
                  </a:cubicBezTo>
                  <a:lnTo>
                    <a:pt x="124528" y="249055"/>
                  </a:lnTo>
                  <a:cubicBezTo>
                    <a:pt x="91501" y="249055"/>
                    <a:pt x="59827" y="235936"/>
                    <a:pt x="36473" y="212582"/>
                  </a:cubicBezTo>
                  <a:cubicBezTo>
                    <a:pt x="13120" y="189229"/>
                    <a:pt x="0" y="157555"/>
                    <a:pt x="0" y="124528"/>
                  </a:cubicBezTo>
                  <a:lnTo>
                    <a:pt x="0" y="124528"/>
                  </a:lnTo>
                  <a:cubicBezTo>
                    <a:pt x="0" y="91501"/>
                    <a:pt x="13120" y="59827"/>
                    <a:pt x="36473" y="36473"/>
                  </a:cubicBezTo>
                  <a:cubicBezTo>
                    <a:pt x="59827" y="13120"/>
                    <a:pt x="91501" y="0"/>
                    <a:pt x="124528" y="0"/>
                  </a:cubicBezTo>
                  <a:close/>
                </a:path>
              </a:pathLst>
            </a:custGeom>
            <a:solidFill>
              <a:srgbClr val="014AAB"/>
            </a:solidFill>
          </p:spPr>
        </p:sp>
        <p:sp>
          <p:nvSpPr>
            <p:cNvPr name="TextBox 30" id="30"/>
            <p:cNvSpPr txBox="true"/>
            <p:nvPr/>
          </p:nvSpPr>
          <p:spPr>
            <a:xfrm>
              <a:off x="0" y="-47625"/>
              <a:ext cx="1352556" cy="296680"/>
            </a:xfrm>
            <a:prstGeom prst="rect">
              <a:avLst/>
            </a:prstGeom>
          </p:spPr>
          <p:txBody>
            <a:bodyPr anchor="ctr" rtlCol="false" tIns="50800" lIns="50800" bIns="50800" rIns="50800"/>
            <a:lstStyle/>
            <a:p>
              <a:pPr algn="ctr" marL="0" indent="0" lvl="0">
                <a:lnSpc>
                  <a:spcPts val="2800"/>
                </a:lnSpc>
              </a:pPr>
            </a:p>
          </p:txBody>
        </p:sp>
      </p:grpSp>
      <p:sp>
        <p:nvSpPr>
          <p:cNvPr name="Freeform 31" id="31"/>
          <p:cNvSpPr/>
          <p:nvPr/>
        </p:nvSpPr>
        <p:spPr>
          <a:xfrm flipH="false" flipV="true" rot="0">
            <a:off x="16114192" y="8000901"/>
            <a:ext cx="1771612" cy="1752285"/>
          </a:xfrm>
          <a:custGeom>
            <a:avLst/>
            <a:gdLst/>
            <a:ahLst/>
            <a:cxnLst/>
            <a:rect r="r" b="b" t="t" l="l"/>
            <a:pathLst>
              <a:path h="1752285" w="1771612">
                <a:moveTo>
                  <a:pt x="0" y="1752285"/>
                </a:moveTo>
                <a:lnTo>
                  <a:pt x="1771611" y="1752285"/>
                </a:lnTo>
                <a:lnTo>
                  <a:pt x="1771611" y="0"/>
                </a:lnTo>
                <a:lnTo>
                  <a:pt x="0" y="0"/>
                </a:lnTo>
                <a:lnTo>
                  <a:pt x="0" y="1752285"/>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2" id="32"/>
          <p:cNvSpPr/>
          <p:nvPr/>
        </p:nvSpPr>
        <p:spPr>
          <a:xfrm flipH="true" flipV="false" rot="0">
            <a:off x="9634197" y="543858"/>
            <a:ext cx="1113115" cy="1100972"/>
          </a:xfrm>
          <a:custGeom>
            <a:avLst/>
            <a:gdLst/>
            <a:ahLst/>
            <a:cxnLst/>
            <a:rect r="r" b="b" t="t" l="l"/>
            <a:pathLst>
              <a:path h="1100972" w="1113115">
                <a:moveTo>
                  <a:pt x="1113115" y="0"/>
                </a:moveTo>
                <a:lnTo>
                  <a:pt x="0" y="0"/>
                </a:lnTo>
                <a:lnTo>
                  <a:pt x="0" y="1100972"/>
                </a:lnTo>
                <a:lnTo>
                  <a:pt x="1113115" y="1100972"/>
                </a:lnTo>
                <a:lnTo>
                  <a:pt x="111311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3" id="33"/>
          <p:cNvSpPr/>
          <p:nvPr/>
        </p:nvSpPr>
        <p:spPr>
          <a:xfrm flipH="false" flipV="false" rot="0">
            <a:off x="679654" y="9654723"/>
            <a:ext cx="1190212" cy="196926"/>
          </a:xfrm>
          <a:custGeom>
            <a:avLst/>
            <a:gdLst/>
            <a:ahLst/>
            <a:cxnLst/>
            <a:rect r="r" b="b" t="t" l="l"/>
            <a:pathLst>
              <a:path h="196926" w="1190212">
                <a:moveTo>
                  <a:pt x="0" y="0"/>
                </a:moveTo>
                <a:lnTo>
                  <a:pt x="1190211" y="0"/>
                </a:lnTo>
                <a:lnTo>
                  <a:pt x="1190211" y="196926"/>
                </a:lnTo>
                <a:lnTo>
                  <a:pt x="0" y="19692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34" id="34"/>
          <p:cNvSpPr/>
          <p:nvPr/>
        </p:nvSpPr>
        <p:spPr>
          <a:xfrm flipH="false" flipV="false" rot="0">
            <a:off x="14626760" y="693817"/>
            <a:ext cx="1190212" cy="196926"/>
          </a:xfrm>
          <a:custGeom>
            <a:avLst/>
            <a:gdLst/>
            <a:ahLst/>
            <a:cxnLst/>
            <a:rect r="r" b="b" t="t" l="l"/>
            <a:pathLst>
              <a:path h="196926" w="1190212">
                <a:moveTo>
                  <a:pt x="0" y="0"/>
                </a:moveTo>
                <a:lnTo>
                  <a:pt x="1190212" y="0"/>
                </a:lnTo>
                <a:lnTo>
                  <a:pt x="1190212" y="196926"/>
                </a:lnTo>
                <a:lnTo>
                  <a:pt x="0" y="1969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35" id="35"/>
          <p:cNvSpPr/>
          <p:nvPr/>
        </p:nvSpPr>
        <p:spPr>
          <a:xfrm flipH="false" flipV="false" rot="0">
            <a:off x="13696665" y="9159837"/>
            <a:ext cx="1190212" cy="196926"/>
          </a:xfrm>
          <a:custGeom>
            <a:avLst/>
            <a:gdLst/>
            <a:ahLst/>
            <a:cxnLst/>
            <a:rect r="r" b="b" t="t" l="l"/>
            <a:pathLst>
              <a:path h="196926" w="1190212">
                <a:moveTo>
                  <a:pt x="0" y="0"/>
                </a:moveTo>
                <a:lnTo>
                  <a:pt x="1190211" y="0"/>
                </a:lnTo>
                <a:lnTo>
                  <a:pt x="1190211" y="196926"/>
                </a:lnTo>
                <a:lnTo>
                  <a:pt x="0" y="19692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36" id="36"/>
          <p:cNvSpPr txBox="true"/>
          <p:nvPr/>
        </p:nvSpPr>
        <p:spPr>
          <a:xfrm rot="0">
            <a:off x="1274759" y="4497640"/>
            <a:ext cx="6530721" cy="1614659"/>
          </a:xfrm>
          <a:prstGeom prst="rect">
            <a:avLst/>
          </a:prstGeom>
        </p:spPr>
        <p:txBody>
          <a:bodyPr anchor="t" rtlCol="false" tIns="0" lIns="0" bIns="0" rIns="0">
            <a:spAutoFit/>
          </a:bodyPr>
          <a:lstStyle/>
          <a:p>
            <a:pPr algn="l" marL="0" indent="0" lvl="0">
              <a:lnSpc>
                <a:spcPts val="12715"/>
              </a:lnSpc>
            </a:pPr>
            <a:r>
              <a:rPr lang="en-US" b="true" sz="10595" spc="158">
                <a:solidFill>
                  <a:srgbClr val="011A3C"/>
                </a:solidFill>
                <a:latin typeface="Gotham Bold"/>
                <a:ea typeface="Gotham Bold"/>
                <a:cs typeface="Gotham Bold"/>
                <a:sym typeface="Gotham Bold"/>
              </a:rPr>
              <a:t>EQUIPO</a:t>
            </a:r>
          </a:p>
        </p:txBody>
      </p:sp>
      <p:sp>
        <p:nvSpPr>
          <p:cNvPr name="TextBox 37" id="37"/>
          <p:cNvSpPr txBox="true"/>
          <p:nvPr/>
        </p:nvSpPr>
        <p:spPr>
          <a:xfrm rot="0">
            <a:off x="1274759" y="3079047"/>
            <a:ext cx="6530721" cy="1614659"/>
          </a:xfrm>
          <a:prstGeom prst="rect">
            <a:avLst/>
          </a:prstGeom>
        </p:spPr>
        <p:txBody>
          <a:bodyPr anchor="t" rtlCol="false" tIns="0" lIns="0" bIns="0" rIns="0">
            <a:spAutoFit/>
          </a:bodyPr>
          <a:lstStyle/>
          <a:p>
            <a:pPr algn="l" marL="0" indent="0" lvl="0">
              <a:lnSpc>
                <a:spcPts val="12715"/>
              </a:lnSpc>
            </a:pPr>
            <a:r>
              <a:rPr lang="en-US" b="true" sz="10595" spc="158">
                <a:solidFill>
                  <a:srgbClr val="011A3C"/>
                </a:solidFill>
                <a:latin typeface="Gotham Bold"/>
                <a:ea typeface="Gotham Bold"/>
                <a:cs typeface="Gotham Bold"/>
                <a:sym typeface="Gotham Bold"/>
              </a:rPr>
              <a:t>GRACIAS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DAHOma1nEHE</dc:identifier>
  <dcterms:modified xsi:type="dcterms:W3CDTF">2011-08-01T06:04:30Z</dcterms:modified>
  <cp:revision>1</cp:revision>
  <dc:title>Riego Automatizado Multivariable con Arduino y Bluetooth</dc:title>
</cp:coreProperties>
</file>